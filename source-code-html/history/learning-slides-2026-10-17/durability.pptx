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d7655aae0814010" /><Relationship Type="http://schemas.openxmlformats.org/officeDocument/2006/relationships/extended-properties" Target="/docProps/app.xml" Id="R6f971ecd8b704d58" /><Relationship Type="http://schemas.openxmlformats.org/officeDocument/2006/relationships/officeDocument" Target="/ppt/presentation.xml" Id="Ra399a8c21c1547b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65d2ab221684a40"/>
  </p:sldMasterIdLst>
  <p:notesMasterIdLst>
    <p:notesMasterId xmlns:r="http://schemas.openxmlformats.org/officeDocument/2006/relationships" r:id="Rb64bf34b9b864db7"/>
  </p:notesMasterIdLst>
  <p:sldIdLst>
    <p:sldId xmlns:r="http://schemas.openxmlformats.org/officeDocument/2006/relationships" id="256" r:id="R4b4a93a0882549e8"/>
    <p:sldId xmlns:r="http://schemas.openxmlformats.org/officeDocument/2006/relationships" id="257" r:id="Rc791a8a6f24d4667"/>
    <p:sldId xmlns:r="http://schemas.openxmlformats.org/officeDocument/2006/relationships" id="258" r:id="R8629d85731b347c0"/>
    <p:sldId xmlns:r="http://schemas.openxmlformats.org/officeDocument/2006/relationships" id="259" r:id="R60f8639dac934421"/>
    <p:sldId xmlns:r="http://schemas.openxmlformats.org/officeDocument/2006/relationships" id="260" r:id="R3053e64712704643"/>
    <p:sldId xmlns:r="http://schemas.openxmlformats.org/officeDocument/2006/relationships" id="261" r:id="Ra431a53c3d644cc8"/>
    <p:sldId xmlns:r="http://schemas.openxmlformats.org/officeDocument/2006/relationships" id="262" r:id="Rb7ce07bfbbdc4a07"/>
    <p:sldId xmlns:r="http://schemas.openxmlformats.org/officeDocument/2006/relationships" id="263" r:id="R1f7592c0cf6f44f5"/>
    <p:sldId xmlns:r="http://schemas.openxmlformats.org/officeDocument/2006/relationships" id="264" r:id="Rda01e6ab30024a8f"/>
    <p:sldId xmlns:r="http://schemas.openxmlformats.org/officeDocument/2006/relationships" id="265" r:id="R0144133052dc444c"/>
    <p:sldId xmlns:r="http://schemas.openxmlformats.org/officeDocument/2006/relationships" id="266" r:id="Rc1d10baa5e564b82"/>
    <p:sldId xmlns:r="http://schemas.openxmlformats.org/officeDocument/2006/relationships" id="267" r:id="R7f7f5be181334a41"/>
    <p:sldId xmlns:r="http://schemas.openxmlformats.org/officeDocument/2006/relationships" id="268" r:id="Re0b6d4bcb49c444b"/>
    <p:sldId xmlns:r="http://schemas.openxmlformats.org/officeDocument/2006/relationships" id="269" r:id="R08d0039d250541da"/>
    <p:sldId xmlns:r="http://schemas.openxmlformats.org/officeDocument/2006/relationships" id="270" r:id="R037000588db34e57"/>
    <p:sldId xmlns:r="http://schemas.openxmlformats.org/officeDocument/2006/relationships" id="271" r:id="R76d9e2b841d4400b"/>
    <p:sldId xmlns:r="http://schemas.openxmlformats.org/officeDocument/2006/relationships" id="272" r:id="Rbf3586ceb9014a56"/>
    <p:sldId xmlns:r="http://schemas.openxmlformats.org/officeDocument/2006/relationships" id="273" r:id="R77f7988bb0d94bc1"/>
    <p:sldId xmlns:r="http://schemas.openxmlformats.org/officeDocument/2006/relationships" id="274" r:id="R43d9ac2398c94a41"/>
    <p:sldId xmlns:r="http://schemas.openxmlformats.org/officeDocument/2006/relationships" id="275" r:id="R62ffa45093404250"/>
    <p:sldId xmlns:r="http://schemas.openxmlformats.org/officeDocument/2006/relationships" id="276" r:id="R40e81845c5e04a1f"/>
    <p:sldId xmlns:r="http://schemas.openxmlformats.org/officeDocument/2006/relationships" id="277" r:id="R8b6f8a26e36f45c6"/>
    <p:sldId xmlns:r="http://schemas.openxmlformats.org/officeDocument/2006/relationships" id="278" r:id="R8b05af8ae3254b15"/>
    <p:sldId xmlns:r="http://schemas.openxmlformats.org/officeDocument/2006/relationships" id="279" r:id="R867ed7ff92bf4411"/>
    <p:sldId xmlns:r="http://schemas.openxmlformats.org/officeDocument/2006/relationships" id="280" r:id="Rc66675c3460e499e"/>
    <p:sldId xmlns:r="http://schemas.openxmlformats.org/officeDocument/2006/relationships" id="281" r:id="Re4ff3c78d7e84eeb"/>
    <p:sldId xmlns:r="http://schemas.openxmlformats.org/officeDocument/2006/relationships" id="282" r:id="Re848baef399545c3"/>
    <p:sldId xmlns:r="http://schemas.openxmlformats.org/officeDocument/2006/relationships" id="283" r:id="Rd9f09aa243454ba6"/>
    <p:sldId xmlns:r="http://schemas.openxmlformats.org/officeDocument/2006/relationships" id="284" r:id="Rae0ee046bf8c4b4f"/>
    <p:sldId xmlns:r="http://schemas.openxmlformats.org/officeDocument/2006/relationships" id="285" r:id="Rffccca9f36d3441f"/>
    <p:sldId xmlns:r="http://schemas.openxmlformats.org/officeDocument/2006/relationships" id="286" r:id="R5290a2e8ad964265"/>
    <p:sldId xmlns:r="http://schemas.openxmlformats.org/officeDocument/2006/relationships" id="287" r:id="Ra6377a821b5a4905"/>
    <p:sldId xmlns:r="http://schemas.openxmlformats.org/officeDocument/2006/relationships" id="288" r:id="R2f0abeed70f6482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717cec8969943e9" /><Relationship Type="http://schemas.openxmlformats.org/officeDocument/2006/relationships/slideMaster" Target="/ppt/slideMasters/slideMaster1.xml" Id="R565d2ab221684a40" /><Relationship Type="http://schemas.openxmlformats.org/officeDocument/2006/relationships/notesMaster" Target="/ppt/notesMasters/notesMaster1.xml" Id="Rb64bf34b9b864db7" /><Relationship Type="http://schemas.openxmlformats.org/officeDocument/2006/relationships/presProps" Target="/ppt/presProps.xml" Id="Rdbf00d510bca42da" /><Relationship Type="http://schemas.openxmlformats.org/officeDocument/2006/relationships/tableStyles" Target="/ppt/tableStyles.xml" Id="R2c149489a5d14333" /><Relationship Type="http://schemas.openxmlformats.org/officeDocument/2006/relationships/slide" Target="/ppt/slides/slide1.xml" Id="R4b4a93a0882549e8" /><Relationship Type="http://schemas.openxmlformats.org/officeDocument/2006/relationships/slide" Target="/ppt/slides/slide2.xml" Id="Rc791a8a6f24d4667" /><Relationship Type="http://schemas.openxmlformats.org/officeDocument/2006/relationships/slide" Target="/ppt/slides/slide3.xml" Id="R8629d85731b347c0" /><Relationship Type="http://schemas.openxmlformats.org/officeDocument/2006/relationships/slide" Target="/ppt/slides/slide4.xml" Id="R60f8639dac934421" /><Relationship Type="http://schemas.openxmlformats.org/officeDocument/2006/relationships/slide" Target="/ppt/slides/slide5.xml" Id="R3053e64712704643" /><Relationship Type="http://schemas.openxmlformats.org/officeDocument/2006/relationships/slide" Target="/ppt/slides/slide6.xml" Id="Ra431a53c3d644cc8" /><Relationship Type="http://schemas.openxmlformats.org/officeDocument/2006/relationships/slide" Target="/ppt/slides/slide7.xml" Id="Rb7ce07bfbbdc4a07" /><Relationship Type="http://schemas.openxmlformats.org/officeDocument/2006/relationships/slide" Target="/ppt/slides/slide8.xml" Id="R1f7592c0cf6f44f5" /><Relationship Type="http://schemas.openxmlformats.org/officeDocument/2006/relationships/slide" Target="/ppt/slides/slide9.xml" Id="Rda01e6ab30024a8f" /><Relationship Type="http://schemas.openxmlformats.org/officeDocument/2006/relationships/slide" Target="/ppt/slides/slide10.xml" Id="R0144133052dc444c" /><Relationship Type="http://schemas.openxmlformats.org/officeDocument/2006/relationships/slide" Target="/ppt/slides/slide11.xml" Id="Rc1d10baa5e564b82" /><Relationship Type="http://schemas.openxmlformats.org/officeDocument/2006/relationships/slide" Target="/ppt/slides/slide12.xml" Id="R7f7f5be181334a41" /><Relationship Type="http://schemas.openxmlformats.org/officeDocument/2006/relationships/slide" Target="/ppt/slides/slide13.xml" Id="Re0b6d4bcb49c444b" /><Relationship Type="http://schemas.openxmlformats.org/officeDocument/2006/relationships/slide" Target="/ppt/slides/slide14.xml" Id="R08d0039d250541da" /><Relationship Type="http://schemas.openxmlformats.org/officeDocument/2006/relationships/slide" Target="/ppt/slides/slide15.xml" Id="R037000588db34e57" /><Relationship Type="http://schemas.openxmlformats.org/officeDocument/2006/relationships/slide" Target="/ppt/slides/slide16.xml" Id="R76d9e2b841d4400b" /><Relationship Type="http://schemas.openxmlformats.org/officeDocument/2006/relationships/slide" Target="/ppt/slides/slide17.xml" Id="Rbf3586ceb9014a56" /><Relationship Type="http://schemas.openxmlformats.org/officeDocument/2006/relationships/slide" Target="/ppt/slides/slide18.xml" Id="R77f7988bb0d94bc1" /><Relationship Type="http://schemas.openxmlformats.org/officeDocument/2006/relationships/slide" Target="/ppt/slides/slide19.xml" Id="R43d9ac2398c94a41" /><Relationship Type="http://schemas.openxmlformats.org/officeDocument/2006/relationships/slide" Target="/ppt/slides/slide20.xml" Id="R62ffa45093404250" /><Relationship Type="http://schemas.openxmlformats.org/officeDocument/2006/relationships/slide" Target="/ppt/slides/slide21.xml" Id="R40e81845c5e04a1f" /><Relationship Type="http://schemas.openxmlformats.org/officeDocument/2006/relationships/slide" Target="/ppt/slides/slide22.xml" Id="R8b6f8a26e36f45c6" /><Relationship Type="http://schemas.openxmlformats.org/officeDocument/2006/relationships/slide" Target="/ppt/slides/slide23.xml" Id="R8b05af8ae3254b15" /><Relationship Type="http://schemas.openxmlformats.org/officeDocument/2006/relationships/slide" Target="/ppt/slides/slide24.xml" Id="R867ed7ff92bf4411" /><Relationship Type="http://schemas.openxmlformats.org/officeDocument/2006/relationships/slide" Target="/ppt/slides/slide25.xml" Id="Rc66675c3460e499e" /><Relationship Type="http://schemas.openxmlformats.org/officeDocument/2006/relationships/slide" Target="/ppt/slides/slide26.xml" Id="Re4ff3c78d7e84eeb" /><Relationship Type="http://schemas.openxmlformats.org/officeDocument/2006/relationships/slide" Target="/ppt/slides/slide27.xml" Id="Re848baef399545c3" /><Relationship Type="http://schemas.openxmlformats.org/officeDocument/2006/relationships/slide" Target="/ppt/slides/slide28.xml" Id="Rd9f09aa243454ba6" /><Relationship Type="http://schemas.openxmlformats.org/officeDocument/2006/relationships/slide" Target="/ppt/slides/slide29.xml" Id="Rae0ee046bf8c4b4f" /><Relationship Type="http://schemas.openxmlformats.org/officeDocument/2006/relationships/slide" Target="/ppt/slides/slide30.xml" Id="Rffccca9f36d3441f" /><Relationship Type="http://schemas.openxmlformats.org/officeDocument/2006/relationships/slide" Target="/ppt/slides/slide31.xml" Id="R5290a2e8ad964265" /><Relationship Type="http://schemas.openxmlformats.org/officeDocument/2006/relationships/slide" Target="/ppt/slides/slide32.xml" Id="Ra6377a821b5a4905" /><Relationship Type="http://schemas.openxmlformats.org/officeDocument/2006/relationships/slide" Target="/ppt/slides/slide33.xml" Id="R2f0abeed70f6482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00eb294c5124fb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96d4cf2ead84691" /><Relationship Type="http://schemas.openxmlformats.org/officeDocument/2006/relationships/notesMaster" Target="/ppt/notesMasters/notesMaster1.xml" Id="R80b2be8a016b4b4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94cc0701621425f" /><Relationship Type="http://schemas.openxmlformats.org/officeDocument/2006/relationships/notesMaster" Target="/ppt/notesMasters/notesMaster1.xml" Id="Rb928d7357f5a4d9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2ac067fb4524b17" /><Relationship Type="http://schemas.openxmlformats.org/officeDocument/2006/relationships/notesMaster" Target="/ppt/notesMasters/notesMaster1.xml" Id="Rf0123aacc7c4480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cef6baa42c644b7" /><Relationship Type="http://schemas.openxmlformats.org/officeDocument/2006/relationships/notesMaster" Target="/ppt/notesMasters/notesMaster1.xml" Id="R56fc4bf8d1004a0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ff647eb72d1422c" /><Relationship Type="http://schemas.openxmlformats.org/officeDocument/2006/relationships/notesMaster" Target="/ppt/notesMasters/notesMaster1.xml" Id="R58365a6409ee4d0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c7ed4fe3c6d4896" /><Relationship Type="http://schemas.openxmlformats.org/officeDocument/2006/relationships/notesMaster" Target="/ppt/notesMasters/notesMaster1.xml" Id="Rff64a5d6368f49c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6c8ff966a374bc2" /><Relationship Type="http://schemas.openxmlformats.org/officeDocument/2006/relationships/notesMaster" Target="/ppt/notesMasters/notesMaster1.xml" Id="R1a5ca555b62e41f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6cff09761294feb" /><Relationship Type="http://schemas.openxmlformats.org/officeDocument/2006/relationships/notesMaster" Target="/ppt/notesMasters/notesMaster1.xml" Id="Rd0473b399a8547f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ab6c34745a147ce" /><Relationship Type="http://schemas.openxmlformats.org/officeDocument/2006/relationships/notesMaster" Target="/ppt/notesMasters/notesMaster1.xml" Id="Rf527ee3e8a1742a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4045d2d23e04e3d" /><Relationship Type="http://schemas.openxmlformats.org/officeDocument/2006/relationships/notesMaster" Target="/ppt/notesMasters/notesMaster1.xml" Id="R38b2b60f23894ad4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c7ffb882289495f" /><Relationship Type="http://schemas.openxmlformats.org/officeDocument/2006/relationships/notesMaster" Target="/ppt/notesMasters/notesMaster1.xml" Id="R434a5f3e0b694e94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6abf53d1b26a423b" /><Relationship Type="http://schemas.openxmlformats.org/officeDocument/2006/relationships/notesMaster" Target="/ppt/notesMasters/notesMaster1.xml" Id="R14ecbd8d54f74985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ee5294ce0b4a4a82" /><Relationship Type="http://schemas.openxmlformats.org/officeDocument/2006/relationships/notesMaster" Target="/ppt/notesMasters/notesMaster1.xml" Id="R6784024461424c13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f56e0020047743cd" /><Relationship Type="http://schemas.openxmlformats.org/officeDocument/2006/relationships/notesMaster" Target="/ppt/notesMasters/notesMaster1.xml" Id="R0ffd1aa8fd014263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cd88ed9b54344221" /><Relationship Type="http://schemas.openxmlformats.org/officeDocument/2006/relationships/notesMaster" Target="/ppt/notesMasters/notesMaster1.xml" Id="Rcc994176c9ea4e0d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7ea96275f83b4b60" /><Relationship Type="http://schemas.openxmlformats.org/officeDocument/2006/relationships/notesMaster" Target="/ppt/notesMasters/notesMaster1.xml" Id="Radcacf81ed9348b7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fafdaaaf4432463f" /><Relationship Type="http://schemas.openxmlformats.org/officeDocument/2006/relationships/notesMaster" Target="/ppt/notesMasters/notesMaster1.xml" Id="R4900d25bd6884151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1b0dd5df29224b53" /><Relationship Type="http://schemas.openxmlformats.org/officeDocument/2006/relationships/notesMaster" Target="/ppt/notesMasters/notesMaster1.xml" Id="R5181e2385d0a43b1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777447e2e6c84a54" /><Relationship Type="http://schemas.openxmlformats.org/officeDocument/2006/relationships/notesMaster" Target="/ppt/notesMasters/notesMaster1.xml" Id="R76ad681686ec4d6c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8e20eb46d61942ff" /><Relationship Type="http://schemas.openxmlformats.org/officeDocument/2006/relationships/notesMaster" Target="/ppt/notesMasters/notesMaster1.xml" Id="R3df6361bae644e0f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733e48df0fde4fc6" /><Relationship Type="http://schemas.openxmlformats.org/officeDocument/2006/relationships/notesMaster" Target="/ppt/notesMasters/notesMaster1.xml" Id="R9fa6d18115ea4e28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154839cfed84417d" /><Relationship Type="http://schemas.openxmlformats.org/officeDocument/2006/relationships/notesMaster" Target="/ppt/notesMasters/notesMaster1.xml" Id="Rc403591388174063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56bb2ad7be5c4b15" /><Relationship Type="http://schemas.openxmlformats.org/officeDocument/2006/relationships/notesMaster" Target="/ppt/notesMasters/notesMaster1.xml" Id="R29eebb20de4f449d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75797ee5c4204009" /><Relationship Type="http://schemas.openxmlformats.org/officeDocument/2006/relationships/notesMaster" Target="/ppt/notesMasters/notesMaster1.xml" Id="R72388352497b4f02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c0b7930e25574524" /><Relationship Type="http://schemas.openxmlformats.org/officeDocument/2006/relationships/notesMaster" Target="/ppt/notesMasters/notesMaster1.xml" Id="R1645c1ccae944f83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401de685a54740a7" /><Relationship Type="http://schemas.openxmlformats.org/officeDocument/2006/relationships/notesMaster" Target="/ppt/notesMasters/notesMaster1.xml" Id="Rbdf05dcaff344020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59b490f6a1ec47bc" /><Relationship Type="http://schemas.openxmlformats.org/officeDocument/2006/relationships/notesMaster" Target="/ppt/notesMasters/notesMaster1.xml" Id="R6804c3120abb4c38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4bd9715683c34b9a" /><Relationship Type="http://schemas.openxmlformats.org/officeDocument/2006/relationships/notesMaster" Target="/ppt/notesMasters/notesMaster1.xml" Id="R4f44563a6c0b42b7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914adcbdd1ab490d" /><Relationship Type="http://schemas.openxmlformats.org/officeDocument/2006/relationships/notesMaster" Target="/ppt/notesMasters/notesMaster1.xml" Id="Rc1e49773b7d44ca9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87d6a6c2a3bf4850" /><Relationship Type="http://schemas.openxmlformats.org/officeDocument/2006/relationships/notesMaster" Target="/ppt/notesMasters/notesMaster1.xml" Id="Re2c2a0e94e0b48fc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be0d978c013949db" /><Relationship Type="http://schemas.openxmlformats.org/officeDocument/2006/relationships/notesMaster" Target="/ppt/notesMasters/notesMaster1.xml" Id="R22a4e570822a4c86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ecb0df6d0348458a" /><Relationship Type="http://schemas.openxmlformats.org/officeDocument/2006/relationships/notesMaster" Target="/ppt/notesMasters/notesMaster1.xml" Id="Rb9233ee264c34316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d79f18030cde4bbc" /><Relationship Type="http://schemas.openxmlformats.org/officeDocument/2006/relationships/notesMaster" Target="/ppt/notesMasters/notesMaster1.xml" Id="R7ed8fb53c19a47d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进程退出后，应用仍要知道已接纳输入、文档和任务到了哪一步。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认识四类记录</a:t>
            </a:r>
          </a:p>
          <a:p xmlns:a="http://schemas.openxmlformats.org/drawingml/2006/main">
            <a:r>
              <a:t>区分不可变 Entry、可变 JSON Document、带检查点 Task 与会话标识，不复用 CLI JSONL 的语义猜测。</a:t>
            </a:r>
          </a:p>
          <a:p xmlns:a="http://schemas.openxmlformats.org/drawingml/2006/main">
            <a:r>
              <a:t>输入：业务状态和消息</a:t>
            </a:r>
          </a:p>
          <a:p xmlns:a="http://schemas.openxmlformats.org/drawingml/2006/main">
            <a:r>
              <a:t>输出：记录类型选择</a:t>
            </a:r>
          </a:p>
          <a:p xmlns:a="http://schemas.openxmlformats.org/drawingml/2006/main">
            <a:r>
              <a:t>入口线索：defineDoc / defineEntry / defineTask</a:t>
            </a:r>
          </a:p>
          <a:p xmlns:a="http://schemas.openxmlformats.org/drawingml/2006/main">
            <a:r>
              <a:t>职责：这些记录契约与 CLI JSONL 条目不是同一套 API。</a:t>
            </a:r>
          </a:p>
          <a:p xmlns:a="http://schemas.openxmlformats.org/drawingml/2006/main">
            <a:r>
              <a:t>源码：packages/durable/src/documents.ts</a:t>
            </a:r>
          </a:p>
          <a:p xmlns:a="http://schemas.openxmlformats.org/drawingml/2006/main">
            <a:r>
              <a:t>packages/durable/src/entries.ts</a:t>
            </a:r>
          </a:p>
          <a:p xmlns:a="http://schemas.openxmlformats.org/drawingml/2006/main">
            <a:r>
              <a:t>packages/durable/src/errors.ts</a:t>
            </a:r>
          </a:p>
          <a:p xmlns:a="http://schemas.openxmlformats.org/drawingml/2006/main">
            <a:r>
              <a:t>packages/durable/src/ids.ts</a:t>
            </a:r>
          </a:p>
          <a:p xmlns:a="http://schemas.openxmlformats.org/drawingml/2006/main">
            <a:r>
              <a:t>packages/durable/src/tasks.ts</a:t>
            </a:r>
          </a:p>
          <a:p xmlns:a="http://schemas.openxmlformats.org/drawingml/2006/main">
            <a:r>
              <a:t>packages/durable/src/types.ts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2. 创建事务并提交</a:t>
            </a:r>
          </a:p>
          <a:p xmlns:a="http://schemas.openxmlformats.org/drawingml/2006/main">
            <a:r>
              <a:t>跟踪 transaction 中记录、文档与任务的原子变更，区分候选状态和已提交状态。</a:t>
            </a:r>
          </a:p>
          <a:p xmlns:a="http://schemas.openxmlformats.org/drawingml/2006/main">
            <a:r>
              <a:t>输入：一组关联变更</a:t>
            </a:r>
          </a:p>
          <a:p xmlns:a="http://schemas.openxmlformats.org/drawingml/2006/main">
            <a:r>
              <a:t>输出：持久提交</a:t>
            </a:r>
          </a:p>
          <a:p xmlns:a="http://schemas.openxmlformats.org/drawingml/2006/main">
            <a:r>
              <a:t>入口线索：createSession</a:t>
            </a:r>
          </a:p>
          <a:p xmlns:a="http://schemas.openxmlformats.org/drawingml/2006/main">
            <a:r>
              <a:t>职责：存储事务与观察者通知有专门边界。</a:t>
            </a:r>
          </a:p>
          <a:p xmlns:a="http://schemas.openxmlformats.org/drawingml/2006/main">
            <a:r>
              <a:t>源码：packages/durable/src/session/forks.ts</a:t>
            </a:r>
          </a:p>
          <a:p xmlns:a="http://schemas.openxmlformats.org/drawingml/2006/main">
            <a:r>
              <a:t>packages/durable/src/session/observation.ts</a:t>
            </a:r>
          </a:p>
          <a:p xmlns:a="http://schemas.openxmlformats.org/drawingml/2006/main">
            <a:r>
              <a:t>packages/durable/src/session/session.ts</a:t>
            </a:r>
          </a:p>
          <a:p xmlns:a="http://schemas.openxmlformats.org/drawingml/2006/main">
            <a:r>
              <a:t>packages/durable/src/session/transaction.ts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3. 选择存储实现</a:t>
            </a:r>
          </a:p>
          <a:p xmlns:a="http://schemas.openxmlformats.org/drawingml/2006/main">
            <a:r>
              <a:t>先用内存后端理解契约，再对照 JSONL/SQLite 的持久化与关闭行为。</a:t>
            </a:r>
          </a:p>
          <a:p xmlns:a="http://schemas.openxmlformats.org/drawingml/2006/main">
            <a:r>
              <a:t>输入：Storage 接口</a:t>
            </a:r>
          </a:p>
          <a:p xmlns:a="http://schemas.openxmlformats.org/drawingml/2006/main">
            <a:r>
              <a:t>输出：存储后端</a:t>
            </a:r>
          </a:p>
          <a:p xmlns:a="http://schemas.openxmlformats.org/drawingml/2006/main">
            <a:r>
              <a:t>入口线索：MemoryStorage</a:t>
            </a:r>
          </a:p>
          <a:p xmlns:a="http://schemas.openxmlformats.org/drawingml/2006/main">
            <a:r>
              <a:t>职责：内存实现不提供进程退出后的磁盘恢复。</a:t>
            </a:r>
          </a:p>
          <a:p xmlns:a="http://schemas.openxmlformats.org/drawingml/2006/main">
            <a:r>
              <a:t>源码：packages/durable/src/storage/memory.ts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4. 观察提交后的结果</a:t>
            </a:r>
          </a:p>
          <a:p xmlns:a="http://schemas.openxmlformats.org/drawingml/2006/main">
            <a:r>
              <a:t>阅读观察游标和订阅流程，确认外部看见的是哪个已提交版本。</a:t>
            </a:r>
          </a:p>
          <a:p xmlns:a="http://schemas.openxmlformats.org/drawingml/2006/main">
            <a:r>
              <a:t>输入：提交序列与游标</a:t>
            </a:r>
          </a:p>
          <a:p xmlns:a="http://schemas.openxmlformats.org/drawingml/2006/main">
            <a:r>
              <a:t>输出：可消费的变化</a:t>
            </a:r>
          </a:p>
          <a:p xmlns:a="http://schemas.openxmlformats.org/drawingml/2006/main">
            <a:r>
              <a:t>入口线索：NodeExecutionEnv；openBinaryReader；openDirReader</a:t>
            </a:r>
          </a:p>
          <a:p xmlns:a="http://schemas.openxmlformats.org/drawingml/2006/main">
            <a:r>
              <a:t>职责：Windows 监视采用轮询以避免目录句柄阻止重命名；实际平台分支以实现为准。</a:t>
            </a:r>
          </a:p>
          <a:p xmlns:a="http://schemas.openxmlformats.org/drawingml/2006/main">
            <a:r>
              <a:t>源码：packages/durable/src/env/decode.ts</a:t>
            </a:r>
          </a:p>
          <a:p xmlns:a="http://schemas.openxmlformats.org/drawingml/2006/main">
            <a:r>
              <a:t>packages/durable/src/env/line-scan.ts</a:t>
            </a:r>
          </a:p>
          <a:p xmlns:a="http://schemas.openxmlformats.org/drawingml/2006/main">
            <a:r>
              <a:t>packages/durable/src/env/node-watch.ts</a:t>
            </a:r>
          </a:p>
          <a:p xmlns:a="http://schemas.openxmlformats.org/drawingml/2006/main">
            <a:r>
              <a:t>packages/durable/src/env/node.ts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失败与恢复：内存后端不提供进程退出后的恢复；事务也无法自动回滚已经发生的网络或文件副作用。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练习：构造两个文档同时更新的事务，解释失败时观察者应看到什么。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参考判断：观察者不能看到只有一半修改的提交；外部副作用需由应用另外保证。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功能编号：DUR-02, DUR-03, DUR-07, DUR-30, DUR-36, DUR-39, DUR-51, DUR-52, DUR-59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文档来源：</a:t>
            </a:r>
          </a:p>
          <a:p xmlns:a="http://schemas.openxmlformats.org/drawingml/2006/main">
            <a:r>
              <a:t>packages/durable/README.md</a:t>
            </a:r>
          </a:p>
          <a:p xmlns:a="http://schemas.openxmlformats.org/drawingml/2006/main">
            <a:r>
              <a:t>packages/durable/CHANGELOG.md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关联测试阅读线索（未在演示文稿中执行）：</a:t>
            </a:r>
          </a:p>
          <a:p xmlns:a="http://schemas.openxmlformats.org/drawingml/2006/main">
            <a:r>
              <a:t>packages/durable/test/document-append-bench.ts</a:t>
            </a:r>
          </a:p>
          <a:p xmlns:a="http://schemas.openxmlformats.org/drawingml/2006/main">
            <a:r>
              <a:t>packages/durable/test/jsonl-storage.test.ts</a:t>
            </a:r>
          </a:p>
          <a:p xmlns:a="http://schemas.openxmlformats.org/drawingml/2006/main">
            <a:r>
              <a:t>packages/durable/test/memory-storage.test.ts</a:t>
            </a:r>
          </a:p>
          <a:p xmlns:a="http://schemas.openxmlformats.org/drawingml/2006/main">
            <a:r>
              <a:t>packages/durable/test/session-definitions.test.ts</a:t>
            </a:r>
          </a:p>
          <a:p xmlns:a="http://schemas.openxmlformats.org/drawingml/2006/main">
            <a:r>
              <a:t>packages/durable/test/session-documents.test.ts</a:t>
            </a:r>
          </a:p>
          <a:p xmlns:a="http://schemas.openxmlformats.org/drawingml/2006/main">
            <a:r>
              <a:t>packages/durable/test/session-tables.test.ts</a:t>
            </a:r>
          </a:p>
          <a:p xmlns:a="http://schemas.openxmlformats.org/drawingml/2006/main">
            <a:r>
              <a:t>packages/durable/test/sqlite-facade.test.ts</a:t>
            </a:r>
          </a:p>
          <a:p xmlns:a="http://schemas.openxmlformats.org/drawingml/2006/main">
            <a:r>
              <a:t>packages/durable/test/sqlite-migrations.test.ts</a:t>
            </a:r>
          </a:p>
          <a:p xmlns:a="http://schemas.openxmlformats.org/drawingml/2006/main">
            <a:r>
              <a:t>packages/durable/test/sqlite-storage.test.ts</a:t>
            </a:r>
          </a:p>
          <a:p xmlns:a="http://schemas.openxmlformats.org/drawingml/2006/main">
            <a:r>
              <a:t>packages/durable/test/types.test.ts</a:t>
            </a:r>
          </a:p>
          <a:p xmlns:a="http://schemas.openxmlformats.org/drawingml/2006/main">
            <a:r>
              <a:t>packages/durable/test/storage-memory.ts</a:t>
            </a:r>
          </a:p>
          <a:p xmlns:a="http://schemas.openxmlformats.org/drawingml/2006/main">
            <a:r>
              <a:t>packages/durable/test/storage.bench.ts</a:t>
            </a:r>
          </a:p>
          <a:p xmlns:a="http://schemas.openxmlformats.org/drawingml/2006/main">
            <a:r>
              <a:t>packages/durable/test/harness-generation.test.ts</a:t>
            </a:r>
          </a:p>
          <a:p xmlns:a="http://schemas.openxmlformats.org/drawingml/2006/main">
            <a:r>
              <a:t>packages/durable/test/harness-lifecycle.test.ts</a:t>
            </a:r>
          </a:p>
          <a:p xmlns:a="http://schemas.openxmlformats.org/drawingml/2006/main">
            <a:r>
              <a:t>packages/durable/test/harness-storage-failure.test.ts</a:t>
            </a:r>
          </a:p>
          <a:p xmlns:a="http://schemas.openxmlformats.org/drawingml/2006/main">
            <a:r>
              <a:t>packages/durable/test/harness-submissions.test.ts</a:t>
            </a:r>
          </a:p>
          <a:p xmlns:a="http://schemas.openxmlformats.org/drawingml/2006/main">
            <a:r>
              <a:t>packages/durable/test/session-document-cache-bench.ts</a:t>
            </a:r>
          </a:p>
          <a:p xmlns:a="http://schemas.openxmlformats.org/drawingml/2006/main">
            <a:r>
              <a:t>packages/durable/test/session-document-retention.test.ts</a:t>
            </a:r>
          </a:p>
          <a:p xmlns:a="http://schemas.openxmlformats.org/drawingml/2006/main">
            <a:r>
              <a:t>packages/durable/test/session-support.ts</a:t>
            </a:r>
          </a:p>
          <a:p xmlns:a="http://schemas.openxmlformats.org/drawingml/2006/main">
            <a:r>
              <a:t>packages/durable/test/setup-document-retention.ts</a:t>
            </a:r>
          </a:p>
          <a:p xmlns:a="http://schemas.openxmlformats.org/drawingml/2006/main">
            <a:r>
              <a:t>packages/durable/test/scheduler-fanout-bench.ts</a:t>
            </a:r>
          </a:p>
          <a:p xmlns:a="http://schemas.openxmlformats.org/drawingml/2006/main">
            <a:r>
              <a:t>packages/durable/test/env-line-scan.test.ts</a:t>
            </a:r>
          </a:p>
          <a:p xmlns:a="http://schemas.openxmlformats.org/drawingml/2006/main">
            <a:r>
              <a:t>packages/durable/test/codemode-models.test.ts</a:t>
            </a:r>
          </a:p>
          <a:p xmlns:a="http://schemas.openxmlformats.org/drawingml/2006/main">
            <a:r>
              <a:t>packages/durable/test/codemode.test.ts</a:t>
            </a:r>
          </a:p>
          <a:p xmlns:a="http://schemas.openxmlformats.org/drawingml/2006/main">
            <a:r>
              <a:t>packages/durable/test/env-node-conformance.test.ts</a:t>
            </a:r>
          </a:p>
          <a:p xmlns:a="http://schemas.openxmlformats.org/drawingml/2006/main">
            <a:r>
              <a:t>packages/durable/test/env-node-spill.test.ts</a:t>
            </a:r>
          </a:p>
          <a:p xmlns:a="http://schemas.openxmlformats.org/drawingml/2006/main">
            <a:r>
              <a:t>packages/durable/test/env-node.test.ts</a:t>
            </a:r>
          </a:p>
          <a:p xmlns:a="http://schemas.openxmlformats.org/drawingml/2006/main">
            <a:r>
              <a:t>packages/durable/test/harness-structured-output.test.ts</a:t>
            </a:r>
          </a:p>
          <a:p xmlns:a="http://schemas.openxmlformats.org/drawingml/2006/main">
            <a:r>
              <a:t>packages/durable/test/harness-tools-recovery.test.ts</a:t>
            </a:r>
          </a:p>
          <a:p xmlns:a="http://schemas.openxmlformats.org/drawingml/2006/main">
            <a:r>
              <a:t>packages/durable/test/harness-tools.test.ts</a:t>
            </a:r>
          </a:p>
          <a:p xmlns:a="http://schemas.openxmlformats.org/drawingml/2006/main">
            <a:r>
              <a:t>packages/durable/test/tool-output-bench.ts</a:t>
            </a:r>
          </a:p>
          <a:p xmlns:a="http://schemas.openxmlformats.org/drawingml/2006/main">
            <a:r>
              <a:t>packages/durable/test/tools-images.test.ts</a:t>
            </a:r>
          </a:p>
          <a:p xmlns:a="http://schemas.openxmlformats.org/drawingml/2006/main">
            <a:r>
              <a:t>packages/durable/test/tools-read-differential.test.ts</a:t>
            </a:r>
          </a:p>
          <a:p xmlns:a="http://schemas.openxmlformats.org/drawingml/2006/main">
            <a:r>
              <a:t>packages/durable/test/tools.test.ts</a:t>
            </a:r>
          </a:p>
          <a:p xmlns:a="http://schemas.openxmlformats.org/drawingml/2006/main">
            <a:r>
              <a:t>packages/env/test/differential.test.ts</a:t>
            </a:r>
          </a:p>
          <a:p xmlns:a="http://schemas.openxmlformats.org/drawingml/2006/main">
            <a:r>
              <a:t>packages/durable/test/nested-images-bench.ts</a:t>
            </a:r>
          </a:p>
          <a:p xmlns:a="http://schemas.openxmlformats.org/drawingml/2006/main">
            <a:r>
              <a:t>packages/durable/test/nested-tools-bench.ts</a:t>
            </a:r>
          </a:p>
          <a:p xmlns:a="http://schemas.openxmlformats.org/drawingml/2006/main">
            <a:r>
              <a:t>packages/durable/test/sqlite-cloudflare.test.ts</a:t>
            </a:r>
          </a:p>
          <a:p xmlns:a="http://schemas.openxmlformats.org/drawingml/2006/main">
            <a:r>
              <a:t>packages/durable/test/codemode-bench.ts</a:t>
            </a:r>
          </a:p>
          <a:p xmlns:a="http://schemas.openxmlformats.org/drawingml/2006/main">
            <a:r>
              <a:t>packages/durable/test/harness-compaction.test.ts</a:t>
            </a:r>
          </a:p>
          <a:p xmlns:a="http://schemas.openxmlformats.org/drawingml/2006/main">
            <a:r>
              <a:t>packages/durable/test/harness-conversations.test.ts</a:t>
            </a:r>
          </a:p>
          <a:p xmlns:a="http://schemas.openxmlformats.org/drawingml/2006/main">
            <a:r>
              <a:t>packages/durable/test/harness-generation-recovery.test.ts</a:t>
            </a:r>
          </a:p>
          <a:p xmlns:a="http://schemas.openxmlformats.org/drawingml/2006/main">
            <a:r>
              <a:t>packages/durable/test/harness-inbox.test.ts</a:t>
            </a:r>
          </a:p>
          <a:p xmlns:a="http://schemas.openxmlformats.org/drawingml/2006/main">
            <a:r>
              <a:t>packages/durable/test/harness-input-entries.test.ts</a:t>
            </a:r>
          </a:p>
          <a:p xmlns:a="http://schemas.openxmlformats.org/drawingml/2006/main">
            <a:r>
              <a:t>packages/durable/test/harness-nested-tools-restart.test.ts</a:t>
            </a:r>
          </a:p>
          <a:p xmlns:a="http://schemas.openxmlformats.org/drawingml/2006/main">
            <a:r>
              <a:t>packages/durable/test/harness-nested-tools.test.ts</a:t>
            </a:r>
          </a:p>
          <a:p xmlns:a="http://schemas.openxmlformats.org/drawingml/2006/main">
            <a:r>
              <a:t>packages/durable/test/harness-ownership.test.ts</a:t>
            </a:r>
          </a:p>
          <a:p xmlns:a="http://schemas.openxmlformats.org/drawingml/2006/main">
            <a:r>
              <a:t>packages/durable/test/harness-scheduler-indexes.test.ts</a:t>
            </a:r>
          </a:p>
          <a:p xmlns:a="http://schemas.openxmlformats.org/drawingml/2006/main">
            <a:r>
              <a:t>packages/durable/test/harness-scheduler-retention.test.ts</a:t>
            </a:r>
          </a:p>
          <a:p xmlns:a="http://schemas.openxmlformats.org/drawingml/2006/main">
            <a:r>
              <a:t>packages/durable/test/harness-structured.test.ts</a:t>
            </a:r>
          </a:p>
          <a:p xmlns:a="http://schemas.openxmlformats.org/drawingml/2006/main">
            <a:r>
              <a:t>packages/durable/test/harness-task-graph.test.ts</a:t>
            </a:r>
          </a:p>
          <a:p xmlns:a="http://schemas.openxmlformats.org/drawingml/2006/main">
            <a:r>
              <a:t>packages/durable/test/harness-tasks-recovery.test.ts</a:t>
            </a:r>
          </a:p>
          <a:p xmlns:a="http://schemas.openxmlformats.org/drawingml/2006/main">
            <a:r>
              <a:t>packages/durable/test/scheduler-memory-bench.ts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源码基线：6cd9d957a9fd50bc504d45b72834ed9dd85a20b6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流程为教学阅读顺序，可选分支不表示每次运行必经。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进程退出后，应用仍要知道已接纳输入、文档和任务到了哪一步。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认识四类记录</a:t>
            </a:r>
          </a:p>
          <a:p xmlns:a="http://schemas.openxmlformats.org/drawingml/2006/main">
            <a:r>
              <a:t>区分不可变 Entry、可变 JSON Document、带检查点 Task 与会话标识，不复用 CLI JSONL 的语义猜测。</a:t>
            </a:r>
          </a:p>
          <a:p xmlns:a="http://schemas.openxmlformats.org/drawingml/2006/main">
            <a:r>
              <a:t>输入：业务状态和消息</a:t>
            </a:r>
          </a:p>
          <a:p xmlns:a="http://schemas.openxmlformats.org/drawingml/2006/main">
            <a:r>
              <a:t>输出：记录类型选择</a:t>
            </a:r>
          </a:p>
          <a:p xmlns:a="http://schemas.openxmlformats.org/drawingml/2006/main">
            <a:r>
              <a:t>入口线索：defineDoc / defineEntry / defineTask</a:t>
            </a:r>
          </a:p>
          <a:p xmlns:a="http://schemas.openxmlformats.org/drawingml/2006/main">
            <a:r>
              <a:t>职责：这些记录契约与 CLI JSONL 条目不是同一套 API。</a:t>
            </a:r>
          </a:p>
          <a:p xmlns:a="http://schemas.openxmlformats.org/drawingml/2006/main">
            <a:r>
              <a:t>源码：packages/durable/src/documents.ts</a:t>
            </a:r>
          </a:p>
          <a:p xmlns:a="http://schemas.openxmlformats.org/drawingml/2006/main">
            <a:r>
              <a:t>packages/durable/src/entries.ts</a:t>
            </a:r>
          </a:p>
          <a:p xmlns:a="http://schemas.openxmlformats.org/drawingml/2006/main">
            <a:r>
              <a:t>packages/durable/src/errors.ts</a:t>
            </a:r>
          </a:p>
          <a:p xmlns:a="http://schemas.openxmlformats.org/drawingml/2006/main">
            <a:r>
              <a:t>packages/durable/src/ids.ts</a:t>
            </a:r>
          </a:p>
          <a:p xmlns:a="http://schemas.openxmlformats.org/drawingml/2006/main">
            <a:r>
              <a:t>packages/durable/src/tasks.ts</a:t>
            </a:r>
          </a:p>
          <a:p xmlns:a="http://schemas.openxmlformats.org/drawingml/2006/main">
            <a:r>
              <a:t>packages/durable/src/types.ts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2. 创建事务并提交</a:t>
            </a:r>
          </a:p>
          <a:p xmlns:a="http://schemas.openxmlformats.org/drawingml/2006/main">
            <a:r>
              <a:t>跟踪 transaction 中记录、文档与任务的原子变更，区分候选状态和已提交状态。</a:t>
            </a:r>
          </a:p>
          <a:p xmlns:a="http://schemas.openxmlformats.org/drawingml/2006/main">
            <a:r>
              <a:t>输入：一组关联变更</a:t>
            </a:r>
          </a:p>
          <a:p xmlns:a="http://schemas.openxmlformats.org/drawingml/2006/main">
            <a:r>
              <a:t>输出：持久提交</a:t>
            </a:r>
          </a:p>
          <a:p xmlns:a="http://schemas.openxmlformats.org/drawingml/2006/main">
            <a:r>
              <a:t>入口线索：createSession</a:t>
            </a:r>
          </a:p>
          <a:p xmlns:a="http://schemas.openxmlformats.org/drawingml/2006/main">
            <a:r>
              <a:t>职责：存储事务与观察者通知有专门边界。</a:t>
            </a:r>
          </a:p>
          <a:p xmlns:a="http://schemas.openxmlformats.org/drawingml/2006/main">
            <a:r>
              <a:t>源码：packages/durable/src/session/forks.ts</a:t>
            </a:r>
          </a:p>
          <a:p xmlns:a="http://schemas.openxmlformats.org/drawingml/2006/main">
            <a:r>
              <a:t>packages/durable/src/session/observation.ts</a:t>
            </a:r>
          </a:p>
          <a:p xmlns:a="http://schemas.openxmlformats.org/drawingml/2006/main">
            <a:r>
              <a:t>packages/durable/src/session/session.ts</a:t>
            </a:r>
          </a:p>
          <a:p xmlns:a="http://schemas.openxmlformats.org/drawingml/2006/main">
            <a:r>
              <a:t>packages/durable/src/session/transaction.ts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3. 选择存储实现</a:t>
            </a:r>
          </a:p>
          <a:p xmlns:a="http://schemas.openxmlformats.org/drawingml/2006/main">
            <a:r>
              <a:t>先用内存后端理解契约，再对照 JSONL/SQLite 的持久化与关闭行为。</a:t>
            </a:r>
          </a:p>
          <a:p xmlns:a="http://schemas.openxmlformats.org/drawingml/2006/main">
            <a:r>
              <a:t>输入：Storage 接口</a:t>
            </a:r>
          </a:p>
          <a:p xmlns:a="http://schemas.openxmlformats.org/drawingml/2006/main">
            <a:r>
              <a:t>输出：存储后端</a:t>
            </a:r>
          </a:p>
          <a:p xmlns:a="http://schemas.openxmlformats.org/drawingml/2006/main">
            <a:r>
              <a:t>入口线索：MemoryStorage</a:t>
            </a:r>
          </a:p>
          <a:p xmlns:a="http://schemas.openxmlformats.org/drawingml/2006/main">
            <a:r>
              <a:t>职责：内存实现不提供进程退出后的磁盘恢复。</a:t>
            </a:r>
          </a:p>
          <a:p xmlns:a="http://schemas.openxmlformats.org/drawingml/2006/main">
            <a:r>
              <a:t>源码：packages/durable/src/storage/memory.ts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4. 观察提交后的结果</a:t>
            </a:r>
          </a:p>
          <a:p xmlns:a="http://schemas.openxmlformats.org/drawingml/2006/main">
            <a:r>
              <a:t>阅读观察游标和订阅流程，确认外部看见的是哪个已提交版本。</a:t>
            </a:r>
          </a:p>
          <a:p xmlns:a="http://schemas.openxmlformats.org/drawingml/2006/main">
            <a:r>
              <a:t>输入：提交序列与游标</a:t>
            </a:r>
          </a:p>
          <a:p xmlns:a="http://schemas.openxmlformats.org/drawingml/2006/main">
            <a:r>
              <a:t>输出：可消费的变化</a:t>
            </a:r>
          </a:p>
          <a:p xmlns:a="http://schemas.openxmlformats.org/drawingml/2006/main">
            <a:r>
              <a:t>入口线索：NodeExecutionEnv；openBinaryReader；openDirReader</a:t>
            </a:r>
          </a:p>
          <a:p xmlns:a="http://schemas.openxmlformats.org/drawingml/2006/main">
            <a:r>
              <a:t>职责：Windows 监视采用轮询以避免目录句柄阻止重命名；实际平台分支以实现为准。</a:t>
            </a:r>
          </a:p>
          <a:p xmlns:a="http://schemas.openxmlformats.org/drawingml/2006/main">
            <a:r>
              <a:t>源码：packages/durable/src/env/decode.ts</a:t>
            </a:r>
          </a:p>
          <a:p xmlns:a="http://schemas.openxmlformats.org/drawingml/2006/main">
            <a:r>
              <a:t>packages/durable/src/env/line-scan.ts</a:t>
            </a:r>
          </a:p>
          <a:p xmlns:a="http://schemas.openxmlformats.org/drawingml/2006/main">
            <a:r>
              <a:t>packages/durable/src/env/node-watch.ts</a:t>
            </a:r>
          </a:p>
          <a:p xmlns:a="http://schemas.openxmlformats.org/drawingml/2006/main">
            <a:r>
              <a:t>packages/durable/src/env/node.ts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失败与恢复：内存后端不提供进程退出后的恢复；事务也无法自动回滚已经发生的网络或文件副作用。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练习：构造两个文档同时更新的事务，解释失败时观察者应看到什么。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参考判断：观察者不能看到只有一半修改的提交；外部副作用需由应用另外保证。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功能编号：DUR-02, DUR-03, DUR-07, DUR-30, DUR-36, DUR-39, DUR-51, DUR-52, DUR-59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文档来源：</a:t>
            </a:r>
          </a:p>
          <a:p xmlns:a="http://schemas.openxmlformats.org/drawingml/2006/main">
            <a:r>
              <a:t>packages/durable/README.md</a:t>
            </a:r>
          </a:p>
          <a:p xmlns:a="http://schemas.openxmlformats.org/drawingml/2006/main">
            <a:r>
              <a:t>packages/durable/CHANGELOG.md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关联测试阅读线索（未在演示文稿中执行）：</a:t>
            </a:r>
          </a:p>
          <a:p xmlns:a="http://schemas.openxmlformats.org/drawingml/2006/main">
            <a:r>
              <a:t>packages/durable/test/document-append-bench.ts</a:t>
            </a:r>
          </a:p>
          <a:p xmlns:a="http://schemas.openxmlformats.org/drawingml/2006/main">
            <a:r>
              <a:t>packages/durable/test/jsonl-storage.test.ts</a:t>
            </a:r>
          </a:p>
          <a:p xmlns:a="http://schemas.openxmlformats.org/drawingml/2006/main">
            <a:r>
              <a:t>packages/durable/test/memory-storage.test.ts</a:t>
            </a:r>
          </a:p>
          <a:p xmlns:a="http://schemas.openxmlformats.org/drawingml/2006/main">
            <a:r>
              <a:t>packages/durable/test/session-definitions.test.ts</a:t>
            </a:r>
          </a:p>
          <a:p xmlns:a="http://schemas.openxmlformats.org/drawingml/2006/main">
            <a:r>
              <a:t>packages/durable/test/session-documents.test.ts</a:t>
            </a:r>
          </a:p>
          <a:p xmlns:a="http://schemas.openxmlformats.org/drawingml/2006/main">
            <a:r>
              <a:t>packages/durable/test/session-tables.test.ts</a:t>
            </a:r>
          </a:p>
          <a:p xmlns:a="http://schemas.openxmlformats.org/drawingml/2006/main">
            <a:r>
              <a:t>packages/durable/test/sqlite-facade.test.ts</a:t>
            </a:r>
          </a:p>
          <a:p xmlns:a="http://schemas.openxmlformats.org/drawingml/2006/main">
            <a:r>
              <a:t>packages/durable/test/sqlite-migrations.test.ts</a:t>
            </a:r>
          </a:p>
          <a:p xmlns:a="http://schemas.openxmlformats.org/drawingml/2006/main">
            <a:r>
              <a:t>packages/durable/test/sqlite-storage.test.ts</a:t>
            </a:r>
          </a:p>
          <a:p xmlns:a="http://schemas.openxmlformats.org/drawingml/2006/main">
            <a:r>
              <a:t>packages/durable/test/types.test.ts</a:t>
            </a:r>
          </a:p>
          <a:p xmlns:a="http://schemas.openxmlformats.org/drawingml/2006/main">
            <a:r>
              <a:t>packages/durable/test/storage-memory.ts</a:t>
            </a:r>
          </a:p>
          <a:p xmlns:a="http://schemas.openxmlformats.org/drawingml/2006/main">
            <a:r>
              <a:t>packages/durable/test/storage.bench.ts</a:t>
            </a:r>
          </a:p>
          <a:p xmlns:a="http://schemas.openxmlformats.org/drawingml/2006/main">
            <a:r>
              <a:t>packages/durable/test/harness-generation.test.ts</a:t>
            </a:r>
          </a:p>
          <a:p xmlns:a="http://schemas.openxmlformats.org/drawingml/2006/main">
            <a:r>
              <a:t>packages/durable/test/harness-lifecycle.test.ts</a:t>
            </a:r>
          </a:p>
          <a:p xmlns:a="http://schemas.openxmlformats.org/drawingml/2006/main">
            <a:r>
              <a:t>packages/durable/test/harness-storage-failure.test.ts</a:t>
            </a:r>
          </a:p>
          <a:p xmlns:a="http://schemas.openxmlformats.org/drawingml/2006/main">
            <a:r>
              <a:t>packages/durable/test/harness-submissions.test.ts</a:t>
            </a:r>
          </a:p>
          <a:p xmlns:a="http://schemas.openxmlformats.org/drawingml/2006/main">
            <a:r>
              <a:t>packages/durable/test/session-document-cache-bench.ts</a:t>
            </a:r>
          </a:p>
          <a:p xmlns:a="http://schemas.openxmlformats.org/drawingml/2006/main">
            <a:r>
              <a:t>packages/durable/test/session-document-retention.test.ts</a:t>
            </a:r>
          </a:p>
          <a:p xmlns:a="http://schemas.openxmlformats.org/drawingml/2006/main">
            <a:r>
              <a:t>packages/durable/test/session-support.ts</a:t>
            </a:r>
          </a:p>
          <a:p xmlns:a="http://schemas.openxmlformats.org/drawingml/2006/main">
            <a:r>
              <a:t>packages/durable/test/setup-document-retention.ts</a:t>
            </a:r>
          </a:p>
          <a:p xmlns:a="http://schemas.openxmlformats.org/drawingml/2006/main">
            <a:r>
              <a:t>packages/durable/test/scheduler-fanout-bench.ts</a:t>
            </a:r>
          </a:p>
          <a:p xmlns:a="http://schemas.openxmlformats.org/drawingml/2006/main">
            <a:r>
              <a:t>packages/durable/test/env-line-scan.test.ts</a:t>
            </a:r>
          </a:p>
          <a:p xmlns:a="http://schemas.openxmlformats.org/drawingml/2006/main">
            <a:r>
              <a:t>packages/durable/test/codemode-models.test.ts</a:t>
            </a:r>
          </a:p>
          <a:p xmlns:a="http://schemas.openxmlformats.org/drawingml/2006/main">
            <a:r>
              <a:t>packages/durable/test/codemode.test.ts</a:t>
            </a:r>
          </a:p>
          <a:p xmlns:a="http://schemas.openxmlformats.org/drawingml/2006/main">
            <a:r>
              <a:t>packages/durable/test/env-node-conformance.test.ts</a:t>
            </a:r>
          </a:p>
          <a:p xmlns:a="http://schemas.openxmlformats.org/drawingml/2006/main">
            <a:r>
              <a:t>packages/durable/test/env-node-spill.test.ts</a:t>
            </a:r>
          </a:p>
          <a:p xmlns:a="http://schemas.openxmlformats.org/drawingml/2006/main">
            <a:r>
              <a:t>packages/durable/test/env-node.test.ts</a:t>
            </a:r>
          </a:p>
          <a:p xmlns:a="http://schemas.openxmlformats.org/drawingml/2006/main">
            <a:r>
              <a:t>packages/durable/test/harness-structured-output.test.ts</a:t>
            </a:r>
          </a:p>
          <a:p xmlns:a="http://schemas.openxmlformats.org/drawingml/2006/main">
            <a:r>
              <a:t>packages/durable/test/harness-tools-recovery.test.ts</a:t>
            </a:r>
          </a:p>
          <a:p xmlns:a="http://schemas.openxmlformats.org/drawingml/2006/main">
            <a:r>
              <a:t>packages/durable/test/harness-tools.test.ts</a:t>
            </a:r>
          </a:p>
          <a:p xmlns:a="http://schemas.openxmlformats.org/drawingml/2006/main">
            <a:r>
              <a:t>packages/durable/test/tool-output-bench.ts</a:t>
            </a:r>
          </a:p>
          <a:p xmlns:a="http://schemas.openxmlformats.org/drawingml/2006/main">
            <a:r>
              <a:t>packages/durable/test/tools-images.test.ts</a:t>
            </a:r>
          </a:p>
          <a:p xmlns:a="http://schemas.openxmlformats.org/drawingml/2006/main">
            <a:r>
              <a:t>packages/durable/test/tools-read-differential.test.ts</a:t>
            </a:r>
          </a:p>
          <a:p xmlns:a="http://schemas.openxmlformats.org/drawingml/2006/main">
            <a:r>
              <a:t>packages/durable/test/tools.test.ts</a:t>
            </a:r>
          </a:p>
          <a:p xmlns:a="http://schemas.openxmlformats.org/drawingml/2006/main">
            <a:r>
              <a:t>packages/env/test/differential.test.ts</a:t>
            </a:r>
          </a:p>
          <a:p xmlns:a="http://schemas.openxmlformats.org/drawingml/2006/main">
            <a:r>
              <a:t>packages/durable/test/nested-images-bench.ts</a:t>
            </a:r>
          </a:p>
          <a:p xmlns:a="http://schemas.openxmlformats.org/drawingml/2006/main">
            <a:r>
              <a:t>packages/durable/test/nested-tools-bench.ts</a:t>
            </a:r>
          </a:p>
          <a:p xmlns:a="http://schemas.openxmlformats.org/drawingml/2006/main">
            <a:r>
              <a:t>packages/durable/test/sqlite-cloudflare.test.ts</a:t>
            </a:r>
          </a:p>
          <a:p xmlns:a="http://schemas.openxmlformats.org/drawingml/2006/main">
            <a:r>
              <a:t>packages/durable/test/codemode-bench.ts</a:t>
            </a:r>
          </a:p>
          <a:p xmlns:a="http://schemas.openxmlformats.org/drawingml/2006/main">
            <a:r>
              <a:t>packages/durable/test/harness-compaction.test.ts</a:t>
            </a:r>
          </a:p>
          <a:p xmlns:a="http://schemas.openxmlformats.org/drawingml/2006/main">
            <a:r>
              <a:t>packages/durable/test/harness-conversations.test.ts</a:t>
            </a:r>
          </a:p>
          <a:p xmlns:a="http://schemas.openxmlformats.org/drawingml/2006/main">
            <a:r>
              <a:t>packages/durable/test/harness-generation-recovery.test.ts</a:t>
            </a:r>
          </a:p>
          <a:p xmlns:a="http://schemas.openxmlformats.org/drawingml/2006/main">
            <a:r>
              <a:t>packages/durable/test/harness-inbox.test.ts</a:t>
            </a:r>
          </a:p>
          <a:p xmlns:a="http://schemas.openxmlformats.org/drawingml/2006/main">
            <a:r>
              <a:t>packages/durable/test/harness-input-entries.test.ts</a:t>
            </a:r>
          </a:p>
          <a:p xmlns:a="http://schemas.openxmlformats.org/drawingml/2006/main">
            <a:r>
              <a:t>packages/durable/test/harness-nested-tools-restart.test.ts</a:t>
            </a:r>
          </a:p>
          <a:p xmlns:a="http://schemas.openxmlformats.org/drawingml/2006/main">
            <a:r>
              <a:t>packages/durable/test/harness-nested-tools.test.ts</a:t>
            </a:r>
          </a:p>
          <a:p xmlns:a="http://schemas.openxmlformats.org/drawingml/2006/main">
            <a:r>
              <a:t>packages/durable/test/harness-ownership.test.ts</a:t>
            </a:r>
          </a:p>
          <a:p xmlns:a="http://schemas.openxmlformats.org/drawingml/2006/main">
            <a:r>
              <a:t>packages/durable/test/harness-scheduler-indexes.test.ts</a:t>
            </a:r>
          </a:p>
          <a:p xmlns:a="http://schemas.openxmlformats.org/drawingml/2006/main">
            <a:r>
              <a:t>packages/durable/test/harness-scheduler-retention.test.ts</a:t>
            </a:r>
          </a:p>
          <a:p xmlns:a="http://schemas.openxmlformats.org/drawingml/2006/main">
            <a:r>
              <a:t>packages/durable/test/harness-structured.test.ts</a:t>
            </a:r>
          </a:p>
          <a:p xmlns:a="http://schemas.openxmlformats.org/drawingml/2006/main">
            <a:r>
              <a:t>packages/durable/test/harness-task-graph.test.ts</a:t>
            </a:r>
          </a:p>
          <a:p xmlns:a="http://schemas.openxmlformats.org/drawingml/2006/main">
            <a:r>
              <a:t>packages/durable/test/harness-tasks-recovery.test.ts</a:t>
            </a:r>
          </a:p>
          <a:p xmlns:a="http://schemas.openxmlformats.org/drawingml/2006/main">
            <a:r>
              <a:t>packages/durable/test/scheduler-memory-bench.ts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源码基线：6cd9d957a9fd50bc504d45b72834ed9dd85a20b6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流程为教学阅读顺序，可选分支不表示每次运行必经。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进程退出后，应用仍要知道已接纳输入、文档和任务到了哪一步。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认识四类记录</a:t>
            </a:r>
          </a:p>
          <a:p xmlns:a="http://schemas.openxmlformats.org/drawingml/2006/main">
            <a:r>
              <a:t>区分不可变 Entry、可变 JSON Document、带检查点 Task 与会话标识，不复用 CLI JSONL 的语义猜测。</a:t>
            </a:r>
          </a:p>
          <a:p xmlns:a="http://schemas.openxmlformats.org/drawingml/2006/main">
            <a:r>
              <a:t>输入：业务状态和消息</a:t>
            </a:r>
          </a:p>
          <a:p xmlns:a="http://schemas.openxmlformats.org/drawingml/2006/main">
            <a:r>
              <a:t>输出：记录类型选择</a:t>
            </a:r>
          </a:p>
          <a:p xmlns:a="http://schemas.openxmlformats.org/drawingml/2006/main">
            <a:r>
              <a:t>入口线索：defineDoc / defineEntry / defineTask</a:t>
            </a:r>
          </a:p>
          <a:p xmlns:a="http://schemas.openxmlformats.org/drawingml/2006/main">
            <a:r>
              <a:t>职责：这些记录契约与 CLI JSONL 条目不是同一套 API。</a:t>
            </a:r>
          </a:p>
          <a:p xmlns:a="http://schemas.openxmlformats.org/drawingml/2006/main">
            <a:r>
              <a:t>源码：packages/durable/src/documents.ts</a:t>
            </a:r>
          </a:p>
          <a:p xmlns:a="http://schemas.openxmlformats.org/drawingml/2006/main">
            <a:r>
              <a:t>packages/durable/src/entries.ts</a:t>
            </a:r>
          </a:p>
          <a:p xmlns:a="http://schemas.openxmlformats.org/drawingml/2006/main">
            <a:r>
              <a:t>packages/durable/src/errors.ts</a:t>
            </a:r>
          </a:p>
          <a:p xmlns:a="http://schemas.openxmlformats.org/drawingml/2006/main">
            <a:r>
              <a:t>packages/durable/src/ids.ts</a:t>
            </a:r>
          </a:p>
          <a:p xmlns:a="http://schemas.openxmlformats.org/drawingml/2006/main">
            <a:r>
              <a:t>packages/durable/src/tasks.ts</a:t>
            </a:r>
          </a:p>
          <a:p xmlns:a="http://schemas.openxmlformats.org/drawingml/2006/main">
            <a:r>
              <a:t>packages/durable/src/types.ts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2. 创建事务并提交</a:t>
            </a:r>
          </a:p>
          <a:p xmlns:a="http://schemas.openxmlformats.org/drawingml/2006/main">
            <a:r>
              <a:t>跟踪 transaction 中记录、文档与任务的原子变更，区分候选状态和已提交状态。</a:t>
            </a:r>
          </a:p>
          <a:p xmlns:a="http://schemas.openxmlformats.org/drawingml/2006/main">
            <a:r>
              <a:t>输入：一组关联变更</a:t>
            </a:r>
          </a:p>
          <a:p xmlns:a="http://schemas.openxmlformats.org/drawingml/2006/main">
            <a:r>
              <a:t>输出：持久提交</a:t>
            </a:r>
          </a:p>
          <a:p xmlns:a="http://schemas.openxmlformats.org/drawingml/2006/main">
            <a:r>
              <a:t>入口线索：createSession</a:t>
            </a:r>
          </a:p>
          <a:p xmlns:a="http://schemas.openxmlformats.org/drawingml/2006/main">
            <a:r>
              <a:t>职责：存储事务与观察者通知有专门边界。</a:t>
            </a:r>
          </a:p>
          <a:p xmlns:a="http://schemas.openxmlformats.org/drawingml/2006/main">
            <a:r>
              <a:t>源码：packages/durable/src/session/forks.ts</a:t>
            </a:r>
          </a:p>
          <a:p xmlns:a="http://schemas.openxmlformats.org/drawingml/2006/main">
            <a:r>
              <a:t>packages/durable/src/session/observation.ts</a:t>
            </a:r>
          </a:p>
          <a:p xmlns:a="http://schemas.openxmlformats.org/drawingml/2006/main">
            <a:r>
              <a:t>packages/durable/src/session/session.ts</a:t>
            </a:r>
          </a:p>
          <a:p xmlns:a="http://schemas.openxmlformats.org/drawingml/2006/main">
            <a:r>
              <a:t>packages/durable/src/session/transaction.ts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3. 选择存储实现</a:t>
            </a:r>
          </a:p>
          <a:p xmlns:a="http://schemas.openxmlformats.org/drawingml/2006/main">
            <a:r>
              <a:t>先用内存后端理解契约，再对照 JSONL/SQLite 的持久化与关闭行为。</a:t>
            </a:r>
          </a:p>
          <a:p xmlns:a="http://schemas.openxmlformats.org/drawingml/2006/main">
            <a:r>
              <a:t>输入：Storage 接口</a:t>
            </a:r>
          </a:p>
          <a:p xmlns:a="http://schemas.openxmlformats.org/drawingml/2006/main">
            <a:r>
              <a:t>输出：存储后端</a:t>
            </a:r>
          </a:p>
          <a:p xmlns:a="http://schemas.openxmlformats.org/drawingml/2006/main">
            <a:r>
              <a:t>入口线索：MemoryStorage</a:t>
            </a:r>
          </a:p>
          <a:p xmlns:a="http://schemas.openxmlformats.org/drawingml/2006/main">
            <a:r>
              <a:t>职责：内存实现不提供进程退出后的磁盘恢复。</a:t>
            </a:r>
          </a:p>
          <a:p xmlns:a="http://schemas.openxmlformats.org/drawingml/2006/main">
            <a:r>
              <a:t>源码：packages/durable/src/storage/memory.ts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4. 观察提交后的结果</a:t>
            </a:r>
          </a:p>
          <a:p xmlns:a="http://schemas.openxmlformats.org/drawingml/2006/main">
            <a:r>
              <a:t>阅读观察游标和订阅流程，确认外部看见的是哪个已提交版本。</a:t>
            </a:r>
          </a:p>
          <a:p xmlns:a="http://schemas.openxmlformats.org/drawingml/2006/main">
            <a:r>
              <a:t>输入：提交序列与游标</a:t>
            </a:r>
          </a:p>
          <a:p xmlns:a="http://schemas.openxmlformats.org/drawingml/2006/main">
            <a:r>
              <a:t>输出：可消费的变化</a:t>
            </a:r>
          </a:p>
          <a:p xmlns:a="http://schemas.openxmlformats.org/drawingml/2006/main">
            <a:r>
              <a:t>入口线索：NodeExecutionEnv；openBinaryReader；openDirReader</a:t>
            </a:r>
          </a:p>
          <a:p xmlns:a="http://schemas.openxmlformats.org/drawingml/2006/main">
            <a:r>
              <a:t>职责：Windows 监视采用轮询以避免目录句柄阻止重命名；实际平台分支以实现为准。</a:t>
            </a:r>
          </a:p>
          <a:p xmlns:a="http://schemas.openxmlformats.org/drawingml/2006/main">
            <a:r>
              <a:t>源码：packages/durable/src/env/decode.ts</a:t>
            </a:r>
          </a:p>
          <a:p xmlns:a="http://schemas.openxmlformats.org/drawingml/2006/main">
            <a:r>
              <a:t>packages/durable/src/env/line-scan.ts</a:t>
            </a:r>
          </a:p>
          <a:p xmlns:a="http://schemas.openxmlformats.org/drawingml/2006/main">
            <a:r>
              <a:t>packages/durable/src/env/node-watch.ts</a:t>
            </a:r>
          </a:p>
          <a:p xmlns:a="http://schemas.openxmlformats.org/drawingml/2006/main">
            <a:r>
              <a:t>packages/durable/src/env/node.ts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失败与恢复：内存后端不提供进程退出后的恢复；事务也无法自动回滚已经发生的网络或文件副作用。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练习：构造两个文档同时更新的事务，解释失败时观察者应看到什么。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参考判断：观察者不能看到只有一半修改的提交；外部副作用需由应用另外保证。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功能编号：DUR-02, DUR-03, DUR-07, DUR-30, DUR-36, DUR-39, DUR-51, DUR-52, DUR-59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文档来源：</a:t>
            </a:r>
          </a:p>
          <a:p xmlns:a="http://schemas.openxmlformats.org/drawingml/2006/main">
            <a:r>
              <a:t>packages/durable/README.md</a:t>
            </a:r>
          </a:p>
          <a:p xmlns:a="http://schemas.openxmlformats.org/drawingml/2006/main">
            <a:r>
              <a:t>packages/durable/CHANGELOG.md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关联测试阅读线索（未在演示文稿中执行）：</a:t>
            </a:r>
          </a:p>
          <a:p xmlns:a="http://schemas.openxmlformats.org/drawingml/2006/main">
            <a:r>
              <a:t>packages/durable/test/document-append-bench.ts</a:t>
            </a:r>
          </a:p>
          <a:p xmlns:a="http://schemas.openxmlformats.org/drawingml/2006/main">
            <a:r>
              <a:t>packages/durable/test/jsonl-storage.test.ts</a:t>
            </a:r>
          </a:p>
          <a:p xmlns:a="http://schemas.openxmlformats.org/drawingml/2006/main">
            <a:r>
              <a:t>packages/durable/test/memory-storage.test.ts</a:t>
            </a:r>
          </a:p>
          <a:p xmlns:a="http://schemas.openxmlformats.org/drawingml/2006/main">
            <a:r>
              <a:t>packages/durable/test/session-definitions.test.ts</a:t>
            </a:r>
          </a:p>
          <a:p xmlns:a="http://schemas.openxmlformats.org/drawingml/2006/main">
            <a:r>
              <a:t>packages/durable/test/session-documents.test.ts</a:t>
            </a:r>
          </a:p>
          <a:p xmlns:a="http://schemas.openxmlformats.org/drawingml/2006/main">
            <a:r>
              <a:t>packages/durable/test/session-tables.test.ts</a:t>
            </a:r>
          </a:p>
          <a:p xmlns:a="http://schemas.openxmlformats.org/drawingml/2006/main">
            <a:r>
              <a:t>packages/durable/test/sqlite-facade.test.ts</a:t>
            </a:r>
          </a:p>
          <a:p xmlns:a="http://schemas.openxmlformats.org/drawingml/2006/main">
            <a:r>
              <a:t>packages/durable/test/sqlite-migrations.test.ts</a:t>
            </a:r>
          </a:p>
          <a:p xmlns:a="http://schemas.openxmlformats.org/drawingml/2006/main">
            <a:r>
              <a:t>packages/durable/test/sqlite-storage.test.ts</a:t>
            </a:r>
          </a:p>
          <a:p xmlns:a="http://schemas.openxmlformats.org/drawingml/2006/main">
            <a:r>
              <a:t>packages/durable/test/types.test.ts</a:t>
            </a:r>
          </a:p>
          <a:p xmlns:a="http://schemas.openxmlformats.org/drawingml/2006/main">
            <a:r>
              <a:t>packages/durable/test/storage-memory.ts</a:t>
            </a:r>
          </a:p>
          <a:p xmlns:a="http://schemas.openxmlformats.org/drawingml/2006/main">
            <a:r>
              <a:t>packages/durable/test/storage.bench.ts</a:t>
            </a:r>
          </a:p>
          <a:p xmlns:a="http://schemas.openxmlformats.org/drawingml/2006/main">
            <a:r>
              <a:t>packages/durable/test/harness-generation.test.ts</a:t>
            </a:r>
          </a:p>
          <a:p xmlns:a="http://schemas.openxmlformats.org/drawingml/2006/main">
            <a:r>
              <a:t>packages/durable/test/harness-lifecycle.test.ts</a:t>
            </a:r>
          </a:p>
          <a:p xmlns:a="http://schemas.openxmlformats.org/drawingml/2006/main">
            <a:r>
              <a:t>packages/durable/test/harness-storage-failure.test.ts</a:t>
            </a:r>
          </a:p>
          <a:p xmlns:a="http://schemas.openxmlformats.org/drawingml/2006/main">
            <a:r>
              <a:t>packages/durable/test/harness-submissions.test.ts</a:t>
            </a:r>
          </a:p>
          <a:p xmlns:a="http://schemas.openxmlformats.org/drawingml/2006/main">
            <a:r>
              <a:t>packages/durable/test/session-document-cache-bench.ts</a:t>
            </a:r>
          </a:p>
          <a:p xmlns:a="http://schemas.openxmlformats.org/drawingml/2006/main">
            <a:r>
              <a:t>packages/durable/test/session-document-retention.test.ts</a:t>
            </a:r>
          </a:p>
          <a:p xmlns:a="http://schemas.openxmlformats.org/drawingml/2006/main">
            <a:r>
              <a:t>packages/durable/test/session-support.ts</a:t>
            </a:r>
          </a:p>
          <a:p xmlns:a="http://schemas.openxmlformats.org/drawingml/2006/main">
            <a:r>
              <a:t>packages/durable/test/setup-document-retention.ts</a:t>
            </a:r>
          </a:p>
          <a:p xmlns:a="http://schemas.openxmlformats.org/drawingml/2006/main">
            <a:r>
              <a:t>packages/durable/test/scheduler-fanout-bench.ts</a:t>
            </a:r>
          </a:p>
          <a:p xmlns:a="http://schemas.openxmlformats.org/drawingml/2006/main">
            <a:r>
              <a:t>packages/durable/test/env-line-scan.test.ts</a:t>
            </a:r>
          </a:p>
          <a:p xmlns:a="http://schemas.openxmlformats.org/drawingml/2006/main">
            <a:r>
              <a:t>packages/durable/test/codemode-models.test.ts</a:t>
            </a:r>
          </a:p>
          <a:p xmlns:a="http://schemas.openxmlformats.org/drawingml/2006/main">
            <a:r>
              <a:t>packages/durable/test/codemode.test.ts</a:t>
            </a:r>
          </a:p>
          <a:p xmlns:a="http://schemas.openxmlformats.org/drawingml/2006/main">
            <a:r>
              <a:t>packages/durable/test/env-node-conformance.test.ts</a:t>
            </a:r>
          </a:p>
          <a:p xmlns:a="http://schemas.openxmlformats.org/drawingml/2006/main">
            <a:r>
              <a:t>packages/durable/test/env-node-spill.test.ts</a:t>
            </a:r>
          </a:p>
          <a:p xmlns:a="http://schemas.openxmlformats.org/drawingml/2006/main">
            <a:r>
              <a:t>packages/durable/test/env-node.test.ts</a:t>
            </a:r>
          </a:p>
          <a:p xmlns:a="http://schemas.openxmlformats.org/drawingml/2006/main">
            <a:r>
              <a:t>packages/durable/test/harness-structured-output.test.ts</a:t>
            </a:r>
          </a:p>
          <a:p xmlns:a="http://schemas.openxmlformats.org/drawingml/2006/main">
            <a:r>
              <a:t>packages/durable/test/harness-tools-recovery.test.ts</a:t>
            </a:r>
          </a:p>
          <a:p xmlns:a="http://schemas.openxmlformats.org/drawingml/2006/main">
            <a:r>
              <a:t>packages/durable/test/harness-tools.test.ts</a:t>
            </a:r>
          </a:p>
          <a:p xmlns:a="http://schemas.openxmlformats.org/drawingml/2006/main">
            <a:r>
              <a:t>packages/durable/test/tool-output-bench.ts</a:t>
            </a:r>
          </a:p>
          <a:p xmlns:a="http://schemas.openxmlformats.org/drawingml/2006/main">
            <a:r>
              <a:t>packages/durable/test/tools-images.test.ts</a:t>
            </a:r>
          </a:p>
          <a:p xmlns:a="http://schemas.openxmlformats.org/drawingml/2006/main">
            <a:r>
              <a:t>packages/durable/test/tools-read-differential.test.ts</a:t>
            </a:r>
          </a:p>
          <a:p xmlns:a="http://schemas.openxmlformats.org/drawingml/2006/main">
            <a:r>
              <a:t>packages/durable/test/tools.test.ts</a:t>
            </a:r>
          </a:p>
          <a:p xmlns:a="http://schemas.openxmlformats.org/drawingml/2006/main">
            <a:r>
              <a:t>packages/env/test/differential.test.ts</a:t>
            </a:r>
          </a:p>
          <a:p xmlns:a="http://schemas.openxmlformats.org/drawingml/2006/main">
            <a:r>
              <a:t>packages/durable/test/nested-images-bench.ts</a:t>
            </a:r>
          </a:p>
          <a:p xmlns:a="http://schemas.openxmlformats.org/drawingml/2006/main">
            <a:r>
              <a:t>packages/durable/test/nested-tools-bench.ts</a:t>
            </a:r>
          </a:p>
          <a:p xmlns:a="http://schemas.openxmlformats.org/drawingml/2006/main">
            <a:r>
              <a:t>packages/durable/test/sqlite-cloudflare.test.ts</a:t>
            </a:r>
          </a:p>
          <a:p xmlns:a="http://schemas.openxmlformats.org/drawingml/2006/main">
            <a:r>
              <a:t>packages/durable/test/codemode-bench.ts</a:t>
            </a:r>
          </a:p>
          <a:p xmlns:a="http://schemas.openxmlformats.org/drawingml/2006/main">
            <a:r>
              <a:t>packages/durable/test/harness-compaction.test.ts</a:t>
            </a:r>
          </a:p>
          <a:p xmlns:a="http://schemas.openxmlformats.org/drawingml/2006/main">
            <a:r>
              <a:t>packages/durable/test/harness-conversations.test.ts</a:t>
            </a:r>
          </a:p>
          <a:p xmlns:a="http://schemas.openxmlformats.org/drawingml/2006/main">
            <a:r>
              <a:t>packages/durable/test/harness-generation-recovery.test.ts</a:t>
            </a:r>
          </a:p>
          <a:p xmlns:a="http://schemas.openxmlformats.org/drawingml/2006/main">
            <a:r>
              <a:t>packages/durable/test/harness-inbox.test.ts</a:t>
            </a:r>
          </a:p>
          <a:p xmlns:a="http://schemas.openxmlformats.org/drawingml/2006/main">
            <a:r>
              <a:t>packages/durable/test/harness-input-entries.test.ts</a:t>
            </a:r>
          </a:p>
          <a:p xmlns:a="http://schemas.openxmlformats.org/drawingml/2006/main">
            <a:r>
              <a:t>packages/durable/test/harness-nested-tools-restart.test.ts</a:t>
            </a:r>
          </a:p>
          <a:p xmlns:a="http://schemas.openxmlformats.org/drawingml/2006/main">
            <a:r>
              <a:t>packages/durable/test/harness-nested-tools.test.ts</a:t>
            </a:r>
          </a:p>
          <a:p xmlns:a="http://schemas.openxmlformats.org/drawingml/2006/main">
            <a:r>
              <a:t>packages/durable/test/harness-ownership.test.ts</a:t>
            </a:r>
          </a:p>
          <a:p xmlns:a="http://schemas.openxmlformats.org/drawingml/2006/main">
            <a:r>
              <a:t>packages/durable/test/harness-scheduler-indexes.test.ts</a:t>
            </a:r>
          </a:p>
          <a:p xmlns:a="http://schemas.openxmlformats.org/drawingml/2006/main">
            <a:r>
              <a:t>packages/durable/test/harness-scheduler-retention.test.ts</a:t>
            </a:r>
          </a:p>
          <a:p xmlns:a="http://schemas.openxmlformats.org/drawingml/2006/main">
            <a:r>
              <a:t>packages/durable/test/harness-structured.test.ts</a:t>
            </a:r>
          </a:p>
          <a:p xmlns:a="http://schemas.openxmlformats.org/drawingml/2006/main">
            <a:r>
              <a:t>packages/durable/test/harness-task-graph.test.ts</a:t>
            </a:r>
          </a:p>
          <a:p xmlns:a="http://schemas.openxmlformats.org/drawingml/2006/main">
            <a:r>
              <a:t>packages/durable/test/harness-tasks-recovery.test.ts</a:t>
            </a:r>
          </a:p>
          <a:p xmlns:a="http://schemas.openxmlformats.org/drawingml/2006/main">
            <a:r>
              <a:t>packages/durable/test/scheduler-memory-bench.ts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源码基线：6cd9d957a9fd50bc504d45b72834ed9dd85a20b6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流程为教学阅读顺序，可选分支不表示每次运行必经。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客户端提交一次输入，连接中断后重试仍不能重复工作。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装配 Harness 与注册表</a:t>
            </a:r>
          </a:p>
          <a:p xmlns:a="http://schemas.openxmlformats.org/drawingml/2006/main">
            <a:r>
              <a:t>检查 models、registry、storage 和调度的装配，区分会话保存的名字与进程内实现对象。</a:t>
            </a:r>
          </a:p>
          <a:p xmlns:a="http://schemas.openxmlformats.org/drawingml/2006/main">
            <a:r>
              <a:t>输入：宿主配置</a:t>
            </a:r>
          </a:p>
          <a:p xmlns:a="http://schemas.openxmlformats.org/drawingml/2006/main">
            <a:r>
              <a:t>输出：Harness 与 Conversation</a:t>
            </a:r>
          </a:p>
          <a:p xmlns:a="http://schemas.openxmlformats.org/drawingml/2006/main">
            <a:r>
              <a:t>入口线索：Harness / createRegistry</a:t>
            </a:r>
          </a:p>
          <a:p xmlns:a="http://schemas.openxmlformats.org/drawingml/2006/main">
            <a:r>
              <a:t>职责：以当前实现为准；设计文档不代表所有计划已经落地。</a:t>
            </a:r>
          </a:p>
          <a:p xmlns:a="http://schemas.openxmlformats.org/drawingml/2006/main">
            <a:r>
              <a:t>源码：packages/durable/src/harness/agent.ts</a:t>
            </a:r>
          </a:p>
          <a:p xmlns:a="http://schemas.openxmlformats.org/drawingml/2006/main">
            <a:r>
              <a:t>packages/durable/src/harness/compaction.ts</a:t>
            </a:r>
          </a:p>
          <a:p xmlns:a="http://schemas.openxmlformats.org/drawingml/2006/main">
            <a:r>
              <a:t>packages/durable/src/harness/context.ts</a:t>
            </a:r>
          </a:p>
          <a:p xmlns:a="http://schemas.openxmlformats.org/drawingml/2006/main">
            <a:r>
              <a:t>packages/durable/src/harness/define.ts</a:t>
            </a:r>
          </a:p>
          <a:p xmlns:a="http://schemas.openxmlformats.org/drawingml/2006/main">
            <a:r>
              <a:t>packages/durable/src/harness/events.ts</a:t>
            </a:r>
          </a:p>
          <a:p xmlns:a="http://schemas.openxmlformats.org/drawingml/2006/main">
            <a:r>
              <a:t>packages/durable/src/harness/generation.ts</a:t>
            </a:r>
          </a:p>
          <a:p xmlns:a="http://schemas.openxmlformats.org/drawingml/2006/main">
            <a:r>
              <a:t>packages/durable/src/harness/harness.ts</a:t>
            </a:r>
          </a:p>
          <a:p xmlns:a="http://schemas.openxmlformats.org/drawingml/2006/main">
            <a:r>
              <a:t>packages/durable/src/harness/inbox.ts</a:t>
            </a:r>
          </a:p>
          <a:p xmlns:a="http://schemas.openxmlformats.org/drawingml/2006/main">
            <a:r>
              <a:t>packages/durable/src/harness/json.ts</a:t>
            </a:r>
          </a:p>
          <a:p xmlns:a="http://schemas.openxmlformats.org/drawingml/2006/main">
            <a:r>
              <a:t>packages/durable/src/harness/live.ts</a:t>
            </a:r>
          </a:p>
          <a:p xmlns:a="http://schemas.openxmlformats.org/drawingml/2006/main">
            <a:r>
              <a:t>packages/durable/src/harness/output.ts</a:t>
            </a:r>
          </a:p>
          <a:p xmlns:a="http://schemas.openxmlformats.org/drawingml/2006/main">
            <a:r>
              <a:t>packages/durable/src/harness/prompt.ts</a:t>
            </a:r>
          </a:p>
          <a:p xmlns:a="http://schemas.openxmlformats.org/drawingml/2006/main">
            <a:r>
              <a:t>packages/durable/src/harness/provider.ts</a:t>
            </a:r>
          </a:p>
          <a:p xmlns:a="http://schemas.openxmlformats.org/drawingml/2006/main">
            <a:r>
              <a:t>packages/durable/src/harness/registry.ts</a:t>
            </a:r>
          </a:p>
          <a:p xmlns:a="http://schemas.openxmlformats.org/drawingml/2006/main">
            <a:r>
              <a:t>packages/durable/src/harness/scheduler.ts</a:t>
            </a:r>
          </a:p>
          <a:p xmlns:a="http://schemas.openxmlformats.org/drawingml/2006/main">
            <a:r>
              <a:t>packages/durable/src/harness/submissions.ts</a:t>
            </a:r>
          </a:p>
          <a:p xmlns:a="http://schemas.openxmlformats.org/drawingml/2006/main">
            <a:r>
              <a:t>packages/durable/src/harness/task-graph.ts</a:t>
            </a:r>
          </a:p>
          <a:p xmlns:a="http://schemas.openxmlformats.org/drawingml/2006/main">
            <a:r>
              <a:t>packages/durable/src/harness/tool.ts</a:t>
            </a:r>
          </a:p>
          <a:p xmlns:a="http://schemas.openxmlformats.org/drawingml/2006/main">
            <a:r>
              <a:t>packages/durable/src/harness/types.ts</a:t>
            </a:r>
          </a:p>
          <a:p xmlns:a="http://schemas.openxmlformats.org/drawingml/2006/main">
            <a:r>
              <a:t>packages/durable/src/harness/usage.ts</a:t>
            </a:r>
          </a:p>
          <a:p xmlns:a="http://schemas.openxmlformats.org/drawingml/2006/main">
            <a:r>
              <a:t>packages/durable/src/harness/util.ts</a:t>
            </a:r>
          </a:p>
          <a:p xmlns:a="http://schemas.openxmlformats.org/drawingml/2006/main">
            <a:r>
              <a:t>packages/durable/src/harness/view.ts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2. 接纳输入与去重</a:t>
            </a:r>
          </a:p>
          <a:p xmlns:a="http://schemas.openxmlformats.org/drawingml/2006/main">
            <a:r>
              <a:t>沿 submit/requestId 追踪接纳、排队与重复请求，比较取消 wait 和取消工作。</a:t>
            </a:r>
          </a:p>
          <a:p xmlns:a="http://schemas.openxmlformats.org/drawingml/2006/main">
            <a:r>
              <a:t>输入：输入与 requestId</a:t>
            </a:r>
          </a:p>
          <a:p xmlns:a="http://schemas.openxmlformats.org/drawingml/2006/main">
            <a:r>
              <a:t>输出：持久接纳结果</a:t>
            </a:r>
          </a:p>
          <a:p xmlns:a="http://schemas.openxmlformats.org/drawingml/2006/main">
            <a:r>
              <a:t>入口线索：submit；requestId；Submission.wait/abort</a:t>
            </a:r>
          </a:p>
          <a:p xmlns:a="http://schemas.openxmlformats.org/drawingml/2006/main">
            <a:r>
              <a:t>职责：同 requestId 重用原提交；取消等待只取消等待者，不自动终止底层工作。</a:t>
            </a:r>
          </a:p>
          <a:p xmlns:a="http://schemas.openxmlformats.org/drawingml/2006/main">
            <a:r>
              <a:t>源码：packages/durable/src/harness/inbox.ts</a:t>
            </a:r>
          </a:p>
          <a:p xmlns:a="http://schemas.openxmlformats.org/drawingml/2006/main">
            <a:r>
              <a:t>packages/durable/src/harness/submissions.ts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3. 构造生成上下文</a:t>
            </a:r>
          </a:p>
          <a:p xmlns:a="http://schemas.openxmlformats.org/drawingml/2006/main">
            <a:r>
              <a:t>检查提示 section、历史条目、工具和配置如何进入 generation。</a:t>
            </a:r>
          </a:p>
          <a:p xmlns:a="http://schemas.openxmlformats.org/drawingml/2006/main">
            <a:r>
              <a:t>输入：当前记录与会话设置</a:t>
            </a:r>
          </a:p>
          <a:p xmlns:a="http://schemas.openxmlformats.org/drawingml/2006/main">
            <a:r>
              <a:t>输出：模型请求上下文</a:t>
            </a:r>
          </a:p>
          <a:p xmlns:a="http://schemas.openxmlformats.org/drawingml/2006/main">
            <a:r>
              <a:t>入口线索：section；Conversation.reset；pi.system</a:t>
            </a:r>
          </a:p>
          <a:p xmlns:a="http://schemas.openxmlformats.org/drawingml/2006/main">
            <a:r>
              <a:t>职责：提示或工具变化被记录成系统条目；只发变化可保留提供商缓存，历史不会被 reset 物理删除。</a:t>
            </a:r>
          </a:p>
          <a:p xmlns:a="http://schemas.openxmlformats.org/drawingml/2006/main">
            <a:r>
              <a:t>源码：packages/durable/src/harness/json.ts</a:t>
            </a:r>
          </a:p>
          <a:p xmlns:a="http://schemas.openxmlformats.org/drawingml/2006/main">
            <a:r>
              <a:t>packages/durable/src/harness/prompt.ts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4. 持久化生成结果</a:t>
            </a:r>
          </a:p>
          <a:p xmlns:a="http://schemas.openxmlformats.org/drawingml/2006/main">
            <a:r>
              <a:t>标出模型轮次的任务检查点与结果提交，再看事件何时向外发布。</a:t>
            </a:r>
          </a:p>
          <a:p xmlns:a="http://schemas.openxmlformats.org/drawingml/2006/main">
            <a:r>
              <a:t>输入：模型输出</a:t>
            </a:r>
          </a:p>
          <a:p xmlns:a="http://schemas.openxmlformats.org/drawingml/2006/main">
            <a:r>
              <a:t>输出：已提交响应与后续任务</a:t>
            </a:r>
          </a:p>
          <a:p xmlns:a="http://schemas.openxmlformats.org/drawingml/2006/main">
            <a:r>
              <a:t>入口线索：GenerationTask；pi.generation；pi.provider</a:t>
            </a:r>
          </a:p>
          <a:p xmlns:a="http://schemas.openxmlformats.org/drawingml/2006/main">
            <a:r>
              <a:t>职责：模型调用与可观察状态以提交为边界，重启恢复工作；provider session identity 持久保存。</a:t>
            </a:r>
          </a:p>
          <a:p xmlns:a="http://schemas.openxmlformats.org/drawingml/2006/main">
            <a:r>
              <a:t>源码：packages/durable/src/harness/generation.ts</a:t>
            </a:r>
          </a:p>
          <a:p xmlns:a="http://schemas.openxmlformats.org/drawingml/2006/main">
            <a:r>
              <a:t>packages/durable/src/harness/provider.ts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失败与恢复：取消等待不会自动取消已经接纳的输入。重连后重新提交不同 requestId 可能产生新的工作。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练习：对照 20-inbox 和恢复示例，画出提交、断连、相同 requestId 重试、wait 的过程。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参考判断：应保留原请求身份并观察同一持久工作；不把传输失败等同于接纳失败。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功能编号：CHR-32, DUR-01, DUR-04, DUR-05, DUR-06, DUR-08, DUR-18, DUR-19, DUR-20, DUR-23, DUR-24, DUR-25, DUR-26, DUR-29, DUR-49, DUR-50, DUR-68, OTH-58, OTH-59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文档来源：</a:t>
            </a:r>
          </a:p>
          <a:p xmlns:a="http://schemas.openxmlformats.org/drawingml/2006/main">
            <a:r>
              <a:t>packages/durable/README.md</a:t>
            </a:r>
          </a:p>
          <a:p xmlns:a="http://schemas.openxmlformats.org/drawingml/2006/main">
            <a:r>
              <a:t>packages/chord/README.md</a:t>
            </a:r>
          </a:p>
          <a:p xmlns:a="http://schemas.openxmlformats.org/drawingml/2006/main">
            <a:r>
              <a:t>packages/chord/docs/guide.md</a:t>
            </a:r>
          </a:p>
          <a:p xmlns:a="http://schemas.openxmlformats.org/drawingml/2006/main">
            <a:r>
              <a:t>packages/chord/docs/spec.md</a:t>
            </a:r>
          </a:p>
          <a:p xmlns:a="http://schemas.openxmlformats.org/drawingml/2006/main">
            <a:r>
              <a:t>packages/durable/CHANGELOG.md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关联测试阅读线索（未在演示文稿中执行）：</a:t>
            </a:r>
          </a:p>
          <a:p xmlns:a="http://schemas.openxmlformats.org/drawingml/2006/main">
            <a:r>
              <a:t>packages/durable/test/harness-generation.test.ts</a:t>
            </a:r>
          </a:p>
          <a:p xmlns:a="http://schemas.openxmlformats.org/drawingml/2006/main">
            <a:r>
              <a:t>packages/durable/test/harness-prompt.test.ts</a:t>
            </a:r>
          </a:p>
          <a:p xmlns:a="http://schemas.openxmlformats.org/drawingml/2006/main">
            <a:r>
              <a:t>packages/durable/test/harness-registry.test.ts</a:t>
            </a:r>
          </a:p>
          <a:p xmlns:a="http://schemas.openxmlformats.org/drawingml/2006/main">
            <a:r>
              <a:t>packages/durable/test/harness-compaction.test.ts</a:t>
            </a:r>
          </a:p>
          <a:p xmlns:a="http://schemas.openxmlformats.org/drawingml/2006/main">
            <a:r>
              <a:t>packages/durable/test/harness-scheduler-retention.test.ts</a:t>
            </a:r>
          </a:p>
          <a:p xmlns:a="http://schemas.openxmlformats.org/drawingml/2006/main">
            <a:r>
              <a:t>packages/durable/test/harness-storage-failure.test.ts</a:t>
            </a:r>
          </a:p>
          <a:p xmlns:a="http://schemas.openxmlformats.org/drawingml/2006/main">
            <a:r>
              <a:t>packages/durable/test/scheduler-memory-bench.ts</a:t>
            </a:r>
          </a:p>
          <a:p xmlns:a="http://schemas.openxmlformats.org/drawingml/2006/main">
            <a:r>
              <a:t>packages/durable/test/harness-output-skip.test.ts</a:t>
            </a:r>
          </a:p>
          <a:p xmlns:a="http://schemas.openxmlformats.org/drawingml/2006/main">
            <a:r>
              <a:t>packages/durable/test/harness-output.test.ts</a:t>
            </a:r>
          </a:p>
          <a:p xmlns:a="http://schemas.openxmlformats.org/drawingml/2006/main">
            <a:r>
              <a:t>packages/durable/test/tools-read-differential.test.ts</a:t>
            </a:r>
          </a:p>
          <a:p xmlns:a="http://schemas.openxmlformats.org/drawingml/2006/main">
            <a:r>
              <a:t>packages/durable/test/harness-inbox.test.ts</a:t>
            </a:r>
          </a:p>
          <a:p xmlns:a="http://schemas.openxmlformats.org/drawingml/2006/main">
            <a:r>
              <a:t>packages/chord/test/eager-reload.test.ts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源码基线：6cd9d957a9fd50bc504d45b72834ed9dd85a20b6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流程为教学阅读顺序，可选分支不表示每次运行必经。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客户端提交一次输入，连接中断后重试仍不能重复工作。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装配 Harness 与注册表</a:t>
            </a:r>
          </a:p>
          <a:p xmlns:a="http://schemas.openxmlformats.org/drawingml/2006/main">
            <a:r>
              <a:t>检查 models、registry、storage 和调度的装配，区分会话保存的名字与进程内实现对象。</a:t>
            </a:r>
          </a:p>
          <a:p xmlns:a="http://schemas.openxmlformats.org/drawingml/2006/main">
            <a:r>
              <a:t>输入：宿主配置</a:t>
            </a:r>
          </a:p>
          <a:p xmlns:a="http://schemas.openxmlformats.org/drawingml/2006/main">
            <a:r>
              <a:t>输出：Harness 与 Conversation</a:t>
            </a:r>
          </a:p>
          <a:p xmlns:a="http://schemas.openxmlformats.org/drawingml/2006/main">
            <a:r>
              <a:t>入口线索：Harness / createRegistry</a:t>
            </a:r>
          </a:p>
          <a:p xmlns:a="http://schemas.openxmlformats.org/drawingml/2006/main">
            <a:r>
              <a:t>职责：以当前实现为准；设计文档不代表所有计划已经落地。</a:t>
            </a:r>
          </a:p>
          <a:p xmlns:a="http://schemas.openxmlformats.org/drawingml/2006/main">
            <a:r>
              <a:t>源码：packages/durable/src/harness/agent.ts</a:t>
            </a:r>
          </a:p>
          <a:p xmlns:a="http://schemas.openxmlformats.org/drawingml/2006/main">
            <a:r>
              <a:t>packages/durable/src/harness/compaction.ts</a:t>
            </a:r>
          </a:p>
          <a:p xmlns:a="http://schemas.openxmlformats.org/drawingml/2006/main">
            <a:r>
              <a:t>packages/durable/src/harness/context.ts</a:t>
            </a:r>
          </a:p>
          <a:p xmlns:a="http://schemas.openxmlformats.org/drawingml/2006/main">
            <a:r>
              <a:t>packages/durable/src/harness/define.ts</a:t>
            </a:r>
          </a:p>
          <a:p xmlns:a="http://schemas.openxmlformats.org/drawingml/2006/main">
            <a:r>
              <a:t>packages/durable/src/harness/events.ts</a:t>
            </a:r>
          </a:p>
          <a:p xmlns:a="http://schemas.openxmlformats.org/drawingml/2006/main">
            <a:r>
              <a:t>packages/durable/src/harness/generation.ts</a:t>
            </a:r>
          </a:p>
          <a:p xmlns:a="http://schemas.openxmlformats.org/drawingml/2006/main">
            <a:r>
              <a:t>packages/durable/src/harness/harness.ts</a:t>
            </a:r>
          </a:p>
          <a:p xmlns:a="http://schemas.openxmlformats.org/drawingml/2006/main">
            <a:r>
              <a:t>packages/durable/src/harness/inbox.ts</a:t>
            </a:r>
          </a:p>
          <a:p xmlns:a="http://schemas.openxmlformats.org/drawingml/2006/main">
            <a:r>
              <a:t>packages/durable/src/harness/json.ts</a:t>
            </a:r>
          </a:p>
          <a:p xmlns:a="http://schemas.openxmlformats.org/drawingml/2006/main">
            <a:r>
              <a:t>packages/durable/src/harness/live.ts</a:t>
            </a:r>
          </a:p>
          <a:p xmlns:a="http://schemas.openxmlformats.org/drawingml/2006/main">
            <a:r>
              <a:t>packages/durable/src/harness/output.ts</a:t>
            </a:r>
          </a:p>
          <a:p xmlns:a="http://schemas.openxmlformats.org/drawingml/2006/main">
            <a:r>
              <a:t>packages/durable/src/harness/prompt.ts</a:t>
            </a:r>
          </a:p>
          <a:p xmlns:a="http://schemas.openxmlformats.org/drawingml/2006/main">
            <a:r>
              <a:t>packages/durable/src/harness/provider.ts</a:t>
            </a:r>
          </a:p>
          <a:p xmlns:a="http://schemas.openxmlformats.org/drawingml/2006/main">
            <a:r>
              <a:t>packages/durable/src/harness/registry.ts</a:t>
            </a:r>
          </a:p>
          <a:p xmlns:a="http://schemas.openxmlformats.org/drawingml/2006/main">
            <a:r>
              <a:t>packages/durable/src/harness/scheduler.ts</a:t>
            </a:r>
          </a:p>
          <a:p xmlns:a="http://schemas.openxmlformats.org/drawingml/2006/main">
            <a:r>
              <a:t>packages/durable/src/harness/submissions.ts</a:t>
            </a:r>
          </a:p>
          <a:p xmlns:a="http://schemas.openxmlformats.org/drawingml/2006/main">
            <a:r>
              <a:t>packages/durable/src/harness/task-graph.ts</a:t>
            </a:r>
          </a:p>
          <a:p xmlns:a="http://schemas.openxmlformats.org/drawingml/2006/main">
            <a:r>
              <a:t>packages/durable/src/harness/tool.ts</a:t>
            </a:r>
          </a:p>
          <a:p xmlns:a="http://schemas.openxmlformats.org/drawingml/2006/main">
            <a:r>
              <a:t>packages/durable/src/harness/types.ts</a:t>
            </a:r>
          </a:p>
          <a:p xmlns:a="http://schemas.openxmlformats.org/drawingml/2006/main">
            <a:r>
              <a:t>packages/durable/src/harness/usage.ts</a:t>
            </a:r>
          </a:p>
          <a:p xmlns:a="http://schemas.openxmlformats.org/drawingml/2006/main">
            <a:r>
              <a:t>packages/durable/src/harness/util.ts</a:t>
            </a:r>
          </a:p>
          <a:p xmlns:a="http://schemas.openxmlformats.org/drawingml/2006/main">
            <a:r>
              <a:t>packages/durable/src/harness/view.ts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2. 接纳输入与去重</a:t>
            </a:r>
          </a:p>
          <a:p xmlns:a="http://schemas.openxmlformats.org/drawingml/2006/main">
            <a:r>
              <a:t>沿 submit/requestId 追踪接纳、排队与重复请求，比较取消 wait 和取消工作。</a:t>
            </a:r>
          </a:p>
          <a:p xmlns:a="http://schemas.openxmlformats.org/drawingml/2006/main">
            <a:r>
              <a:t>输入：输入与 requestId</a:t>
            </a:r>
          </a:p>
          <a:p xmlns:a="http://schemas.openxmlformats.org/drawingml/2006/main">
            <a:r>
              <a:t>输出：持久接纳结果</a:t>
            </a:r>
          </a:p>
          <a:p xmlns:a="http://schemas.openxmlformats.org/drawingml/2006/main">
            <a:r>
              <a:t>入口线索：submit；requestId；Submission.wait/abort</a:t>
            </a:r>
          </a:p>
          <a:p xmlns:a="http://schemas.openxmlformats.org/drawingml/2006/main">
            <a:r>
              <a:t>职责：同 requestId 重用原提交；取消等待只取消等待者，不自动终止底层工作。</a:t>
            </a:r>
          </a:p>
          <a:p xmlns:a="http://schemas.openxmlformats.org/drawingml/2006/main">
            <a:r>
              <a:t>源码：packages/durable/src/harness/inbox.ts</a:t>
            </a:r>
          </a:p>
          <a:p xmlns:a="http://schemas.openxmlformats.org/drawingml/2006/main">
            <a:r>
              <a:t>packages/durable/src/harness/submissions.ts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3. 构造生成上下文</a:t>
            </a:r>
          </a:p>
          <a:p xmlns:a="http://schemas.openxmlformats.org/drawingml/2006/main">
            <a:r>
              <a:t>检查提示 section、历史条目、工具和配置如何进入 generation。</a:t>
            </a:r>
          </a:p>
          <a:p xmlns:a="http://schemas.openxmlformats.org/drawingml/2006/main">
            <a:r>
              <a:t>输入：当前记录与会话设置</a:t>
            </a:r>
          </a:p>
          <a:p xmlns:a="http://schemas.openxmlformats.org/drawingml/2006/main">
            <a:r>
              <a:t>输出：模型请求上下文</a:t>
            </a:r>
          </a:p>
          <a:p xmlns:a="http://schemas.openxmlformats.org/drawingml/2006/main">
            <a:r>
              <a:t>入口线索：section；Conversation.reset；pi.system</a:t>
            </a:r>
          </a:p>
          <a:p xmlns:a="http://schemas.openxmlformats.org/drawingml/2006/main">
            <a:r>
              <a:t>职责：提示或工具变化被记录成系统条目；只发变化可保留提供商缓存，历史不会被 reset 物理删除。</a:t>
            </a:r>
          </a:p>
          <a:p xmlns:a="http://schemas.openxmlformats.org/drawingml/2006/main">
            <a:r>
              <a:t>源码：packages/durable/src/harness/json.ts</a:t>
            </a:r>
          </a:p>
          <a:p xmlns:a="http://schemas.openxmlformats.org/drawingml/2006/main">
            <a:r>
              <a:t>packages/durable/src/harness/prompt.ts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4. 持久化生成结果</a:t>
            </a:r>
          </a:p>
          <a:p xmlns:a="http://schemas.openxmlformats.org/drawingml/2006/main">
            <a:r>
              <a:t>标出模型轮次的任务检查点与结果提交，再看事件何时向外发布。</a:t>
            </a:r>
          </a:p>
          <a:p xmlns:a="http://schemas.openxmlformats.org/drawingml/2006/main">
            <a:r>
              <a:t>输入：模型输出</a:t>
            </a:r>
          </a:p>
          <a:p xmlns:a="http://schemas.openxmlformats.org/drawingml/2006/main">
            <a:r>
              <a:t>输出：已提交响应与后续任务</a:t>
            </a:r>
          </a:p>
          <a:p xmlns:a="http://schemas.openxmlformats.org/drawingml/2006/main">
            <a:r>
              <a:t>入口线索：GenerationTask；pi.generation；pi.provider</a:t>
            </a:r>
          </a:p>
          <a:p xmlns:a="http://schemas.openxmlformats.org/drawingml/2006/main">
            <a:r>
              <a:t>职责：模型调用与可观察状态以提交为边界，重启恢复工作；provider session identity 持久保存。</a:t>
            </a:r>
          </a:p>
          <a:p xmlns:a="http://schemas.openxmlformats.org/drawingml/2006/main">
            <a:r>
              <a:t>源码：packages/durable/src/harness/generation.ts</a:t>
            </a:r>
          </a:p>
          <a:p xmlns:a="http://schemas.openxmlformats.org/drawingml/2006/main">
            <a:r>
              <a:t>packages/durable/src/harness/provider.ts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失败与恢复：取消等待不会自动取消已经接纳的输入。重连后重新提交不同 requestId 可能产生新的工作。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练习：对照 20-inbox 和恢复示例，画出提交、断连、相同 requestId 重试、wait 的过程。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参考判断：应保留原请求身份并观察同一持久工作；不把传输失败等同于接纳失败。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功能编号：CHR-32, DUR-01, DUR-04, DUR-05, DUR-06, DUR-08, DUR-18, DUR-19, DUR-20, DUR-23, DUR-24, DUR-25, DUR-26, DUR-29, DUR-49, DUR-50, DUR-68, OTH-58, OTH-59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文档来源：</a:t>
            </a:r>
          </a:p>
          <a:p xmlns:a="http://schemas.openxmlformats.org/drawingml/2006/main">
            <a:r>
              <a:t>packages/durable/README.md</a:t>
            </a:r>
          </a:p>
          <a:p xmlns:a="http://schemas.openxmlformats.org/drawingml/2006/main">
            <a:r>
              <a:t>packages/chord/README.md</a:t>
            </a:r>
          </a:p>
          <a:p xmlns:a="http://schemas.openxmlformats.org/drawingml/2006/main">
            <a:r>
              <a:t>packages/chord/docs/guide.md</a:t>
            </a:r>
          </a:p>
          <a:p xmlns:a="http://schemas.openxmlformats.org/drawingml/2006/main">
            <a:r>
              <a:t>packages/chord/docs/spec.md</a:t>
            </a:r>
          </a:p>
          <a:p xmlns:a="http://schemas.openxmlformats.org/drawingml/2006/main">
            <a:r>
              <a:t>packages/durable/CHANGELOG.md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关联测试阅读线索（未在演示文稿中执行）：</a:t>
            </a:r>
          </a:p>
          <a:p xmlns:a="http://schemas.openxmlformats.org/drawingml/2006/main">
            <a:r>
              <a:t>packages/durable/test/harness-generation.test.ts</a:t>
            </a:r>
          </a:p>
          <a:p xmlns:a="http://schemas.openxmlformats.org/drawingml/2006/main">
            <a:r>
              <a:t>packages/durable/test/harness-prompt.test.ts</a:t>
            </a:r>
          </a:p>
          <a:p xmlns:a="http://schemas.openxmlformats.org/drawingml/2006/main">
            <a:r>
              <a:t>packages/durable/test/harness-registry.test.ts</a:t>
            </a:r>
          </a:p>
          <a:p xmlns:a="http://schemas.openxmlformats.org/drawingml/2006/main">
            <a:r>
              <a:t>packages/durable/test/harness-compaction.test.ts</a:t>
            </a:r>
          </a:p>
          <a:p xmlns:a="http://schemas.openxmlformats.org/drawingml/2006/main">
            <a:r>
              <a:t>packages/durable/test/harness-scheduler-retention.test.ts</a:t>
            </a:r>
          </a:p>
          <a:p xmlns:a="http://schemas.openxmlformats.org/drawingml/2006/main">
            <a:r>
              <a:t>packages/durable/test/harness-storage-failure.test.ts</a:t>
            </a:r>
          </a:p>
          <a:p xmlns:a="http://schemas.openxmlformats.org/drawingml/2006/main">
            <a:r>
              <a:t>packages/durable/test/scheduler-memory-bench.ts</a:t>
            </a:r>
          </a:p>
          <a:p xmlns:a="http://schemas.openxmlformats.org/drawingml/2006/main">
            <a:r>
              <a:t>packages/durable/test/harness-output-skip.test.ts</a:t>
            </a:r>
          </a:p>
          <a:p xmlns:a="http://schemas.openxmlformats.org/drawingml/2006/main">
            <a:r>
              <a:t>packages/durable/test/harness-output.test.ts</a:t>
            </a:r>
          </a:p>
          <a:p xmlns:a="http://schemas.openxmlformats.org/drawingml/2006/main">
            <a:r>
              <a:t>packages/durable/test/tools-read-differential.test.ts</a:t>
            </a:r>
          </a:p>
          <a:p xmlns:a="http://schemas.openxmlformats.org/drawingml/2006/main">
            <a:r>
              <a:t>packages/durable/test/harness-inbox.test.ts</a:t>
            </a:r>
          </a:p>
          <a:p xmlns:a="http://schemas.openxmlformats.org/drawingml/2006/main">
            <a:r>
              <a:t>packages/chord/test/eager-reload.test.ts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源码基线：6cd9d957a9fd50bc504d45b72834ed9dd85a20b6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流程为教学阅读顺序，可选分支不表示每次运行必经。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客户端提交一次输入，连接中断后重试仍不能重复工作。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装配 Harness 与注册表</a:t>
            </a:r>
          </a:p>
          <a:p xmlns:a="http://schemas.openxmlformats.org/drawingml/2006/main">
            <a:r>
              <a:t>检查 models、registry、storage 和调度的装配，区分会话保存的名字与进程内实现对象。</a:t>
            </a:r>
          </a:p>
          <a:p xmlns:a="http://schemas.openxmlformats.org/drawingml/2006/main">
            <a:r>
              <a:t>输入：宿主配置</a:t>
            </a:r>
          </a:p>
          <a:p xmlns:a="http://schemas.openxmlformats.org/drawingml/2006/main">
            <a:r>
              <a:t>输出：Harness 与 Conversation</a:t>
            </a:r>
          </a:p>
          <a:p xmlns:a="http://schemas.openxmlformats.org/drawingml/2006/main">
            <a:r>
              <a:t>入口线索：Harness / createRegistry</a:t>
            </a:r>
          </a:p>
          <a:p xmlns:a="http://schemas.openxmlformats.org/drawingml/2006/main">
            <a:r>
              <a:t>职责：以当前实现为准；设计文档不代表所有计划已经落地。</a:t>
            </a:r>
          </a:p>
          <a:p xmlns:a="http://schemas.openxmlformats.org/drawingml/2006/main">
            <a:r>
              <a:t>源码：packages/durable/src/harness/agent.ts</a:t>
            </a:r>
          </a:p>
          <a:p xmlns:a="http://schemas.openxmlformats.org/drawingml/2006/main">
            <a:r>
              <a:t>packages/durable/src/harness/compaction.ts</a:t>
            </a:r>
          </a:p>
          <a:p xmlns:a="http://schemas.openxmlformats.org/drawingml/2006/main">
            <a:r>
              <a:t>packages/durable/src/harness/context.ts</a:t>
            </a:r>
          </a:p>
          <a:p xmlns:a="http://schemas.openxmlformats.org/drawingml/2006/main">
            <a:r>
              <a:t>packages/durable/src/harness/define.ts</a:t>
            </a:r>
          </a:p>
          <a:p xmlns:a="http://schemas.openxmlformats.org/drawingml/2006/main">
            <a:r>
              <a:t>packages/durable/src/harness/events.ts</a:t>
            </a:r>
          </a:p>
          <a:p xmlns:a="http://schemas.openxmlformats.org/drawingml/2006/main">
            <a:r>
              <a:t>packages/durable/src/harness/generation.ts</a:t>
            </a:r>
          </a:p>
          <a:p xmlns:a="http://schemas.openxmlformats.org/drawingml/2006/main">
            <a:r>
              <a:t>packages/durable/src/harness/harness.ts</a:t>
            </a:r>
          </a:p>
          <a:p xmlns:a="http://schemas.openxmlformats.org/drawingml/2006/main">
            <a:r>
              <a:t>packages/durable/src/harness/inbox.ts</a:t>
            </a:r>
          </a:p>
          <a:p xmlns:a="http://schemas.openxmlformats.org/drawingml/2006/main">
            <a:r>
              <a:t>packages/durable/src/harness/json.ts</a:t>
            </a:r>
          </a:p>
          <a:p xmlns:a="http://schemas.openxmlformats.org/drawingml/2006/main">
            <a:r>
              <a:t>packages/durable/src/harness/live.ts</a:t>
            </a:r>
          </a:p>
          <a:p xmlns:a="http://schemas.openxmlformats.org/drawingml/2006/main">
            <a:r>
              <a:t>packages/durable/src/harness/output.ts</a:t>
            </a:r>
          </a:p>
          <a:p xmlns:a="http://schemas.openxmlformats.org/drawingml/2006/main">
            <a:r>
              <a:t>packages/durable/src/harness/prompt.ts</a:t>
            </a:r>
          </a:p>
          <a:p xmlns:a="http://schemas.openxmlformats.org/drawingml/2006/main">
            <a:r>
              <a:t>packages/durable/src/harness/provider.ts</a:t>
            </a:r>
          </a:p>
          <a:p xmlns:a="http://schemas.openxmlformats.org/drawingml/2006/main">
            <a:r>
              <a:t>packages/durable/src/harness/registry.ts</a:t>
            </a:r>
          </a:p>
          <a:p xmlns:a="http://schemas.openxmlformats.org/drawingml/2006/main">
            <a:r>
              <a:t>packages/durable/src/harness/scheduler.ts</a:t>
            </a:r>
          </a:p>
          <a:p xmlns:a="http://schemas.openxmlformats.org/drawingml/2006/main">
            <a:r>
              <a:t>packages/durable/src/harness/submissions.ts</a:t>
            </a:r>
          </a:p>
          <a:p xmlns:a="http://schemas.openxmlformats.org/drawingml/2006/main">
            <a:r>
              <a:t>packages/durable/src/harness/task-graph.ts</a:t>
            </a:r>
          </a:p>
          <a:p xmlns:a="http://schemas.openxmlformats.org/drawingml/2006/main">
            <a:r>
              <a:t>packages/durable/src/harness/tool.ts</a:t>
            </a:r>
          </a:p>
          <a:p xmlns:a="http://schemas.openxmlformats.org/drawingml/2006/main">
            <a:r>
              <a:t>packages/durable/src/harness/types.ts</a:t>
            </a:r>
          </a:p>
          <a:p xmlns:a="http://schemas.openxmlformats.org/drawingml/2006/main">
            <a:r>
              <a:t>packages/durable/src/harness/usage.ts</a:t>
            </a:r>
          </a:p>
          <a:p xmlns:a="http://schemas.openxmlformats.org/drawingml/2006/main">
            <a:r>
              <a:t>packages/durable/src/harness/util.ts</a:t>
            </a:r>
          </a:p>
          <a:p xmlns:a="http://schemas.openxmlformats.org/drawingml/2006/main">
            <a:r>
              <a:t>packages/durable/src/harness/view.ts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2. 接纳输入与去重</a:t>
            </a:r>
          </a:p>
          <a:p xmlns:a="http://schemas.openxmlformats.org/drawingml/2006/main">
            <a:r>
              <a:t>沿 submit/requestId 追踪接纳、排队与重复请求，比较取消 wait 和取消工作。</a:t>
            </a:r>
          </a:p>
          <a:p xmlns:a="http://schemas.openxmlformats.org/drawingml/2006/main">
            <a:r>
              <a:t>输入：输入与 requestId</a:t>
            </a:r>
          </a:p>
          <a:p xmlns:a="http://schemas.openxmlformats.org/drawingml/2006/main">
            <a:r>
              <a:t>输出：持久接纳结果</a:t>
            </a:r>
          </a:p>
          <a:p xmlns:a="http://schemas.openxmlformats.org/drawingml/2006/main">
            <a:r>
              <a:t>入口线索：submit；requestId；Submission.wait/abort</a:t>
            </a:r>
          </a:p>
          <a:p xmlns:a="http://schemas.openxmlformats.org/drawingml/2006/main">
            <a:r>
              <a:t>职责：同 requestId 重用原提交；取消等待只取消等待者，不自动终止底层工作。</a:t>
            </a:r>
          </a:p>
          <a:p xmlns:a="http://schemas.openxmlformats.org/drawingml/2006/main">
            <a:r>
              <a:t>源码：packages/durable/src/harness/inbox.ts</a:t>
            </a:r>
          </a:p>
          <a:p xmlns:a="http://schemas.openxmlformats.org/drawingml/2006/main">
            <a:r>
              <a:t>packages/durable/src/harness/submissions.ts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3. 构造生成上下文</a:t>
            </a:r>
          </a:p>
          <a:p xmlns:a="http://schemas.openxmlformats.org/drawingml/2006/main">
            <a:r>
              <a:t>检查提示 section、历史条目、工具和配置如何进入 generation。</a:t>
            </a:r>
          </a:p>
          <a:p xmlns:a="http://schemas.openxmlformats.org/drawingml/2006/main">
            <a:r>
              <a:t>输入：当前记录与会话设置</a:t>
            </a:r>
          </a:p>
          <a:p xmlns:a="http://schemas.openxmlformats.org/drawingml/2006/main">
            <a:r>
              <a:t>输出：模型请求上下文</a:t>
            </a:r>
          </a:p>
          <a:p xmlns:a="http://schemas.openxmlformats.org/drawingml/2006/main">
            <a:r>
              <a:t>入口线索：section；Conversation.reset；pi.system</a:t>
            </a:r>
          </a:p>
          <a:p xmlns:a="http://schemas.openxmlformats.org/drawingml/2006/main">
            <a:r>
              <a:t>职责：提示或工具变化被记录成系统条目；只发变化可保留提供商缓存，历史不会被 reset 物理删除。</a:t>
            </a:r>
          </a:p>
          <a:p xmlns:a="http://schemas.openxmlformats.org/drawingml/2006/main">
            <a:r>
              <a:t>源码：packages/durable/src/harness/json.ts</a:t>
            </a:r>
          </a:p>
          <a:p xmlns:a="http://schemas.openxmlformats.org/drawingml/2006/main">
            <a:r>
              <a:t>packages/durable/src/harness/prompt.ts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4. 持久化生成结果</a:t>
            </a:r>
          </a:p>
          <a:p xmlns:a="http://schemas.openxmlformats.org/drawingml/2006/main">
            <a:r>
              <a:t>标出模型轮次的任务检查点与结果提交，再看事件何时向外发布。</a:t>
            </a:r>
          </a:p>
          <a:p xmlns:a="http://schemas.openxmlformats.org/drawingml/2006/main">
            <a:r>
              <a:t>输入：模型输出</a:t>
            </a:r>
          </a:p>
          <a:p xmlns:a="http://schemas.openxmlformats.org/drawingml/2006/main">
            <a:r>
              <a:t>输出：已提交响应与后续任务</a:t>
            </a:r>
          </a:p>
          <a:p xmlns:a="http://schemas.openxmlformats.org/drawingml/2006/main">
            <a:r>
              <a:t>入口线索：GenerationTask；pi.generation；pi.provider</a:t>
            </a:r>
          </a:p>
          <a:p xmlns:a="http://schemas.openxmlformats.org/drawingml/2006/main">
            <a:r>
              <a:t>职责：模型调用与可观察状态以提交为边界，重启恢复工作；provider session identity 持久保存。</a:t>
            </a:r>
          </a:p>
          <a:p xmlns:a="http://schemas.openxmlformats.org/drawingml/2006/main">
            <a:r>
              <a:t>源码：packages/durable/src/harness/generation.ts</a:t>
            </a:r>
          </a:p>
          <a:p xmlns:a="http://schemas.openxmlformats.org/drawingml/2006/main">
            <a:r>
              <a:t>packages/durable/src/harness/provider.ts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失败与恢复：取消等待不会自动取消已经接纳的输入。重连后重新提交不同 requestId 可能产生新的工作。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练习：对照 20-inbox 和恢复示例，画出提交、断连、相同 requestId 重试、wait 的过程。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参考判断：应保留原请求身份并观察同一持久工作；不把传输失败等同于接纳失败。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功能编号：CHR-32, DUR-01, DUR-04, DUR-05, DUR-06, DUR-08, DUR-18, DUR-19, DUR-20, DUR-23, DUR-24, DUR-25, DUR-26, DUR-29, DUR-49, DUR-50, DUR-68, OTH-58, OTH-59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文档来源：</a:t>
            </a:r>
          </a:p>
          <a:p xmlns:a="http://schemas.openxmlformats.org/drawingml/2006/main">
            <a:r>
              <a:t>packages/durable/README.md</a:t>
            </a:r>
          </a:p>
          <a:p xmlns:a="http://schemas.openxmlformats.org/drawingml/2006/main">
            <a:r>
              <a:t>packages/chord/README.md</a:t>
            </a:r>
          </a:p>
          <a:p xmlns:a="http://schemas.openxmlformats.org/drawingml/2006/main">
            <a:r>
              <a:t>packages/chord/docs/guide.md</a:t>
            </a:r>
          </a:p>
          <a:p xmlns:a="http://schemas.openxmlformats.org/drawingml/2006/main">
            <a:r>
              <a:t>packages/chord/docs/spec.md</a:t>
            </a:r>
          </a:p>
          <a:p xmlns:a="http://schemas.openxmlformats.org/drawingml/2006/main">
            <a:r>
              <a:t>packages/durable/CHANGELOG.md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关联测试阅读线索（未在演示文稿中执行）：</a:t>
            </a:r>
          </a:p>
          <a:p xmlns:a="http://schemas.openxmlformats.org/drawingml/2006/main">
            <a:r>
              <a:t>packages/durable/test/harness-generation.test.ts</a:t>
            </a:r>
          </a:p>
          <a:p xmlns:a="http://schemas.openxmlformats.org/drawingml/2006/main">
            <a:r>
              <a:t>packages/durable/test/harness-prompt.test.ts</a:t>
            </a:r>
          </a:p>
          <a:p xmlns:a="http://schemas.openxmlformats.org/drawingml/2006/main">
            <a:r>
              <a:t>packages/durable/test/harness-registry.test.ts</a:t>
            </a:r>
          </a:p>
          <a:p xmlns:a="http://schemas.openxmlformats.org/drawingml/2006/main">
            <a:r>
              <a:t>packages/durable/test/harness-compaction.test.ts</a:t>
            </a:r>
          </a:p>
          <a:p xmlns:a="http://schemas.openxmlformats.org/drawingml/2006/main">
            <a:r>
              <a:t>packages/durable/test/harness-scheduler-retention.test.ts</a:t>
            </a:r>
          </a:p>
          <a:p xmlns:a="http://schemas.openxmlformats.org/drawingml/2006/main">
            <a:r>
              <a:t>packages/durable/test/harness-storage-failure.test.ts</a:t>
            </a:r>
          </a:p>
          <a:p xmlns:a="http://schemas.openxmlformats.org/drawingml/2006/main">
            <a:r>
              <a:t>packages/durable/test/scheduler-memory-bench.ts</a:t>
            </a:r>
          </a:p>
          <a:p xmlns:a="http://schemas.openxmlformats.org/drawingml/2006/main">
            <a:r>
              <a:t>packages/durable/test/harness-output-skip.test.ts</a:t>
            </a:r>
          </a:p>
          <a:p xmlns:a="http://schemas.openxmlformats.org/drawingml/2006/main">
            <a:r>
              <a:t>packages/durable/test/harness-output.test.ts</a:t>
            </a:r>
          </a:p>
          <a:p xmlns:a="http://schemas.openxmlformats.org/drawingml/2006/main">
            <a:r>
              <a:t>packages/durable/test/tools-read-differential.test.ts</a:t>
            </a:r>
          </a:p>
          <a:p xmlns:a="http://schemas.openxmlformats.org/drawingml/2006/main">
            <a:r>
              <a:t>packages/durable/test/harness-inbox.test.ts</a:t>
            </a:r>
          </a:p>
          <a:p xmlns:a="http://schemas.openxmlformats.org/drawingml/2006/main">
            <a:r>
              <a:t>packages/chord/test/eager-reload.test.ts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源码基线：6cd9d957a9fd50bc504d45b72834ed9dd85a20b6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流程为教学阅读顺序，可选分支不表示每次运行必经。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工具执行到一半时进程退出，重启后必须避免重复危险副作用。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登记工具契约</a:t>
            </a:r>
          </a:p>
          <a:p xmlns:a="http://schemas.openxmlformats.org/drawingml/2006/main">
            <a:r>
              <a:t>查看 defineTool 的输入输出 schema、hooks 和 replay 声明，并确认注册表中的稳定名称。</a:t>
            </a:r>
          </a:p>
          <a:p xmlns:a="http://schemas.openxmlformats.org/drawingml/2006/main">
            <a:r>
              <a:t>输入：工具定义</a:t>
            </a:r>
          </a:p>
          <a:p xmlns:a="http://schemas.openxmlformats.org/drawingml/2006/main">
            <a:r>
              <a:t>输出：可调度工具</a:t>
            </a:r>
          </a:p>
          <a:p xmlns:a="http://schemas.openxmlformats.org/drawingml/2006/main">
            <a:r>
              <a:t>入口线索：createRegistry；defineExtension；defineTool；wrapTool</a:t>
            </a:r>
          </a:p>
          <a:p xmlns:a="http://schemas.openxmlformats.org/drawingml/2006/main">
            <a:r>
              <a:t>职责：运行中的阶段保留已解析代码，新阶段使用新注册表；会话保存名字而不是代码对象。</a:t>
            </a:r>
          </a:p>
          <a:p xmlns:a="http://schemas.openxmlformats.org/drawingml/2006/main">
            <a:r>
              <a:t>源码：packages/durable/src/harness/define.ts</a:t>
            </a:r>
          </a:p>
          <a:p xmlns:a="http://schemas.openxmlformats.org/drawingml/2006/main">
            <a:r>
              <a:t>packages/durable/src/harness/registry.ts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2. 先提交执行意图</a:t>
            </a:r>
          </a:p>
          <a:p xmlns:a="http://schemas.openxmlformats.org/drawingml/2006/main">
            <a:r>
              <a:t>标出 intent 提交、宿主执行和 result 提交的位置，比较每个位置崩溃后的记录。</a:t>
            </a:r>
          </a:p>
          <a:p xmlns:a="http://schemas.openxmlformats.org/drawingml/2006/main">
            <a:r>
              <a:t>输入：模型 toolCall</a:t>
            </a:r>
          </a:p>
          <a:p xmlns:a="http://schemas.openxmlformats.org/drawingml/2006/main">
            <a:r>
              <a:t>输出：工具任务与执行状态</a:t>
            </a:r>
          </a:p>
          <a:p xmlns:a="http://schemas.openxmlformats.org/drawingml/2006/main">
            <a:r>
              <a:t>入口线索：ToolTask；replay: safe；api.output</a:t>
            </a:r>
          </a:p>
          <a:p xmlns:a="http://schemas.openxmlformats.org/drawingml/2006/main">
            <a:r>
              <a:t>职责：重启只重跑显式安全任务；其他中断调用形成 interrupted 结果，避免重复外部副作用。</a:t>
            </a:r>
          </a:p>
          <a:p xmlns:a="http://schemas.openxmlformats.org/drawingml/2006/main">
            <a:r>
              <a:t>源码：packages/durable/src/harness/output.ts</a:t>
            </a:r>
          </a:p>
          <a:p xmlns:a="http://schemas.openxmlformats.org/drawingml/2006/main">
            <a:r>
              <a:t>packages/durable/src/harness/tool.ts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3. 恢复中断任务</a:t>
            </a:r>
          </a:p>
          <a:p xmlns:a="http://schemas.openxmlformats.org/drawingml/2006/main">
            <a:r>
              <a:t>检查中断、错误保留和 replay safe 的策略；不能把所有工具自动重跑。</a:t>
            </a:r>
          </a:p>
          <a:p xmlns:a="http://schemas.openxmlformats.org/drawingml/2006/main">
            <a:r>
              <a:t>输入：未完成检查点</a:t>
            </a:r>
          </a:p>
          <a:p xmlns:a="http://schemas.openxmlformats.org/drawingml/2006/main">
            <a:r>
              <a:t>输出：重跑、失败或人工处理分支</a:t>
            </a:r>
          </a:p>
          <a:p xmlns:a="http://schemas.openxmlformats.org/drawingml/2006/main">
            <a:r>
              <a:t>入口线索：Session.closed；SessionFailed；documentRetentionMs</a:t>
            </a:r>
          </a:p>
          <a:p xmlns:a="http://schemas.openxmlformats.org/drawingml/2006/main">
            <a:r>
              <a:t>职责：StorageRequestError 只使当前调用失败；普通存储错误不由 Session 自动重试。文档缓存默认十分钟，0 表示使用后释放，再次访问从存储加载。</a:t>
            </a:r>
          </a:p>
          <a:p xmlns:a="http://schemas.openxmlformats.org/drawingml/2006/main">
            <a:r>
              <a:t>源码：packages/durable/src/errors.ts</a:t>
            </a:r>
          </a:p>
          <a:p xmlns:a="http://schemas.openxmlformats.org/drawingml/2006/main">
            <a:r>
              <a:t>packages/durable/src/harness/scheduler.ts</a:t>
            </a:r>
          </a:p>
          <a:p xmlns:a="http://schemas.openxmlformats.org/drawingml/2006/main">
            <a:r>
              <a:t>packages/durable/src/session/session.ts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4. 验证真实副作用</a:t>
            </a:r>
          </a:p>
          <a:p xmlns:a="http://schemas.openxmlformats.org/drawingml/2006/main">
            <a:r>
              <a:t>以文件或命令工具检查幂等性，设计能区分“执行成功但结果未提交”的验证。</a:t>
            </a:r>
          </a:p>
          <a:p xmlns:a="http://schemas.openxmlformats.org/drawingml/2006/main">
            <a:r>
              <a:t>输入：执行环境和持久记录</a:t>
            </a:r>
          </a:p>
          <a:p xmlns:a="http://schemas.openxmlformats.org/drawingml/2006/main">
            <a:r>
              <a:t>输出：可解释的恢复结果</a:t>
            </a:r>
          </a:p>
          <a:p xmlns:a="http://schemas.openxmlformats.org/drawingml/2006/main">
            <a:r>
              <a:t>入口线索：createCodingTools；createReadTool；createBashTool</a:t>
            </a:r>
          </a:p>
          <a:p xmlns:a="http://schemas.openxmlformats.org/drawingml/2006/main">
            <a:r>
              <a:t>职责：read 支持图像和可选处理器；文件修改按 env.id 与路径串行。bash/powershell 非零退出返回带 exit_code 诊断的错误结果。</a:t>
            </a:r>
          </a:p>
          <a:p xmlns:a="http://schemas.openxmlformats.org/drawingml/2006/main">
            <a:r>
              <a:t>源码：packages/durable/src/tools/bash.ts</a:t>
            </a:r>
          </a:p>
          <a:p xmlns:a="http://schemas.openxmlformats.org/drawingml/2006/main">
            <a:r>
              <a:t>packages/durable/src/tools/edit-diff.ts</a:t>
            </a:r>
          </a:p>
          <a:p xmlns:a="http://schemas.openxmlformats.org/drawingml/2006/main">
            <a:r>
              <a:t>packages/durable/src/tools/edit.ts</a:t>
            </a:r>
          </a:p>
          <a:p xmlns:a="http://schemas.openxmlformats.org/drawingml/2006/main">
            <a:r>
              <a:t>packages/durable/src/tools/env.ts</a:t>
            </a:r>
          </a:p>
          <a:p xmlns:a="http://schemas.openxmlformats.org/drawingml/2006/main">
            <a:r>
              <a:t>packages/durable/src/tools/file-mutation-queue.ts</a:t>
            </a:r>
          </a:p>
          <a:p xmlns:a="http://schemas.openxmlformats.org/drawingml/2006/main">
            <a:r>
              <a:t>packages/durable/src/tools/image-processor.ts</a:t>
            </a:r>
          </a:p>
          <a:p xmlns:a="http://schemas.openxmlformats.org/drawingml/2006/main">
            <a:r>
              <a:t>packages/durable/src/tools/image.ts</a:t>
            </a:r>
          </a:p>
          <a:p xmlns:a="http://schemas.openxmlformats.org/drawingml/2006/main">
            <a:r>
              <a:t>packages/durable/src/tools/index.ts</a:t>
            </a:r>
          </a:p>
          <a:p xmlns:a="http://schemas.openxmlformats.org/drawingml/2006/main">
            <a:r>
              <a:t>packages/durable/src/tools/path-utils.ts</a:t>
            </a:r>
          </a:p>
          <a:p xmlns:a="http://schemas.openxmlformats.org/drawingml/2006/main">
            <a:r>
              <a:t>packages/durable/src/tools/read.ts</a:t>
            </a:r>
          </a:p>
          <a:p xmlns:a="http://schemas.openxmlformats.org/drawingml/2006/main">
            <a:r>
              <a:t>packages/durable/src/tools/write.ts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失败与恢复：只有声明 replay: safe 的中断工具可走自动重放路径；该声明本身不能让非幂等操作变安全。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练习：设计一个计数器工具，分别在意图前、执行后和结果后模拟退出，写出允许的计数结果。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参考判断：需要解释每个提交窗口，特别是外部动作成功但结果未提交的窗口。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功能编号：DUR-08, DUR-09, DUR-10, DUR-11, DUR-12, DUR-13, DUR-14, DUR-15, DUR-16, DUR-17, DUR-26, DUR-29, DUR-41, DUR-44, DUR-45, DUR-46, DUR-47, DUR-48, DUR-53, DUR-54, DUR-56, DUR-57, DUR-58, DUR-60, OTH-61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文档来源：</a:t>
            </a:r>
          </a:p>
          <a:p xmlns:a="http://schemas.openxmlformats.org/drawingml/2006/main">
            <a:r>
              <a:t>packages/durable/README.md</a:t>
            </a:r>
          </a:p>
          <a:p xmlns:a="http://schemas.openxmlformats.org/drawingml/2006/main">
            <a:r>
              <a:t>packages/durable/CHANGELOG.md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关联测试阅读线索（未在演示文稿中执行）：</a:t>
            </a:r>
          </a:p>
          <a:p xmlns:a="http://schemas.openxmlformats.org/drawingml/2006/main">
            <a:r>
              <a:t>packages/durable/test/harness-output-skip.test.ts</a:t>
            </a:r>
          </a:p>
          <a:p xmlns:a="http://schemas.openxmlformats.org/drawingml/2006/main">
            <a:r>
              <a:t>packages/durable/test/harness-output.test.ts</a:t>
            </a:r>
          </a:p>
          <a:p xmlns:a="http://schemas.openxmlformats.org/drawingml/2006/main">
            <a:r>
              <a:t>packages/durable/test/tools-read-differential.test.ts</a:t>
            </a:r>
          </a:p>
          <a:p xmlns:a="http://schemas.openxmlformats.org/drawingml/2006/main">
            <a:r>
              <a:t>packages/durable/test/document-append-bench.ts</a:t>
            </a:r>
          </a:p>
          <a:p xmlns:a="http://schemas.openxmlformats.org/drawingml/2006/main">
            <a:r>
              <a:t>packages/durable/test/harness-generation.test.ts</a:t>
            </a:r>
          </a:p>
          <a:p xmlns:a="http://schemas.openxmlformats.org/drawingml/2006/main">
            <a:r>
              <a:t>packages/durable/test/harness-lifecycle.test.ts</a:t>
            </a:r>
          </a:p>
          <a:p xmlns:a="http://schemas.openxmlformats.org/drawingml/2006/main">
            <a:r>
              <a:t>packages/durable/test/harness-storage-failure.test.ts</a:t>
            </a:r>
          </a:p>
          <a:p xmlns:a="http://schemas.openxmlformats.org/drawingml/2006/main">
            <a:r>
              <a:t>packages/durable/test/harness-submissions.test.ts</a:t>
            </a:r>
          </a:p>
          <a:p xmlns:a="http://schemas.openxmlformats.org/drawingml/2006/main">
            <a:r>
              <a:t>packages/durable/test/session-document-cache-bench.ts</a:t>
            </a:r>
          </a:p>
          <a:p xmlns:a="http://schemas.openxmlformats.org/drawingml/2006/main">
            <a:r>
              <a:t>packages/durable/test/session-document-retention.test.ts</a:t>
            </a:r>
          </a:p>
          <a:p xmlns:a="http://schemas.openxmlformats.org/drawingml/2006/main">
            <a:r>
              <a:t>packages/durable/test/session-support.ts</a:t>
            </a:r>
          </a:p>
          <a:p xmlns:a="http://schemas.openxmlformats.org/drawingml/2006/main">
            <a:r>
              <a:t>packages/durable/test/setup-document-retention.ts</a:t>
            </a:r>
          </a:p>
          <a:p xmlns:a="http://schemas.openxmlformats.org/drawingml/2006/main">
            <a:r>
              <a:t>packages/durable/test/tools.test.ts</a:t>
            </a:r>
          </a:p>
          <a:p xmlns:a="http://schemas.openxmlformats.org/drawingml/2006/main">
            <a:r>
              <a:t>packages/durable/test/tools-images.test.ts</a:t>
            </a:r>
          </a:p>
          <a:p xmlns:a="http://schemas.openxmlformats.org/drawingml/2006/main">
            <a:r>
              <a:t>packages/durable/test/harness-structured-output.test.ts</a:t>
            </a:r>
          </a:p>
          <a:p xmlns:a="http://schemas.openxmlformats.org/drawingml/2006/main">
            <a:r>
              <a:t>packages/durable/test/harness-tools-recovery.test.ts</a:t>
            </a:r>
          </a:p>
          <a:p xmlns:a="http://schemas.openxmlformats.org/drawingml/2006/main">
            <a:r>
              <a:t>packages/durable/test/harness-tools.test.ts</a:t>
            </a:r>
          </a:p>
          <a:p xmlns:a="http://schemas.openxmlformats.org/drawingml/2006/main">
            <a:r>
              <a:t>packages/durable/test/images-wasm-module.test.ts</a:t>
            </a:r>
          </a:p>
          <a:p xmlns:a="http://schemas.openxmlformats.org/drawingml/2006/main">
            <a:r>
              <a:t>packages/durable/test/spec-usage.test.ts</a:t>
            </a:r>
          </a:p>
          <a:p xmlns:a="http://schemas.openxmlformats.org/drawingml/2006/main">
            <a:r>
              <a:t>packages/durable/test/tool-output-bench.ts</a:t>
            </a:r>
          </a:p>
          <a:p xmlns:a="http://schemas.openxmlformats.org/drawingml/2006/main">
            <a:r>
              <a:t>packages/env/test/differential.test.ts</a:t>
            </a:r>
          </a:p>
          <a:p xmlns:a="http://schemas.openxmlformats.org/drawingml/2006/main">
            <a:r>
              <a:t>packages/durable/test/env-line-scan.test.ts</a:t>
            </a:r>
          </a:p>
          <a:p xmlns:a="http://schemas.openxmlformats.org/drawingml/2006/main">
            <a:r>
              <a:t>packages/durable/test/chat-support.ts</a:t>
            </a:r>
          </a:p>
          <a:p xmlns:a="http://schemas.openxmlformats.org/drawingml/2006/main">
            <a:r>
              <a:t>packages/durable/test/codemode-models.test.ts</a:t>
            </a:r>
          </a:p>
          <a:p xmlns:a="http://schemas.openxmlformats.org/drawingml/2006/main">
            <a:r>
              <a:t>packages/durable/test/env-node-conformance.test.ts</a:t>
            </a:r>
          </a:p>
          <a:p xmlns:a="http://schemas.openxmlformats.org/drawingml/2006/main">
            <a:r>
              <a:t>packages/durable/test/env-node-spill.test.ts</a:t>
            </a:r>
          </a:p>
          <a:p xmlns:a="http://schemas.openxmlformats.org/drawingml/2006/main">
            <a:r>
              <a:t>packages/durable/test/env-node.test.ts</a:t>
            </a:r>
          </a:p>
          <a:p xmlns:a="http://schemas.openxmlformats.org/drawingml/2006/main">
            <a:r>
              <a:t>packages/durable/test/jsonl-storage.test.ts</a:t>
            </a:r>
          </a:p>
          <a:p xmlns:a="http://schemas.openxmlformats.org/drawingml/2006/main">
            <a:r>
              <a:t>packages/env/test/remote.test.ts</a:t>
            </a:r>
          </a:p>
          <a:p xmlns:a="http://schemas.openxmlformats.org/drawingml/2006/main">
            <a:r>
              <a:t>packages/env/test/ssh-external.test.ts</a:t>
            </a:r>
          </a:p>
          <a:p xmlns:a="http://schemas.openxmlformats.org/drawingml/2006/main">
            <a:r>
              <a:t>packages/env/test/ssh.test.ts</a:t>
            </a:r>
          </a:p>
          <a:p xmlns:a="http://schemas.openxmlformats.org/drawingml/2006/main">
            <a:r>
              <a:t>packages/durable/test/codemode.test.ts</a:t>
            </a:r>
          </a:p>
          <a:p xmlns:a="http://schemas.openxmlformats.org/drawingml/2006/main">
            <a:r>
              <a:t>packages/durable/test/harness-prompt.test.ts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源码基线：6cd9d957a9fd50bc504d45b72834ed9dd85a20b6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流程为教学阅读顺序，可选分支不表示每次运行必经。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工具执行到一半时进程退出，重启后必须避免重复危险副作用。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登记工具契约</a:t>
            </a:r>
          </a:p>
          <a:p xmlns:a="http://schemas.openxmlformats.org/drawingml/2006/main">
            <a:r>
              <a:t>查看 defineTool 的输入输出 schema、hooks 和 replay 声明，并确认注册表中的稳定名称。</a:t>
            </a:r>
          </a:p>
          <a:p xmlns:a="http://schemas.openxmlformats.org/drawingml/2006/main">
            <a:r>
              <a:t>输入：工具定义</a:t>
            </a:r>
          </a:p>
          <a:p xmlns:a="http://schemas.openxmlformats.org/drawingml/2006/main">
            <a:r>
              <a:t>输出：可调度工具</a:t>
            </a:r>
          </a:p>
          <a:p xmlns:a="http://schemas.openxmlformats.org/drawingml/2006/main">
            <a:r>
              <a:t>入口线索：createRegistry；defineExtension；defineTool；wrapTool</a:t>
            </a:r>
          </a:p>
          <a:p xmlns:a="http://schemas.openxmlformats.org/drawingml/2006/main">
            <a:r>
              <a:t>职责：运行中的阶段保留已解析代码，新阶段使用新注册表；会话保存名字而不是代码对象。</a:t>
            </a:r>
          </a:p>
          <a:p xmlns:a="http://schemas.openxmlformats.org/drawingml/2006/main">
            <a:r>
              <a:t>源码：packages/durable/src/harness/define.ts</a:t>
            </a:r>
          </a:p>
          <a:p xmlns:a="http://schemas.openxmlformats.org/drawingml/2006/main">
            <a:r>
              <a:t>packages/durable/src/harness/registry.ts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2. 先提交执行意图</a:t>
            </a:r>
          </a:p>
          <a:p xmlns:a="http://schemas.openxmlformats.org/drawingml/2006/main">
            <a:r>
              <a:t>标出 intent 提交、宿主执行和 result 提交的位置，比较每个位置崩溃后的记录。</a:t>
            </a:r>
          </a:p>
          <a:p xmlns:a="http://schemas.openxmlformats.org/drawingml/2006/main">
            <a:r>
              <a:t>输入：模型 toolCall</a:t>
            </a:r>
          </a:p>
          <a:p xmlns:a="http://schemas.openxmlformats.org/drawingml/2006/main">
            <a:r>
              <a:t>输出：工具任务与执行状态</a:t>
            </a:r>
          </a:p>
          <a:p xmlns:a="http://schemas.openxmlformats.org/drawingml/2006/main">
            <a:r>
              <a:t>入口线索：ToolTask；replay: safe；api.output</a:t>
            </a:r>
          </a:p>
          <a:p xmlns:a="http://schemas.openxmlformats.org/drawingml/2006/main">
            <a:r>
              <a:t>职责：重启只重跑显式安全任务；其他中断调用形成 interrupted 结果，避免重复外部副作用。</a:t>
            </a:r>
          </a:p>
          <a:p xmlns:a="http://schemas.openxmlformats.org/drawingml/2006/main">
            <a:r>
              <a:t>源码：packages/durable/src/harness/output.ts</a:t>
            </a:r>
          </a:p>
          <a:p xmlns:a="http://schemas.openxmlformats.org/drawingml/2006/main">
            <a:r>
              <a:t>packages/durable/src/harness/tool.ts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3. 恢复中断任务</a:t>
            </a:r>
          </a:p>
          <a:p xmlns:a="http://schemas.openxmlformats.org/drawingml/2006/main">
            <a:r>
              <a:t>检查中断、错误保留和 replay safe 的策略；不能把所有工具自动重跑。</a:t>
            </a:r>
          </a:p>
          <a:p xmlns:a="http://schemas.openxmlformats.org/drawingml/2006/main">
            <a:r>
              <a:t>输入：未完成检查点</a:t>
            </a:r>
          </a:p>
          <a:p xmlns:a="http://schemas.openxmlformats.org/drawingml/2006/main">
            <a:r>
              <a:t>输出：重跑、失败或人工处理分支</a:t>
            </a:r>
          </a:p>
          <a:p xmlns:a="http://schemas.openxmlformats.org/drawingml/2006/main">
            <a:r>
              <a:t>入口线索：Session.closed；SessionFailed；documentRetentionMs</a:t>
            </a:r>
          </a:p>
          <a:p xmlns:a="http://schemas.openxmlformats.org/drawingml/2006/main">
            <a:r>
              <a:t>职责：StorageRequestError 只使当前调用失败；普通存储错误不由 Session 自动重试。文档缓存默认十分钟，0 表示使用后释放，再次访问从存储加载。</a:t>
            </a:r>
          </a:p>
          <a:p xmlns:a="http://schemas.openxmlformats.org/drawingml/2006/main">
            <a:r>
              <a:t>源码：packages/durable/src/errors.ts</a:t>
            </a:r>
          </a:p>
          <a:p xmlns:a="http://schemas.openxmlformats.org/drawingml/2006/main">
            <a:r>
              <a:t>packages/durable/src/harness/scheduler.ts</a:t>
            </a:r>
          </a:p>
          <a:p xmlns:a="http://schemas.openxmlformats.org/drawingml/2006/main">
            <a:r>
              <a:t>packages/durable/src/session/session.ts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4. 验证真实副作用</a:t>
            </a:r>
          </a:p>
          <a:p xmlns:a="http://schemas.openxmlformats.org/drawingml/2006/main">
            <a:r>
              <a:t>以文件或命令工具检查幂等性，设计能区分“执行成功但结果未提交”的验证。</a:t>
            </a:r>
          </a:p>
          <a:p xmlns:a="http://schemas.openxmlformats.org/drawingml/2006/main">
            <a:r>
              <a:t>输入：执行环境和持久记录</a:t>
            </a:r>
          </a:p>
          <a:p xmlns:a="http://schemas.openxmlformats.org/drawingml/2006/main">
            <a:r>
              <a:t>输出：可解释的恢复结果</a:t>
            </a:r>
          </a:p>
          <a:p xmlns:a="http://schemas.openxmlformats.org/drawingml/2006/main">
            <a:r>
              <a:t>入口线索：createCodingTools；createReadTool；createBashTool</a:t>
            </a:r>
          </a:p>
          <a:p xmlns:a="http://schemas.openxmlformats.org/drawingml/2006/main">
            <a:r>
              <a:t>职责：read 支持图像和可选处理器；文件修改按 env.id 与路径串行。bash/powershell 非零退出返回带 exit_code 诊断的错误结果。</a:t>
            </a:r>
          </a:p>
          <a:p xmlns:a="http://schemas.openxmlformats.org/drawingml/2006/main">
            <a:r>
              <a:t>源码：packages/durable/src/tools/bash.ts</a:t>
            </a:r>
          </a:p>
          <a:p xmlns:a="http://schemas.openxmlformats.org/drawingml/2006/main">
            <a:r>
              <a:t>packages/durable/src/tools/edit-diff.ts</a:t>
            </a:r>
          </a:p>
          <a:p xmlns:a="http://schemas.openxmlformats.org/drawingml/2006/main">
            <a:r>
              <a:t>packages/durable/src/tools/edit.ts</a:t>
            </a:r>
          </a:p>
          <a:p xmlns:a="http://schemas.openxmlformats.org/drawingml/2006/main">
            <a:r>
              <a:t>packages/durable/src/tools/env.ts</a:t>
            </a:r>
          </a:p>
          <a:p xmlns:a="http://schemas.openxmlformats.org/drawingml/2006/main">
            <a:r>
              <a:t>packages/durable/src/tools/file-mutation-queue.ts</a:t>
            </a:r>
          </a:p>
          <a:p xmlns:a="http://schemas.openxmlformats.org/drawingml/2006/main">
            <a:r>
              <a:t>packages/durable/src/tools/image-processor.ts</a:t>
            </a:r>
          </a:p>
          <a:p xmlns:a="http://schemas.openxmlformats.org/drawingml/2006/main">
            <a:r>
              <a:t>packages/durable/src/tools/image.ts</a:t>
            </a:r>
          </a:p>
          <a:p xmlns:a="http://schemas.openxmlformats.org/drawingml/2006/main">
            <a:r>
              <a:t>packages/durable/src/tools/index.ts</a:t>
            </a:r>
          </a:p>
          <a:p xmlns:a="http://schemas.openxmlformats.org/drawingml/2006/main">
            <a:r>
              <a:t>packages/durable/src/tools/path-utils.ts</a:t>
            </a:r>
          </a:p>
          <a:p xmlns:a="http://schemas.openxmlformats.org/drawingml/2006/main">
            <a:r>
              <a:t>packages/durable/src/tools/read.ts</a:t>
            </a:r>
          </a:p>
          <a:p xmlns:a="http://schemas.openxmlformats.org/drawingml/2006/main">
            <a:r>
              <a:t>packages/durable/src/tools/write.ts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失败与恢复：只有声明 replay: safe 的中断工具可走自动重放路径；该声明本身不能让非幂等操作变安全。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练习：设计一个计数器工具，分别在意图前、执行后和结果后模拟退出，写出允许的计数结果。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参考判断：需要解释每个提交窗口，特别是外部动作成功但结果未提交的窗口。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功能编号：DUR-08, DUR-09, DUR-10, DUR-11, DUR-12, DUR-13, DUR-14, DUR-15, DUR-16, DUR-17, DUR-26, DUR-29, DUR-41, DUR-44, DUR-45, DUR-46, DUR-47, DUR-48, DUR-53, DUR-54, DUR-56, DUR-57, DUR-58, DUR-60, OTH-61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文档来源：</a:t>
            </a:r>
          </a:p>
          <a:p xmlns:a="http://schemas.openxmlformats.org/drawingml/2006/main">
            <a:r>
              <a:t>packages/durable/README.md</a:t>
            </a:r>
          </a:p>
          <a:p xmlns:a="http://schemas.openxmlformats.org/drawingml/2006/main">
            <a:r>
              <a:t>packages/durable/CHANGELOG.md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关联测试阅读线索（未在演示文稿中执行）：</a:t>
            </a:r>
          </a:p>
          <a:p xmlns:a="http://schemas.openxmlformats.org/drawingml/2006/main">
            <a:r>
              <a:t>packages/durable/test/harness-output-skip.test.ts</a:t>
            </a:r>
          </a:p>
          <a:p xmlns:a="http://schemas.openxmlformats.org/drawingml/2006/main">
            <a:r>
              <a:t>packages/durable/test/harness-output.test.ts</a:t>
            </a:r>
          </a:p>
          <a:p xmlns:a="http://schemas.openxmlformats.org/drawingml/2006/main">
            <a:r>
              <a:t>packages/durable/test/tools-read-differential.test.ts</a:t>
            </a:r>
          </a:p>
          <a:p xmlns:a="http://schemas.openxmlformats.org/drawingml/2006/main">
            <a:r>
              <a:t>packages/durable/test/document-append-bench.ts</a:t>
            </a:r>
          </a:p>
          <a:p xmlns:a="http://schemas.openxmlformats.org/drawingml/2006/main">
            <a:r>
              <a:t>packages/durable/test/harness-generation.test.ts</a:t>
            </a:r>
          </a:p>
          <a:p xmlns:a="http://schemas.openxmlformats.org/drawingml/2006/main">
            <a:r>
              <a:t>packages/durable/test/harness-lifecycle.test.ts</a:t>
            </a:r>
          </a:p>
          <a:p xmlns:a="http://schemas.openxmlformats.org/drawingml/2006/main">
            <a:r>
              <a:t>packages/durable/test/harness-storage-failure.test.ts</a:t>
            </a:r>
          </a:p>
          <a:p xmlns:a="http://schemas.openxmlformats.org/drawingml/2006/main">
            <a:r>
              <a:t>packages/durable/test/harness-submissions.test.ts</a:t>
            </a:r>
          </a:p>
          <a:p xmlns:a="http://schemas.openxmlformats.org/drawingml/2006/main">
            <a:r>
              <a:t>packages/durable/test/session-document-cache-bench.ts</a:t>
            </a:r>
          </a:p>
          <a:p xmlns:a="http://schemas.openxmlformats.org/drawingml/2006/main">
            <a:r>
              <a:t>packages/durable/test/session-document-retention.test.ts</a:t>
            </a:r>
          </a:p>
          <a:p xmlns:a="http://schemas.openxmlformats.org/drawingml/2006/main">
            <a:r>
              <a:t>packages/durable/test/session-support.ts</a:t>
            </a:r>
          </a:p>
          <a:p xmlns:a="http://schemas.openxmlformats.org/drawingml/2006/main">
            <a:r>
              <a:t>packages/durable/test/setup-document-retention.ts</a:t>
            </a:r>
          </a:p>
          <a:p xmlns:a="http://schemas.openxmlformats.org/drawingml/2006/main">
            <a:r>
              <a:t>packages/durable/test/tools.test.ts</a:t>
            </a:r>
          </a:p>
          <a:p xmlns:a="http://schemas.openxmlformats.org/drawingml/2006/main">
            <a:r>
              <a:t>packages/durable/test/tools-images.test.ts</a:t>
            </a:r>
          </a:p>
          <a:p xmlns:a="http://schemas.openxmlformats.org/drawingml/2006/main">
            <a:r>
              <a:t>packages/durable/test/harness-structured-output.test.ts</a:t>
            </a:r>
          </a:p>
          <a:p xmlns:a="http://schemas.openxmlformats.org/drawingml/2006/main">
            <a:r>
              <a:t>packages/durable/test/harness-tools-recovery.test.ts</a:t>
            </a:r>
          </a:p>
          <a:p xmlns:a="http://schemas.openxmlformats.org/drawingml/2006/main">
            <a:r>
              <a:t>packages/durable/test/harness-tools.test.ts</a:t>
            </a:r>
          </a:p>
          <a:p xmlns:a="http://schemas.openxmlformats.org/drawingml/2006/main">
            <a:r>
              <a:t>packages/durable/test/images-wasm-module.test.ts</a:t>
            </a:r>
          </a:p>
          <a:p xmlns:a="http://schemas.openxmlformats.org/drawingml/2006/main">
            <a:r>
              <a:t>packages/durable/test/spec-usage.test.ts</a:t>
            </a:r>
          </a:p>
          <a:p xmlns:a="http://schemas.openxmlformats.org/drawingml/2006/main">
            <a:r>
              <a:t>packages/durable/test/tool-output-bench.ts</a:t>
            </a:r>
          </a:p>
          <a:p xmlns:a="http://schemas.openxmlformats.org/drawingml/2006/main">
            <a:r>
              <a:t>packages/env/test/differential.test.ts</a:t>
            </a:r>
          </a:p>
          <a:p xmlns:a="http://schemas.openxmlformats.org/drawingml/2006/main">
            <a:r>
              <a:t>packages/durable/test/env-line-scan.test.ts</a:t>
            </a:r>
          </a:p>
          <a:p xmlns:a="http://schemas.openxmlformats.org/drawingml/2006/main">
            <a:r>
              <a:t>packages/durable/test/chat-support.ts</a:t>
            </a:r>
          </a:p>
          <a:p xmlns:a="http://schemas.openxmlformats.org/drawingml/2006/main">
            <a:r>
              <a:t>packages/durable/test/codemode-models.test.ts</a:t>
            </a:r>
          </a:p>
          <a:p xmlns:a="http://schemas.openxmlformats.org/drawingml/2006/main">
            <a:r>
              <a:t>packages/durable/test/env-node-conformance.test.ts</a:t>
            </a:r>
          </a:p>
          <a:p xmlns:a="http://schemas.openxmlformats.org/drawingml/2006/main">
            <a:r>
              <a:t>packages/durable/test/env-node-spill.test.ts</a:t>
            </a:r>
          </a:p>
          <a:p xmlns:a="http://schemas.openxmlformats.org/drawingml/2006/main">
            <a:r>
              <a:t>packages/durable/test/env-node.test.ts</a:t>
            </a:r>
          </a:p>
          <a:p xmlns:a="http://schemas.openxmlformats.org/drawingml/2006/main">
            <a:r>
              <a:t>packages/durable/test/jsonl-storage.test.ts</a:t>
            </a:r>
          </a:p>
          <a:p xmlns:a="http://schemas.openxmlformats.org/drawingml/2006/main">
            <a:r>
              <a:t>packages/env/test/remote.test.ts</a:t>
            </a:r>
          </a:p>
          <a:p xmlns:a="http://schemas.openxmlformats.org/drawingml/2006/main">
            <a:r>
              <a:t>packages/env/test/ssh-external.test.ts</a:t>
            </a:r>
          </a:p>
          <a:p xmlns:a="http://schemas.openxmlformats.org/drawingml/2006/main">
            <a:r>
              <a:t>packages/env/test/ssh.test.ts</a:t>
            </a:r>
          </a:p>
          <a:p xmlns:a="http://schemas.openxmlformats.org/drawingml/2006/main">
            <a:r>
              <a:t>packages/durable/test/codemode.test.ts</a:t>
            </a:r>
          </a:p>
          <a:p xmlns:a="http://schemas.openxmlformats.org/drawingml/2006/main">
            <a:r>
              <a:t>packages/durable/test/harness-prompt.test.ts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源码基线：6cd9d957a9fd50bc504d45b72834ed9dd85a20b6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流程为教学阅读顺序，可选分支不表示每次运行必经。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工具执行到一半时进程退出，重启后必须避免重复危险副作用。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登记工具契约</a:t>
            </a:r>
          </a:p>
          <a:p xmlns:a="http://schemas.openxmlformats.org/drawingml/2006/main">
            <a:r>
              <a:t>查看 defineTool 的输入输出 schema、hooks 和 replay 声明，并确认注册表中的稳定名称。</a:t>
            </a:r>
          </a:p>
          <a:p xmlns:a="http://schemas.openxmlformats.org/drawingml/2006/main">
            <a:r>
              <a:t>输入：工具定义</a:t>
            </a:r>
          </a:p>
          <a:p xmlns:a="http://schemas.openxmlformats.org/drawingml/2006/main">
            <a:r>
              <a:t>输出：可调度工具</a:t>
            </a:r>
          </a:p>
          <a:p xmlns:a="http://schemas.openxmlformats.org/drawingml/2006/main">
            <a:r>
              <a:t>入口线索：createRegistry；defineExtension；defineTool；wrapTool</a:t>
            </a:r>
          </a:p>
          <a:p xmlns:a="http://schemas.openxmlformats.org/drawingml/2006/main">
            <a:r>
              <a:t>职责：运行中的阶段保留已解析代码，新阶段使用新注册表；会话保存名字而不是代码对象。</a:t>
            </a:r>
          </a:p>
          <a:p xmlns:a="http://schemas.openxmlformats.org/drawingml/2006/main">
            <a:r>
              <a:t>源码：packages/durable/src/harness/define.ts</a:t>
            </a:r>
          </a:p>
          <a:p xmlns:a="http://schemas.openxmlformats.org/drawingml/2006/main">
            <a:r>
              <a:t>packages/durable/src/harness/registry.ts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2. 先提交执行意图</a:t>
            </a:r>
          </a:p>
          <a:p xmlns:a="http://schemas.openxmlformats.org/drawingml/2006/main">
            <a:r>
              <a:t>标出 intent 提交、宿主执行和 result 提交的位置，比较每个位置崩溃后的记录。</a:t>
            </a:r>
          </a:p>
          <a:p xmlns:a="http://schemas.openxmlformats.org/drawingml/2006/main">
            <a:r>
              <a:t>输入：模型 toolCall</a:t>
            </a:r>
          </a:p>
          <a:p xmlns:a="http://schemas.openxmlformats.org/drawingml/2006/main">
            <a:r>
              <a:t>输出：工具任务与执行状态</a:t>
            </a:r>
          </a:p>
          <a:p xmlns:a="http://schemas.openxmlformats.org/drawingml/2006/main">
            <a:r>
              <a:t>入口线索：ToolTask；replay: safe；api.output</a:t>
            </a:r>
          </a:p>
          <a:p xmlns:a="http://schemas.openxmlformats.org/drawingml/2006/main">
            <a:r>
              <a:t>职责：重启只重跑显式安全任务；其他中断调用形成 interrupted 结果，避免重复外部副作用。</a:t>
            </a:r>
          </a:p>
          <a:p xmlns:a="http://schemas.openxmlformats.org/drawingml/2006/main">
            <a:r>
              <a:t>源码：packages/durable/src/harness/output.ts</a:t>
            </a:r>
          </a:p>
          <a:p xmlns:a="http://schemas.openxmlformats.org/drawingml/2006/main">
            <a:r>
              <a:t>packages/durable/src/harness/tool.ts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3. 恢复中断任务</a:t>
            </a:r>
          </a:p>
          <a:p xmlns:a="http://schemas.openxmlformats.org/drawingml/2006/main">
            <a:r>
              <a:t>检查中断、错误保留和 replay safe 的策略；不能把所有工具自动重跑。</a:t>
            </a:r>
          </a:p>
          <a:p xmlns:a="http://schemas.openxmlformats.org/drawingml/2006/main">
            <a:r>
              <a:t>输入：未完成检查点</a:t>
            </a:r>
          </a:p>
          <a:p xmlns:a="http://schemas.openxmlformats.org/drawingml/2006/main">
            <a:r>
              <a:t>输出：重跑、失败或人工处理分支</a:t>
            </a:r>
          </a:p>
          <a:p xmlns:a="http://schemas.openxmlformats.org/drawingml/2006/main">
            <a:r>
              <a:t>入口线索：Session.closed；SessionFailed；documentRetentionMs</a:t>
            </a:r>
          </a:p>
          <a:p xmlns:a="http://schemas.openxmlformats.org/drawingml/2006/main">
            <a:r>
              <a:t>职责：StorageRequestError 只使当前调用失败；普通存储错误不由 Session 自动重试。文档缓存默认十分钟，0 表示使用后释放，再次访问从存储加载。</a:t>
            </a:r>
          </a:p>
          <a:p xmlns:a="http://schemas.openxmlformats.org/drawingml/2006/main">
            <a:r>
              <a:t>源码：packages/durable/src/errors.ts</a:t>
            </a:r>
          </a:p>
          <a:p xmlns:a="http://schemas.openxmlformats.org/drawingml/2006/main">
            <a:r>
              <a:t>packages/durable/src/harness/scheduler.ts</a:t>
            </a:r>
          </a:p>
          <a:p xmlns:a="http://schemas.openxmlformats.org/drawingml/2006/main">
            <a:r>
              <a:t>packages/durable/src/session/session.ts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4. 验证真实副作用</a:t>
            </a:r>
          </a:p>
          <a:p xmlns:a="http://schemas.openxmlformats.org/drawingml/2006/main">
            <a:r>
              <a:t>以文件或命令工具检查幂等性，设计能区分“执行成功但结果未提交”的验证。</a:t>
            </a:r>
          </a:p>
          <a:p xmlns:a="http://schemas.openxmlformats.org/drawingml/2006/main">
            <a:r>
              <a:t>输入：执行环境和持久记录</a:t>
            </a:r>
          </a:p>
          <a:p xmlns:a="http://schemas.openxmlformats.org/drawingml/2006/main">
            <a:r>
              <a:t>输出：可解释的恢复结果</a:t>
            </a:r>
          </a:p>
          <a:p xmlns:a="http://schemas.openxmlformats.org/drawingml/2006/main">
            <a:r>
              <a:t>入口线索：createCodingTools；createReadTool；createBashTool</a:t>
            </a:r>
          </a:p>
          <a:p xmlns:a="http://schemas.openxmlformats.org/drawingml/2006/main">
            <a:r>
              <a:t>职责：read 支持图像和可选处理器；文件修改按 env.id 与路径串行。bash/powershell 非零退出返回带 exit_code 诊断的错误结果。</a:t>
            </a:r>
          </a:p>
          <a:p xmlns:a="http://schemas.openxmlformats.org/drawingml/2006/main">
            <a:r>
              <a:t>源码：packages/durable/src/tools/bash.ts</a:t>
            </a:r>
          </a:p>
          <a:p xmlns:a="http://schemas.openxmlformats.org/drawingml/2006/main">
            <a:r>
              <a:t>packages/durable/src/tools/edit-diff.ts</a:t>
            </a:r>
          </a:p>
          <a:p xmlns:a="http://schemas.openxmlformats.org/drawingml/2006/main">
            <a:r>
              <a:t>packages/durable/src/tools/edit.ts</a:t>
            </a:r>
          </a:p>
          <a:p xmlns:a="http://schemas.openxmlformats.org/drawingml/2006/main">
            <a:r>
              <a:t>packages/durable/src/tools/env.ts</a:t>
            </a:r>
          </a:p>
          <a:p xmlns:a="http://schemas.openxmlformats.org/drawingml/2006/main">
            <a:r>
              <a:t>packages/durable/src/tools/file-mutation-queue.ts</a:t>
            </a:r>
          </a:p>
          <a:p xmlns:a="http://schemas.openxmlformats.org/drawingml/2006/main">
            <a:r>
              <a:t>packages/durable/src/tools/image-processor.ts</a:t>
            </a:r>
          </a:p>
          <a:p xmlns:a="http://schemas.openxmlformats.org/drawingml/2006/main">
            <a:r>
              <a:t>packages/durable/src/tools/image.ts</a:t>
            </a:r>
          </a:p>
          <a:p xmlns:a="http://schemas.openxmlformats.org/drawingml/2006/main">
            <a:r>
              <a:t>packages/durable/src/tools/index.ts</a:t>
            </a:r>
          </a:p>
          <a:p xmlns:a="http://schemas.openxmlformats.org/drawingml/2006/main">
            <a:r>
              <a:t>packages/durable/src/tools/path-utils.ts</a:t>
            </a:r>
          </a:p>
          <a:p xmlns:a="http://schemas.openxmlformats.org/drawingml/2006/main">
            <a:r>
              <a:t>packages/durable/src/tools/read.ts</a:t>
            </a:r>
          </a:p>
          <a:p xmlns:a="http://schemas.openxmlformats.org/drawingml/2006/main">
            <a:r>
              <a:t>packages/durable/src/tools/write.ts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失败与恢复：只有声明 replay: safe 的中断工具可走自动重放路径；该声明本身不能让非幂等操作变安全。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练习：设计一个计数器工具，分别在意图前、执行后和结果后模拟退出，写出允许的计数结果。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参考判断：需要解释每个提交窗口，特别是外部动作成功但结果未提交的窗口。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功能编号：DUR-08, DUR-09, DUR-10, DUR-11, DUR-12, DUR-13, DUR-14, DUR-15, DUR-16, DUR-17, DUR-26, DUR-29, DUR-41, DUR-44, DUR-45, DUR-46, DUR-47, DUR-48, DUR-53, DUR-54, DUR-56, DUR-57, DUR-58, DUR-60, OTH-61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文档来源：</a:t>
            </a:r>
          </a:p>
          <a:p xmlns:a="http://schemas.openxmlformats.org/drawingml/2006/main">
            <a:r>
              <a:t>packages/durable/README.md</a:t>
            </a:r>
          </a:p>
          <a:p xmlns:a="http://schemas.openxmlformats.org/drawingml/2006/main">
            <a:r>
              <a:t>packages/durable/CHANGELOG.md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关联测试阅读线索（未在演示文稿中执行）：</a:t>
            </a:r>
          </a:p>
          <a:p xmlns:a="http://schemas.openxmlformats.org/drawingml/2006/main">
            <a:r>
              <a:t>packages/durable/test/harness-output-skip.test.ts</a:t>
            </a:r>
          </a:p>
          <a:p xmlns:a="http://schemas.openxmlformats.org/drawingml/2006/main">
            <a:r>
              <a:t>packages/durable/test/harness-output.test.ts</a:t>
            </a:r>
          </a:p>
          <a:p xmlns:a="http://schemas.openxmlformats.org/drawingml/2006/main">
            <a:r>
              <a:t>packages/durable/test/tools-read-differential.test.ts</a:t>
            </a:r>
          </a:p>
          <a:p xmlns:a="http://schemas.openxmlformats.org/drawingml/2006/main">
            <a:r>
              <a:t>packages/durable/test/document-append-bench.ts</a:t>
            </a:r>
          </a:p>
          <a:p xmlns:a="http://schemas.openxmlformats.org/drawingml/2006/main">
            <a:r>
              <a:t>packages/durable/test/harness-generation.test.ts</a:t>
            </a:r>
          </a:p>
          <a:p xmlns:a="http://schemas.openxmlformats.org/drawingml/2006/main">
            <a:r>
              <a:t>packages/durable/test/harness-lifecycle.test.ts</a:t>
            </a:r>
          </a:p>
          <a:p xmlns:a="http://schemas.openxmlformats.org/drawingml/2006/main">
            <a:r>
              <a:t>packages/durable/test/harness-storage-failure.test.ts</a:t>
            </a:r>
          </a:p>
          <a:p xmlns:a="http://schemas.openxmlformats.org/drawingml/2006/main">
            <a:r>
              <a:t>packages/durable/test/harness-submissions.test.ts</a:t>
            </a:r>
          </a:p>
          <a:p xmlns:a="http://schemas.openxmlformats.org/drawingml/2006/main">
            <a:r>
              <a:t>packages/durable/test/session-document-cache-bench.ts</a:t>
            </a:r>
          </a:p>
          <a:p xmlns:a="http://schemas.openxmlformats.org/drawingml/2006/main">
            <a:r>
              <a:t>packages/durable/test/session-document-retention.test.ts</a:t>
            </a:r>
          </a:p>
          <a:p xmlns:a="http://schemas.openxmlformats.org/drawingml/2006/main">
            <a:r>
              <a:t>packages/durable/test/session-support.ts</a:t>
            </a:r>
          </a:p>
          <a:p xmlns:a="http://schemas.openxmlformats.org/drawingml/2006/main">
            <a:r>
              <a:t>packages/durable/test/setup-document-retention.ts</a:t>
            </a:r>
          </a:p>
          <a:p xmlns:a="http://schemas.openxmlformats.org/drawingml/2006/main">
            <a:r>
              <a:t>packages/durable/test/tools.test.ts</a:t>
            </a:r>
          </a:p>
          <a:p xmlns:a="http://schemas.openxmlformats.org/drawingml/2006/main">
            <a:r>
              <a:t>packages/durable/test/tools-images.test.ts</a:t>
            </a:r>
          </a:p>
          <a:p xmlns:a="http://schemas.openxmlformats.org/drawingml/2006/main">
            <a:r>
              <a:t>packages/durable/test/harness-structured-output.test.ts</a:t>
            </a:r>
          </a:p>
          <a:p xmlns:a="http://schemas.openxmlformats.org/drawingml/2006/main">
            <a:r>
              <a:t>packages/durable/test/harness-tools-recovery.test.ts</a:t>
            </a:r>
          </a:p>
          <a:p xmlns:a="http://schemas.openxmlformats.org/drawingml/2006/main">
            <a:r>
              <a:t>packages/durable/test/harness-tools.test.ts</a:t>
            </a:r>
          </a:p>
          <a:p xmlns:a="http://schemas.openxmlformats.org/drawingml/2006/main">
            <a:r>
              <a:t>packages/durable/test/images-wasm-module.test.ts</a:t>
            </a:r>
          </a:p>
          <a:p xmlns:a="http://schemas.openxmlformats.org/drawingml/2006/main">
            <a:r>
              <a:t>packages/durable/test/spec-usage.test.ts</a:t>
            </a:r>
          </a:p>
          <a:p xmlns:a="http://schemas.openxmlformats.org/drawingml/2006/main">
            <a:r>
              <a:t>packages/durable/test/tool-output-bench.ts</a:t>
            </a:r>
          </a:p>
          <a:p xmlns:a="http://schemas.openxmlformats.org/drawingml/2006/main">
            <a:r>
              <a:t>packages/env/test/differential.test.ts</a:t>
            </a:r>
          </a:p>
          <a:p xmlns:a="http://schemas.openxmlformats.org/drawingml/2006/main">
            <a:r>
              <a:t>packages/durable/test/env-line-scan.test.ts</a:t>
            </a:r>
          </a:p>
          <a:p xmlns:a="http://schemas.openxmlformats.org/drawingml/2006/main">
            <a:r>
              <a:t>packages/durable/test/chat-support.ts</a:t>
            </a:r>
          </a:p>
          <a:p xmlns:a="http://schemas.openxmlformats.org/drawingml/2006/main">
            <a:r>
              <a:t>packages/durable/test/codemode-models.test.ts</a:t>
            </a:r>
          </a:p>
          <a:p xmlns:a="http://schemas.openxmlformats.org/drawingml/2006/main">
            <a:r>
              <a:t>packages/durable/test/env-node-conformance.test.ts</a:t>
            </a:r>
          </a:p>
          <a:p xmlns:a="http://schemas.openxmlformats.org/drawingml/2006/main">
            <a:r>
              <a:t>packages/durable/test/env-node-spill.test.ts</a:t>
            </a:r>
          </a:p>
          <a:p xmlns:a="http://schemas.openxmlformats.org/drawingml/2006/main">
            <a:r>
              <a:t>packages/durable/test/env-node.test.ts</a:t>
            </a:r>
          </a:p>
          <a:p xmlns:a="http://schemas.openxmlformats.org/drawingml/2006/main">
            <a:r>
              <a:t>packages/durable/test/jsonl-storage.test.ts</a:t>
            </a:r>
          </a:p>
          <a:p xmlns:a="http://schemas.openxmlformats.org/drawingml/2006/main">
            <a:r>
              <a:t>packages/env/test/remote.test.ts</a:t>
            </a:r>
          </a:p>
          <a:p xmlns:a="http://schemas.openxmlformats.org/drawingml/2006/main">
            <a:r>
              <a:t>packages/env/test/ssh-external.test.ts</a:t>
            </a:r>
          </a:p>
          <a:p xmlns:a="http://schemas.openxmlformats.org/drawingml/2006/main">
            <a:r>
              <a:t>packages/env/test/ssh.test.ts</a:t>
            </a:r>
          </a:p>
          <a:p xmlns:a="http://schemas.openxmlformats.org/drawingml/2006/main">
            <a:r>
              <a:t>packages/durable/test/codemode.test.ts</a:t>
            </a:r>
          </a:p>
          <a:p xmlns:a="http://schemas.openxmlformats.org/drawingml/2006/main">
            <a:r>
              <a:t>packages/durable/test/harness-prompt.test.ts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源码基线：6cd9d957a9fd50bc504d45b72834ed9dd85a20b6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流程为教学阅读顺序，可选分支不表示每次运行必经。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把内存教程改成真正可关闭后重开的应用。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明确 Storage 契约</a:t>
            </a:r>
          </a:p>
          <a:p xmlns:a="http://schemas.openxmlformats.org/drawingml/2006/main">
            <a:r>
              <a:t>先读 conformance 对读取、事务、游标和错误的要求，再选实现。</a:t>
            </a:r>
          </a:p>
          <a:p xmlns:a="http://schemas.openxmlformats.org/drawingml/2006/main">
            <a:r>
              <a:t>输入：存储使用场景</a:t>
            </a:r>
          </a:p>
          <a:p xmlns:a="http://schemas.openxmlformats.org/drawingml/2006/main">
            <a:r>
              <a:t>输出：必须满足的契约</a:t>
            </a:r>
          </a:p>
          <a:p xmlns:a="http://schemas.openxmlformats.org/drawingml/2006/main">
            <a:r>
              <a:t>入口线索：testing 子路径</a:t>
            </a:r>
          </a:p>
          <a:p xmlns:a="http://schemas.openxmlformats.org/drawingml/2006/main">
            <a:r>
              <a:t>职责：基准是比较基础，不是生产容量保证。</a:t>
            </a:r>
          </a:p>
          <a:p xmlns:a="http://schemas.openxmlformats.org/drawingml/2006/main">
            <a:r>
              <a:t>源码：packages/durable/src/testing/assertions.ts</a:t>
            </a:r>
          </a:p>
          <a:p xmlns:a="http://schemas.openxmlformats.org/drawingml/2006/main">
            <a:r>
              <a:t>packages/durable/src/testing/env-conformance.ts</a:t>
            </a:r>
          </a:p>
          <a:p xmlns:a="http://schemas.openxmlformats.org/drawingml/2006/main">
            <a:r>
              <a:t>packages/durable/src/testing/index.ts</a:t>
            </a:r>
          </a:p>
          <a:p xmlns:a="http://schemas.openxmlformats.org/drawingml/2006/main">
            <a:r>
              <a:t>packages/durable/src/testing/runner.ts</a:t>
            </a:r>
          </a:p>
          <a:p xmlns:a="http://schemas.openxmlformats.org/drawingml/2006/main">
            <a:r>
              <a:t>packages/durable/src/testing/storage-benchmark.ts</a:t>
            </a:r>
          </a:p>
          <a:p xmlns:a="http://schemas.openxmlformats.org/drawingml/2006/main">
            <a:r>
              <a:t>packages/durable/src/testing/storage-conformance.ts</a:t>
            </a:r>
          </a:p>
          <a:p xmlns:a="http://schemas.openxmlformats.org/drawingml/2006/main">
            <a:r>
              <a:t>packages/durable/src/testing/types.ts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2. 跟踪 JSONL 提交</a:t>
            </a:r>
          </a:p>
          <a:p xmlns:a="http://schemas.openxmlformats.org/drawingml/2006/main">
            <a:r>
              <a:t>查看文件写入、sidecar、单写入者所有权与 fsync 选项，区分可读与已经耐久。</a:t>
            </a:r>
          </a:p>
          <a:p xmlns:a="http://schemas.openxmlformats.org/drawingml/2006/main">
            <a:r>
              <a:t>输入：持久提交</a:t>
            </a:r>
          </a:p>
          <a:p xmlns:a="http://schemas.openxmlformats.org/drawingml/2006/main">
            <a:r>
              <a:t>输出：文件记录</a:t>
            </a:r>
          </a:p>
          <a:p xmlns:a="http://schemas.openxmlformats.org/drawingml/2006/main">
            <a:r>
              <a:t>入口线索：openNodeJsonlStorage</a:t>
            </a:r>
          </a:p>
          <a:p xmlns:a="http://schemas.openxmlformats.org/drawingml/2006/main">
            <a:r>
              <a:t>职责：单写入者所有权与 fsync 选项影响耐久性。</a:t>
            </a:r>
          </a:p>
          <a:p xmlns:a="http://schemas.openxmlformats.org/drawingml/2006/main">
            <a:r>
              <a:t>源码：packages/durable/src/storage/jsonl/index.ts</a:t>
            </a:r>
          </a:p>
          <a:p xmlns:a="http://schemas.openxmlformats.org/drawingml/2006/main">
            <a:r>
              <a:t>packages/durable/src/storage/jsonl/node.ts</a:t>
            </a:r>
          </a:p>
          <a:p xmlns:a="http://schemas.openxmlformats.org/drawingml/2006/main">
            <a:r>
              <a:t>packages/durable/src/storage/jsonl/storage.ts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3. 跟踪 SQLite 事务</a:t>
            </a:r>
          </a:p>
          <a:p xmlns:a="http://schemas.openxmlformats.org/drawingml/2006/main">
            <a:r>
              <a:t>阅读迁移和 Promise facade，确保事务内操作用事务句柄而非外部连接。</a:t>
            </a:r>
          </a:p>
          <a:p xmlns:a="http://schemas.openxmlformats.org/drawingml/2006/main">
            <a:r>
              <a:t>输入：数据库与 schema 版本</a:t>
            </a:r>
          </a:p>
          <a:p xmlns:a="http://schemas.openxmlformats.org/drawingml/2006/main">
            <a:r>
              <a:t>输出：原子提交或回滚</a:t>
            </a:r>
          </a:p>
          <a:p xmlns:a="http://schemas.openxmlformats.org/drawingml/2006/main">
            <a:r>
              <a:t>入口线索：openNodeSqliteStorage</a:t>
            </a:r>
          </a:p>
          <a:p xmlns:a="http://schemas.openxmlformats.org/drawingml/2006/main">
            <a:r>
              <a:t>职责：当前 portable SQLite 核心使用 Promise 数据库 facade，事务内必须使用事务句柄。</a:t>
            </a:r>
          </a:p>
          <a:p xmlns:a="http://schemas.openxmlformats.org/drawingml/2006/main">
            <a:r>
              <a:t>源码：packages/durable/src/storage/sqlite/cloudflare.ts</a:t>
            </a:r>
          </a:p>
          <a:p xmlns:a="http://schemas.openxmlformats.org/drawingml/2006/main">
            <a:r>
              <a:t>packages/durable/src/storage/sqlite/database.ts</a:t>
            </a:r>
          </a:p>
          <a:p xmlns:a="http://schemas.openxmlformats.org/drawingml/2006/main">
            <a:r>
              <a:t>packages/durable/src/storage/sqlite/index.ts</a:t>
            </a:r>
          </a:p>
          <a:p xmlns:a="http://schemas.openxmlformats.org/drawingml/2006/main">
            <a:r>
              <a:t>packages/durable/src/storage/sqlite/migrations.ts</a:t>
            </a:r>
          </a:p>
          <a:p xmlns:a="http://schemas.openxmlformats.org/drawingml/2006/main">
            <a:r>
              <a:t>packages/durable/src/storage/sqlite/node.ts</a:t>
            </a:r>
          </a:p>
          <a:p xmlns:a="http://schemas.openxmlformats.org/drawingml/2006/main">
            <a:r>
              <a:t>packages/durable/src/storage/sqlite/storage.ts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4. 关闭后重开验证</a:t>
            </a:r>
          </a:p>
          <a:p xmlns:a="http://schemas.openxmlformats.org/drawingml/2006/main">
            <a:r>
              <a:t>用同一后端执行一致性测试与恢复测试，再比较性能基准；测试通过不是生产容量承诺。</a:t>
            </a:r>
          </a:p>
          <a:p xmlns:a="http://schemas.openxmlformats.org/drawingml/2006/main">
            <a:r>
              <a:t>输入：已关闭存储</a:t>
            </a:r>
          </a:p>
          <a:p xmlns:a="http://schemas.openxmlformats.org/drawingml/2006/main">
            <a:r>
              <a:t>输出：相同的已提交状态</a:t>
            </a:r>
          </a:p>
          <a:p xmlns:a="http://schemas.openxmlformats.org/drawingml/2006/main">
            <a:r>
              <a:t>入口线索：testing 子路径</a:t>
            </a:r>
          </a:p>
          <a:p xmlns:a="http://schemas.openxmlformats.org/drawingml/2006/main">
            <a:r>
              <a:t>职责：基准是比较基础，不是生产容量保证。</a:t>
            </a:r>
          </a:p>
          <a:p xmlns:a="http://schemas.openxmlformats.org/drawingml/2006/main">
            <a:r>
              <a:t>源码：packages/durable/src/testing/assertions.ts</a:t>
            </a:r>
          </a:p>
          <a:p xmlns:a="http://schemas.openxmlformats.org/drawingml/2006/main">
            <a:r>
              <a:t>packages/durable/src/testing/env-conformance.ts</a:t>
            </a:r>
          </a:p>
          <a:p xmlns:a="http://schemas.openxmlformats.org/drawingml/2006/main">
            <a:r>
              <a:t>packages/durable/src/testing/index.ts</a:t>
            </a:r>
          </a:p>
          <a:p xmlns:a="http://schemas.openxmlformats.org/drawingml/2006/main">
            <a:r>
              <a:t>packages/durable/src/testing/runner.ts</a:t>
            </a:r>
          </a:p>
          <a:p xmlns:a="http://schemas.openxmlformats.org/drawingml/2006/main">
            <a:r>
              <a:t>packages/durable/src/testing/storage-benchmark.ts</a:t>
            </a:r>
          </a:p>
          <a:p xmlns:a="http://schemas.openxmlformats.org/drawingml/2006/main">
            <a:r>
              <a:t>packages/durable/src/testing/storage-conformance.ts</a:t>
            </a:r>
          </a:p>
          <a:p xmlns:a="http://schemas.openxmlformats.org/drawingml/2006/main">
            <a:r>
              <a:t>packages/durable/src/testing/types.ts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失败与恢复：多写入者、未完成迁移或错误事务句柄会破坏假设；必须按后端规定配置所有权。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练习：对照内存和一个磁盘后端，写出重开后应保持的记录、版本与任务状态。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参考判断：内存关闭后不能当磁盘恢复使用；磁盘后端需要证明重新创建实例后读取一致。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功能编号：DUR-39, DUR-40, DUR-55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文档来源：</a:t>
            </a:r>
          </a:p>
          <a:p xmlns:a="http://schemas.openxmlformats.org/drawingml/2006/main">
            <a:r>
              <a:t>packages/durable/README.md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关联测试阅读线索（未在演示文稿中执行）：</a:t>
            </a:r>
          </a:p>
          <a:p xmlns:a="http://schemas.openxmlformats.org/drawingml/2006/main">
            <a:r>
              <a:t>packages/durable/test/env-node-conformance.test.ts</a:t>
            </a:r>
          </a:p>
          <a:p xmlns:a="http://schemas.openxmlformats.org/drawingml/2006/main">
            <a:r>
              <a:t>packages/durable/test/jsonl-storage.test.ts</a:t>
            </a:r>
          </a:p>
          <a:p xmlns:a="http://schemas.openxmlformats.org/drawingml/2006/main">
            <a:r>
              <a:t>packages/durable/test/memory-storage.test.ts</a:t>
            </a:r>
          </a:p>
          <a:p xmlns:a="http://schemas.openxmlformats.org/drawingml/2006/main">
            <a:r>
              <a:t>packages/durable/test/sqlite-cloudflare.test.ts</a:t>
            </a:r>
          </a:p>
          <a:p xmlns:a="http://schemas.openxmlformats.org/drawingml/2006/main">
            <a:r>
              <a:t>packages/durable/test/sqlite-storage.test.ts</a:t>
            </a:r>
          </a:p>
          <a:p xmlns:a="http://schemas.openxmlformats.org/drawingml/2006/main">
            <a:r>
              <a:t>packages/durable/test/storage-memory.ts</a:t>
            </a:r>
          </a:p>
          <a:p xmlns:a="http://schemas.openxmlformats.org/drawingml/2006/main">
            <a:r>
              <a:t>packages/durable/test/storage.bench.ts</a:t>
            </a:r>
          </a:p>
          <a:p xmlns:a="http://schemas.openxmlformats.org/drawingml/2006/main">
            <a:r>
              <a:t>packages/env/test/conformance.test.ts</a:t>
            </a:r>
          </a:p>
          <a:p xmlns:a="http://schemas.openxmlformats.org/drawingml/2006/main">
            <a:r>
              <a:t>packages/env/test/ssh-external.test.ts</a:t>
            </a:r>
          </a:p>
          <a:p xmlns:a="http://schemas.openxmlformats.org/drawingml/2006/main">
            <a:r>
              <a:t>packages/durable/test/nested-images-bench.ts</a:t>
            </a:r>
          </a:p>
          <a:p xmlns:a="http://schemas.openxmlformats.org/drawingml/2006/main">
            <a:r>
              <a:t>packages/durable/test/nested-tools-bench.ts</a:t>
            </a:r>
          </a:p>
          <a:p xmlns:a="http://schemas.openxmlformats.org/drawingml/2006/main">
            <a:r>
              <a:t>packages/durable/test/tool-output-bench.ts</a:t>
            </a:r>
          </a:p>
          <a:p xmlns:a="http://schemas.openxmlformats.org/drawingml/2006/main">
            <a:r>
              <a:t>packages/durable/test/sqlite-facade.test.ts</a:t>
            </a:r>
          </a:p>
          <a:p xmlns:a="http://schemas.openxmlformats.org/drawingml/2006/main">
            <a:r>
              <a:t>packages/durable/test/sqlite-migrations.test.ts</a:t>
            </a:r>
          </a:p>
          <a:p xmlns:a="http://schemas.openxmlformats.org/drawingml/2006/main">
            <a:r>
              <a:t>packages/durable/test/codemode-bench.ts</a:t>
            </a:r>
          </a:p>
          <a:p xmlns:a="http://schemas.openxmlformats.org/drawingml/2006/main">
            <a:r>
              <a:t>packages/durable/test/codemode.test.ts</a:t>
            </a:r>
          </a:p>
          <a:p xmlns:a="http://schemas.openxmlformats.org/drawingml/2006/main">
            <a:r>
              <a:t>packages/durable/test/harness-compaction.test.ts</a:t>
            </a:r>
          </a:p>
          <a:p xmlns:a="http://schemas.openxmlformats.org/drawingml/2006/main">
            <a:r>
              <a:t>packages/durable/test/harness-conversations.test.ts</a:t>
            </a:r>
          </a:p>
          <a:p xmlns:a="http://schemas.openxmlformats.org/drawingml/2006/main">
            <a:r>
              <a:t>packages/durable/test/harness-generation-recovery.test.ts</a:t>
            </a:r>
          </a:p>
          <a:p xmlns:a="http://schemas.openxmlformats.org/drawingml/2006/main">
            <a:r>
              <a:t>packages/durable/test/harness-inbox.test.ts</a:t>
            </a:r>
          </a:p>
          <a:p xmlns:a="http://schemas.openxmlformats.org/drawingml/2006/main">
            <a:r>
              <a:t>packages/durable/test/harness-input-entries.test.ts</a:t>
            </a:r>
          </a:p>
          <a:p xmlns:a="http://schemas.openxmlformats.org/drawingml/2006/main">
            <a:r>
              <a:t>packages/durable/test/harness-lifecycle.test.ts</a:t>
            </a:r>
          </a:p>
          <a:p xmlns:a="http://schemas.openxmlformats.org/drawingml/2006/main">
            <a:r>
              <a:t>packages/durable/test/harness-nested-tools-restart.test.ts</a:t>
            </a:r>
          </a:p>
          <a:p xmlns:a="http://schemas.openxmlformats.org/drawingml/2006/main">
            <a:r>
              <a:t>packages/durable/test/harness-nested-tools.test.ts</a:t>
            </a:r>
          </a:p>
          <a:p xmlns:a="http://schemas.openxmlformats.org/drawingml/2006/main">
            <a:r>
              <a:t>packages/durable/test/harness-ownership.test.ts</a:t>
            </a:r>
          </a:p>
          <a:p xmlns:a="http://schemas.openxmlformats.org/drawingml/2006/main">
            <a:r>
              <a:t>packages/durable/test/harness-scheduler-indexes.test.ts</a:t>
            </a:r>
          </a:p>
          <a:p xmlns:a="http://schemas.openxmlformats.org/drawingml/2006/main">
            <a:r>
              <a:t>packages/durable/test/harness-scheduler-retention.test.ts</a:t>
            </a:r>
          </a:p>
          <a:p xmlns:a="http://schemas.openxmlformats.org/drawingml/2006/main">
            <a:r>
              <a:t>packages/durable/test/harness-structured.test.ts</a:t>
            </a:r>
          </a:p>
          <a:p xmlns:a="http://schemas.openxmlformats.org/drawingml/2006/main">
            <a:r>
              <a:t>packages/durable/test/harness-submissions.test.ts</a:t>
            </a:r>
          </a:p>
          <a:p xmlns:a="http://schemas.openxmlformats.org/drawingml/2006/main">
            <a:r>
              <a:t>packages/durable/test/harness-task-graph.test.ts</a:t>
            </a:r>
          </a:p>
          <a:p xmlns:a="http://schemas.openxmlformats.org/drawingml/2006/main">
            <a:r>
              <a:t>packages/durable/test/harness-tasks-recovery.test.ts</a:t>
            </a:r>
          </a:p>
          <a:p xmlns:a="http://schemas.openxmlformats.org/drawingml/2006/main">
            <a:r>
              <a:t>packages/durable/test/harness-tools-recovery.test.ts</a:t>
            </a:r>
          </a:p>
          <a:p xmlns:a="http://schemas.openxmlformats.org/drawingml/2006/main">
            <a:r>
              <a:t>packages/durable/test/scheduler-memory-bench.ts</a:t>
            </a:r>
          </a:p>
          <a:p xmlns:a="http://schemas.openxmlformats.org/drawingml/2006/main">
            <a:r>
              <a:t>packages/durable/test/session-document-cache-bench.ts</a:t>
            </a:r>
          </a:p>
          <a:p xmlns:a="http://schemas.openxmlformats.org/drawingml/2006/main">
            <a:r>
              <a:t>packages/durable/test/scheduler-fanout-bench.ts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源码基线：6cd9d957a9fd50bc504d45b72834ed9dd85a20b6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流程为教学阅读顺序，可选分支不表示每次运行必经。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把内存教程改成真正可关闭后重开的应用。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明确 Storage 契约</a:t>
            </a:r>
          </a:p>
          <a:p xmlns:a="http://schemas.openxmlformats.org/drawingml/2006/main">
            <a:r>
              <a:t>先读 conformance 对读取、事务、游标和错误的要求，再选实现。</a:t>
            </a:r>
          </a:p>
          <a:p xmlns:a="http://schemas.openxmlformats.org/drawingml/2006/main">
            <a:r>
              <a:t>输入：存储使用场景</a:t>
            </a:r>
          </a:p>
          <a:p xmlns:a="http://schemas.openxmlformats.org/drawingml/2006/main">
            <a:r>
              <a:t>输出：必须满足的契约</a:t>
            </a:r>
          </a:p>
          <a:p xmlns:a="http://schemas.openxmlformats.org/drawingml/2006/main">
            <a:r>
              <a:t>入口线索：testing 子路径</a:t>
            </a:r>
          </a:p>
          <a:p xmlns:a="http://schemas.openxmlformats.org/drawingml/2006/main">
            <a:r>
              <a:t>职责：基准是比较基础，不是生产容量保证。</a:t>
            </a:r>
          </a:p>
          <a:p xmlns:a="http://schemas.openxmlformats.org/drawingml/2006/main">
            <a:r>
              <a:t>源码：packages/durable/src/testing/assertions.ts</a:t>
            </a:r>
          </a:p>
          <a:p xmlns:a="http://schemas.openxmlformats.org/drawingml/2006/main">
            <a:r>
              <a:t>packages/durable/src/testing/env-conformance.ts</a:t>
            </a:r>
          </a:p>
          <a:p xmlns:a="http://schemas.openxmlformats.org/drawingml/2006/main">
            <a:r>
              <a:t>packages/durable/src/testing/index.ts</a:t>
            </a:r>
          </a:p>
          <a:p xmlns:a="http://schemas.openxmlformats.org/drawingml/2006/main">
            <a:r>
              <a:t>packages/durable/src/testing/runner.ts</a:t>
            </a:r>
          </a:p>
          <a:p xmlns:a="http://schemas.openxmlformats.org/drawingml/2006/main">
            <a:r>
              <a:t>packages/durable/src/testing/storage-benchmark.ts</a:t>
            </a:r>
          </a:p>
          <a:p xmlns:a="http://schemas.openxmlformats.org/drawingml/2006/main">
            <a:r>
              <a:t>packages/durable/src/testing/storage-conformance.ts</a:t>
            </a:r>
          </a:p>
          <a:p xmlns:a="http://schemas.openxmlformats.org/drawingml/2006/main">
            <a:r>
              <a:t>packages/durable/src/testing/types.ts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2. 跟踪 JSONL 提交</a:t>
            </a:r>
          </a:p>
          <a:p xmlns:a="http://schemas.openxmlformats.org/drawingml/2006/main">
            <a:r>
              <a:t>查看文件写入、sidecar、单写入者所有权与 fsync 选项，区分可读与已经耐久。</a:t>
            </a:r>
          </a:p>
          <a:p xmlns:a="http://schemas.openxmlformats.org/drawingml/2006/main">
            <a:r>
              <a:t>输入：持久提交</a:t>
            </a:r>
          </a:p>
          <a:p xmlns:a="http://schemas.openxmlformats.org/drawingml/2006/main">
            <a:r>
              <a:t>输出：文件记录</a:t>
            </a:r>
          </a:p>
          <a:p xmlns:a="http://schemas.openxmlformats.org/drawingml/2006/main">
            <a:r>
              <a:t>入口线索：openNodeJsonlStorage</a:t>
            </a:r>
          </a:p>
          <a:p xmlns:a="http://schemas.openxmlformats.org/drawingml/2006/main">
            <a:r>
              <a:t>职责：单写入者所有权与 fsync 选项影响耐久性。</a:t>
            </a:r>
          </a:p>
          <a:p xmlns:a="http://schemas.openxmlformats.org/drawingml/2006/main">
            <a:r>
              <a:t>源码：packages/durable/src/storage/jsonl/index.ts</a:t>
            </a:r>
          </a:p>
          <a:p xmlns:a="http://schemas.openxmlformats.org/drawingml/2006/main">
            <a:r>
              <a:t>packages/durable/src/storage/jsonl/node.ts</a:t>
            </a:r>
          </a:p>
          <a:p xmlns:a="http://schemas.openxmlformats.org/drawingml/2006/main">
            <a:r>
              <a:t>packages/durable/src/storage/jsonl/storage.ts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3. 跟踪 SQLite 事务</a:t>
            </a:r>
          </a:p>
          <a:p xmlns:a="http://schemas.openxmlformats.org/drawingml/2006/main">
            <a:r>
              <a:t>阅读迁移和 Promise facade，确保事务内操作用事务句柄而非外部连接。</a:t>
            </a:r>
          </a:p>
          <a:p xmlns:a="http://schemas.openxmlformats.org/drawingml/2006/main">
            <a:r>
              <a:t>输入：数据库与 schema 版本</a:t>
            </a:r>
          </a:p>
          <a:p xmlns:a="http://schemas.openxmlformats.org/drawingml/2006/main">
            <a:r>
              <a:t>输出：原子提交或回滚</a:t>
            </a:r>
          </a:p>
          <a:p xmlns:a="http://schemas.openxmlformats.org/drawingml/2006/main">
            <a:r>
              <a:t>入口线索：openNodeSqliteStorage</a:t>
            </a:r>
          </a:p>
          <a:p xmlns:a="http://schemas.openxmlformats.org/drawingml/2006/main">
            <a:r>
              <a:t>职责：当前 portable SQLite 核心使用 Promise 数据库 facade，事务内必须使用事务句柄。</a:t>
            </a:r>
          </a:p>
          <a:p xmlns:a="http://schemas.openxmlformats.org/drawingml/2006/main">
            <a:r>
              <a:t>源码：packages/durable/src/storage/sqlite/cloudflare.ts</a:t>
            </a:r>
          </a:p>
          <a:p xmlns:a="http://schemas.openxmlformats.org/drawingml/2006/main">
            <a:r>
              <a:t>packages/durable/src/storage/sqlite/database.ts</a:t>
            </a:r>
          </a:p>
          <a:p xmlns:a="http://schemas.openxmlformats.org/drawingml/2006/main">
            <a:r>
              <a:t>packages/durable/src/storage/sqlite/index.ts</a:t>
            </a:r>
          </a:p>
          <a:p xmlns:a="http://schemas.openxmlformats.org/drawingml/2006/main">
            <a:r>
              <a:t>packages/durable/src/storage/sqlite/migrations.ts</a:t>
            </a:r>
          </a:p>
          <a:p xmlns:a="http://schemas.openxmlformats.org/drawingml/2006/main">
            <a:r>
              <a:t>packages/durable/src/storage/sqlite/node.ts</a:t>
            </a:r>
          </a:p>
          <a:p xmlns:a="http://schemas.openxmlformats.org/drawingml/2006/main">
            <a:r>
              <a:t>packages/durable/src/storage/sqlite/storage.ts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4. 关闭后重开验证</a:t>
            </a:r>
          </a:p>
          <a:p xmlns:a="http://schemas.openxmlformats.org/drawingml/2006/main">
            <a:r>
              <a:t>用同一后端执行一致性测试与恢复测试，再比较性能基准；测试通过不是生产容量承诺。</a:t>
            </a:r>
          </a:p>
          <a:p xmlns:a="http://schemas.openxmlformats.org/drawingml/2006/main">
            <a:r>
              <a:t>输入：已关闭存储</a:t>
            </a:r>
          </a:p>
          <a:p xmlns:a="http://schemas.openxmlformats.org/drawingml/2006/main">
            <a:r>
              <a:t>输出：相同的已提交状态</a:t>
            </a:r>
          </a:p>
          <a:p xmlns:a="http://schemas.openxmlformats.org/drawingml/2006/main">
            <a:r>
              <a:t>入口线索：testing 子路径</a:t>
            </a:r>
          </a:p>
          <a:p xmlns:a="http://schemas.openxmlformats.org/drawingml/2006/main">
            <a:r>
              <a:t>职责：基准是比较基础，不是生产容量保证。</a:t>
            </a:r>
          </a:p>
          <a:p xmlns:a="http://schemas.openxmlformats.org/drawingml/2006/main">
            <a:r>
              <a:t>源码：packages/durable/src/testing/assertions.ts</a:t>
            </a:r>
          </a:p>
          <a:p xmlns:a="http://schemas.openxmlformats.org/drawingml/2006/main">
            <a:r>
              <a:t>packages/durable/src/testing/env-conformance.ts</a:t>
            </a:r>
          </a:p>
          <a:p xmlns:a="http://schemas.openxmlformats.org/drawingml/2006/main">
            <a:r>
              <a:t>packages/durable/src/testing/index.ts</a:t>
            </a:r>
          </a:p>
          <a:p xmlns:a="http://schemas.openxmlformats.org/drawingml/2006/main">
            <a:r>
              <a:t>packages/durable/src/testing/runner.ts</a:t>
            </a:r>
          </a:p>
          <a:p xmlns:a="http://schemas.openxmlformats.org/drawingml/2006/main">
            <a:r>
              <a:t>packages/durable/src/testing/storage-benchmark.ts</a:t>
            </a:r>
          </a:p>
          <a:p xmlns:a="http://schemas.openxmlformats.org/drawingml/2006/main">
            <a:r>
              <a:t>packages/durable/src/testing/storage-conformance.ts</a:t>
            </a:r>
          </a:p>
          <a:p xmlns:a="http://schemas.openxmlformats.org/drawingml/2006/main">
            <a:r>
              <a:t>packages/durable/src/testing/types.ts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失败与恢复：多写入者、未完成迁移或错误事务句柄会破坏假设；必须按后端规定配置所有权。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练习：对照内存和一个磁盘后端，写出重开后应保持的记录、版本与任务状态。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参考判断：内存关闭后不能当磁盘恢复使用；磁盘后端需要证明重新创建实例后读取一致。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功能编号：DUR-39, DUR-40, DUR-55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文档来源：</a:t>
            </a:r>
          </a:p>
          <a:p xmlns:a="http://schemas.openxmlformats.org/drawingml/2006/main">
            <a:r>
              <a:t>packages/durable/README.md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关联测试阅读线索（未在演示文稿中执行）：</a:t>
            </a:r>
          </a:p>
          <a:p xmlns:a="http://schemas.openxmlformats.org/drawingml/2006/main">
            <a:r>
              <a:t>packages/durable/test/env-node-conformance.test.ts</a:t>
            </a:r>
          </a:p>
          <a:p xmlns:a="http://schemas.openxmlformats.org/drawingml/2006/main">
            <a:r>
              <a:t>packages/durable/test/jsonl-storage.test.ts</a:t>
            </a:r>
          </a:p>
          <a:p xmlns:a="http://schemas.openxmlformats.org/drawingml/2006/main">
            <a:r>
              <a:t>packages/durable/test/memory-storage.test.ts</a:t>
            </a:r>
          </a:p>
          <a:p xmlns:a="http://schemas.openxmlformats.org/drawingml/2006/main">
            <a:r>
              <a:t>packages/durable/test/sqlite-cloudflare.test.ts</a:t>
            </a:r>
          </a:p>
          <a:p xmlns:a="http://schemas.openxmlformats.org/drawingml/2006/main">
            <a:r>
              <a:t>packages/durable/test/sqlite-storage.test.ts</a:t>
            </a:r>
          </a:p>
          <a:p xmlns:a="http://schemas.openxmlformats.org/drawingml/2006/main">
            <a:r>
              <a:t>packages/durable/test/storage-memory.ts</a:t>
            </a:r>
          </a:p>
          <a:p xmlns:a="http://schemas.openxmlformats.org/drawingml/2006/main">
            <a:r>
              <a:t>packages/durable/test/storage.bench.ts</a:t>
            </a:r>
          </a:p>
          <a:p xmlns:a="http://schemas.openxmlformats.org/drawingml/2006/main">
            <a:r>
              <a:t>packages/env/test/conformance.test.ts</a:t>
            </a:r>
          </a:p>
          <a:p xmlns:a="http://schemas.openxmlformats.org/drawingml/2006/main">
            <a:r>
              <a:t>packages/env/test/ssh-external.test.ts</a:t>
            </a:r>
          </a:p>
          <a:p xmlns:a="http://schemas.openxmlformats.org/drawingml/2006/main">
            <a:r>
              <a:t>packages/durable/test/nested-images-bench.ts</a:t>
            </a:r>
          </a:p>
          <a:p xmlns:a="http://schemas.openxmlformats.org/drawingml/2006/main">
            <a:r>
              <a:t>packages/durable/test/nested-tools-bench.ts</a:t>
            </a:r>
          </a:p>
          <a:p xmlns:a="http://schemas.openxmlformats.org/drawingml/2006/main">
            <a:r>
              <a:t>packages/durable/test/tool-output-bench.ts</a:t>
            </a:r>
          </a:p>
          <a:p xmlns:a="http://schemas.openxmlformats.org/drawingml/2006/main">
            <a:r>
              <a:t>packages/durable/test/sqlite-facade.test.ts</a:t>
            </a:r>
          </a:p>
          <a:p xmlns:a="http://schemas.openxmlformats.org/drawingml/2006/main">
            <a:r>
              <a:t>packages/durable/test/sqlite-migrations.test.ts</a:t>
            </a:r>
          </a:p>
          <a:p xmlns:a="http://schemas.openxmlformats.org/drawingml/2006/main">
            <a:r>
              <a:t>packages/durable/test/codemode-bench.ts</a:t>
            </a:r>
          </a:p>
          <a:p xmlns:a="http://schemas.openxmlformats.org/drawingml/2006/main">
            <a:r>
              <a:t>packages/durable/test/codemode.test.ts</a:t>
            </a:r>
          </a:p>
          <a:p xmlns:a="http://schemas.openxmlformats.org/drawingml/2006/main">
            <a:r>
              <a:t>packages/durable/test/harness-compaction.test.ts</a:t>
            </a:r>
          </a:p>
          <a:p xmlns:a="http://schemas.openxmlformats.org/drawingml/2006/main">
            <a:r>
              <a:t>packages/durable/test/harness-conversations.test.ts</a:t>
            </a:r>
          </a:p>
          <a:p xmlns:a="http://schemas.openxmlformats.org/drawingml/2006/main">
            <a:r>
              <a:t>packages/durable/test/harness-generation-recovery.test.ts</a:t>
            </a:r>
          </a:p>
          <a:p xmlns:a="http://schemas.openxmlformats.org/drawingml/2006/main">
            <a:r>
              <a:t>packages/durable/test/harness-inbox.test.ts</a:t>
            </a:r>
          </a:p>
          <a:p xmlns:a="http://schemas.openxmlformats.org/drawingml/2006/main">
            <a:r>
              <a:t>packages/durable/test/harness-input-entries.test.ts</a:t>
            </a:r>
          </a:p>
          <a:p xmlns:a="http://schemas.openxmlformats.org/drawingml/2006/main">
            <a:r>
              <a:t>packages/durable/test/harness-lifecycle.test.ts</a:t>
            </a:r>
          </a:p>
          <a:p xmlns:a="http://schemas.openxmlformats.org/drawingml/2006/main">
            <a:r>
              <a:t>packages/durable/test/harness-nested-tools-restart.test.ts</a:t>
            </a:r>
          </a:p>
          <a:p xmlns:a="http://schemas.openxmlformats.org/drawingml/2006/main">
            <a:r>
              <a:t>packages/durable/test/harness-nested-tools.test.ts</a:t>
            </a:r>
          </a:p>
          <a:p xmlns:a="http://schemas.openxmlformats.org/drawingml/2006/main">
            <a:r>
              <a:t>packages/durable/test/harness-ownership.test.ts</a:t>
            </a:r>
          </a:p>
          <a:p xmlns:a="http://schemas.openxmlformats.org/drawingml/2006/main">
            <a:r>
              <a:t>packages/durable/test/harness-scheduler-indexes.test.ts</a:t>
            </a:r>
          </a:p>
          <a:p xmlns:a="http://schemas.openxmlformats.org/drawingml/2006/main">
            <a:r>
              <a:t>packages/durable/test/harness-scheduler-retention.test.ts</a:t>
            </a:r>
          </a:p>
          <a:p xmlns:a="http://schemas.openxmlformats.org/drawingml/2006/main">
            <a:r>
              <a:t>packages/durable/test/harness-structured.test.ts</a:t>
            </a:r>
          </a:p>
          <a:p xmlns:a="http://schemas.openxmlformats.org/drawingml/2006/main">
            <a:r>
              <a:t>packages/durable/test/harness-submissions.test.ts</a:t>
            </a:r>
          </a:p>
          <a:p xmlns:a="http://schemas.openxmlformats.org/drawingml/2006/main">
            <a:r>
              <a:t>packages/durable/test/harness-task-graph.test.ts</a:t>
            </a:r>
          </a:p>
          <a:p xmlns:a="http://schemas.openxmlformats.org/drawingml/2006/main">
            <a:r>
              <a:t>packages/durable/test/harness-tasks-recovery.test.ts</a:t>
            </a:r>
          </a:p>
          <a:p xmlns:a="http://schemas.openxmlformats.org/drawingml/2006/main">
            <a:r>
              <a:t>packages/durable/test/harness-tools-recovery.test.ts</a:t>
            </a:r>
          </a:p>
          <a:p xmlns:a="http://schemas.openxmlformats.org/drawingml/2006/main">
            <a:r>
              <a:t>packages/durable/test/scheduler-memory-bench.ts</a:t>
            </a:r>
          </a:p>
          <a:p xmlns:a="http://schemas.openxmlformats.org/drawingml/2006/main">
            <a:r>
              <a:t>packages/durable/test/session-document-cache-bench.ts</a:t>
            </a:r>
          </a:p>
          <a:p xmlns:a="http://schemas.openxmlformats.org/drawingml/2006/main">
            <a:r>
              <a:t>packages/durable/test/scheduler-fanout-bench.ts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源码基线：6cd9d957a9fd50bc504d45b72834ed9dd85a20b6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流程为教学阅读顺序，可选分支不表示每次运行必经。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把内存教程改成真正可关闭后重开的应用。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明确 Storage 契约</a:t>
            </a:r>
          </a:p>
          <a:p xmlns:a="http://schemas.openxmlformats.org/drawingml/2006/main">
            <a:r>
              <a:t>先读 conformance 对读取、事务、游标和错误的要求，再选实现。</a:t>
            </a:r>
          </a:p>
          <a:p xmlns:a="http://schemas.openxmlformats.org/drawingml/2006/main">
            <a:r>
              <a:t>输入：存储使用场景</a:t>
            </a:r>
          </a:p>
          <a:p xmlns:a="http://schemas.openxmlformats.org/drawingml/2006/main">
            <a:r>
              <a:t>输出：必须满足的契约</a:t>
            </a:r>
          </a:p>
          <a:p xmlns:a="http://schemas.openxmlformats.org/drawingml/2006/main">
            <a:r>
              <a:t>入口线索：testing 子路径</a:t>
            </a:r>
          </a:p>
          <a:p xmlns:a="http://schemas.openxmlformats.org/drawingml/2006/main">
            <a:r>
              <a:t>职责：基准是比较基础，不是生产容量保证。</a:t>
            </a:r>
          </a:p>
          <a:p xmlns:a="http://schemas.openxmlformats.org/drawingml/2006/main">
            <a:r>
              <a:t>源码：packages/durable/src/testing/assertions.ts</a:t>
            </a:r>
          </a:p>
          <a:p xmlns:a="http://schemas.openxmlformats.org/drawingml/2006/main">
            <a:r>
              <a:t>packages/durable/src/testing/env-conformance.ts</a:t>
            </a:r>
          </a:p>
          <a:p xmlns:a="http://schemas.openxmlformats.org/drawingml/2006/main">
            <a:r>
              <a:t>packages/durable/src/testing/index.ts</a:t>
            </a:r>
          </a:p>
          <a:p xmlns:a="http://schemas.openxmlformats.org/drawingml/2006/main">
            <a:r>
              <a:t>packages/durable/src/testing/runner.ts</a:t>
            </a:r>
          </a:p>
          <a:p xmlns:a="http://schemas.openxmlformats.org/drawingml/2006/main">
            <a:r>
              <a:t>packages/durable/src/testing/storage-benchmark.ts</a:t>
            </a:r>
          </a:p>
          <a:p xmlns:a="http://schemas.openxmlformats.org/drawingml/2006/main">
            <a:r>
              <a:t>packages/durable/src/testing/storage-conformance.ts</a:t>
            </a:r>
          </a:p>
          <a:p xmlns:a="http://schemas.openxmlformats.org/drawingml/2006/main">
            <a:r>
              <a:t>packages/durable/src/testing/types.ts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2. 跟踪 JSONL 提交</a:t>
            </a:r>
          </a:p>
          <a:p xmlns:a="http://schemas.openxmlformats.org/drawingml/2006/main">
            <a:r>
              <a:t>查看文件写入、sidecar、单写入者所有权与 fsync 选项，区分可读与已经耐久。</a:t>
            </a:r>
          </a:p>
          <a:p xmlns:a="http://schemas.openxmlformats.org/drawingml/2006/main">
            <a:r>
              <a:t>输入：持久提交</a:t>
            </a:r>
          </a:p>
          <a:p xmlns:a="http://schemas.openxmlformats.org/drawingml/2006/main">
            <a:r>
              <a:t>输出：文件记录</a:t>
            </a:r>
          </a:p>
          <a:p xmlns:a="http://schemas.openxmlformats.org/drawingml/2006/main">
            <a:r>
              <a:t>入口线索：openNodeJsonlStorage</a:t>
            </a:r>
          </a:p>
          <a:p xmlns:a="http://schemas.openxmlformats.org/drawingml/2006/main">
            <a:r>
              <a:t>职责：单写入者所有权与 fsync 选项影响耐久性。</a:t>
            </a:r>
          </a:p>
          <a:p xmlns:a="http://schemas.openxmlformats.org/drawingml/2006/main">
            <a:r>
              <a:t>源码：packages/durable/src/storage/jsonl/index.ts</a:t>
            </a:r>
          </a:p>
          <a:p xmlns:a="http://schemas.openxmlformats.org/drawingml/2006/main">
            <a:r>
              <a:t>packages/durable/src/storage/jsonl/node.ts</a:t>
            </a:r>
          </a:p>
          <a:p xmlns:a="http://schemas.openxmlformats.org/drawingml/2006/main">
            <a:r>
              <a:t>packages/durable/src/storage/jsonl/storage.ts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3. 跟踪 SQLite 事务</a:t>
            </a:r>
          </a:p>
          <a:p xmlns:a="http://schemas.openxmlformats.org/drawingml/2006/main">
            <a:r>
              <a:t>阅读迁移和 Promise facade，确保事务内操作用事务句柄而非外部连接。</a:t>
            </a:r>
          </a:p>
          <a:p xmlns:a="http://schemas.openxmlformats.org/drawingml/2006/main">
            <a:r>
              <a:t>输入：数据库与 schema 版本</a:t>
            </a:r>
          </a:p>
          <a:p xmlns:a="http://schemas.openxmlformats.org/drawingml/2006/main">
            <a:r>
              <a:t>输出：原子提交或回滚</a:t>
            </a:r>
          </a:p>
          <a:p xmlns:a="http://schemas.openxmlformats.org/drawingml/2006/main">
            <a:r>
              <a:t>入口线索：openNodeSqliteStorage</a:t>
            </a:r>
          </a:p>
          <a:p xmlns:a="http://schemas.openxmlformats.org/drawingml/2006/main">
            <a:r>
              <a:t>职责：当前 portable SQLite 核心使用 Promise 数据库 facade，事务内必须使用事务句柄。</a:t>
            </a:r>
          </a:p>
          <a:p xmlns:a="http://schemas.openxmlformats.org/drawingml/2006/main">
            <a:r>
              <a:t>源码：packages/durable/src/storage/sqlite/cloudflare.ts</a:t>
            </a:r>
          </a:p>
          <a:p xmlns:a="http://schemas.openxmlformats.org/drawingml/2006/main">
            <a:r>
              <a:t>packages/durable/src/storage/sqlite/database.ts</a:t>
            </a:r>
          </a:p>
          <a:p xmlns:a="http://schemas.openxmlformats.org/drawingml/2006/main">
            <a:r>
              <a:t>packages/durable/src/storage/sqlite/index.ts</a:t>
            </a:r>
          </a:p>
          <a:p xmlns:a="http://schemas.openxmlformats.org/drawingml/2006/main">
            <a:r>
              <a:t>packages/durable/src/storage/sqlite/migrations.ts</a:t>
            </a:r>
          </a:p>
          <a:p xmlns:a="http://schemas.openxmlformats.org/drawingml/2006/main">
            <a:r>
              <a:t>packages/durable/src/storage/sqlite/node.ts</a:t>
            </a:r>
          </a:p>
          <a:p xmlns:a="http://schemas.openxmlformats.org/drawingml/2006/main">
            <a:r>
              <a:t>packages/durable/src/storage/sqlite/storage.ts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4. 关闭后重开验证</a:t>
            </a:r>
          </a:p>
          <a:p xmlns:a="http://schemas.openxmlformats.org/drawingml/2006/main">
            <a:r>
              <a:t>用同一后端执行一致性测试与恢复测试，再比较性能基准；测试通过不是生产容量承诺。</a:t>
            </a:r>
          </a:p>
          <a:p xmlns:a="http://schemas.openxmlformats.org/drawingml/2006/main">
            <a:r>
              <a:t>输入：已关闭存储</a:t>
            </a:r>
          </a:p>
          <a:p xmlns:a="http://schemas.openxmlformats.org/drawingml/2006/main">
            <a:r>
              <a:t>输出：相同的已提交状态</a:t>
            </a:r>
          </a:p>
          <a:p xmlns:a="http://schemas.openxmlformats.org/drawingml/2006/main">
            <a:r>
              <a:t>入口线索：testing 子路径</a:t>
            </a:r>
          </a:p>
          <a:p xmlns:a="http://schemas.openxmlformats.org/drawingml/2006/main">
            <a:r>
              <a:t>职责：基准是比较基础，不是生产容量保证。</a:t>
            </a:r>
          </a:p>
          <a:p xmlns:a="http://schemas.openxmlformats.org/drawingml/2006/main">
            <a:r>
              <a:t>源码：packages/durable/src/testing/assertions.ts</a:t>
            </a:r>
          </a:p>
          <a:p xmlns:a="http://schemas.openxmlformats.org/drawingml/2006/main">
            <a:r>
              <a:t>packages/durable/src/testing/env-conformance.ts</a:t>
            </a:r>
          </a:p>
          <a:p xmlns:a="http://schemas.openxmlformats.org/drawingml/2006/main">
            <a:r>
              <a:t>packages/durable/src/testing/index.ts</a:t>
            </a:r>
          </a:p>
          <a:p xmlns:a="http://schemas.openxmlformats.org/drawingml/2006/main">
            <a:r>
              <a:t>packages/durable/src/testing/runner.ts</a:t>
            </a:r>
          </a:p>
          <a:p xmlns:a="http://schemas.openxmlformats.org/drawingml/2006/main">
            <a:r>
              <a:t>packages/durable/src/testing/storage-benchmark.ts</a:t>
            </a:r>
          </a:p>
          <a:p xmlns:a="http://schemas.openxmlformats.org/drawingml/2006/main">
            <a:r>
              <a:t>packages/durable/src/testing/storage-conformance.ts</a:t>
            </a:r>
          </a:p>
          <a:p xmlns:a="http://schemas.openxmlformats.org/drawingml/2006/main">
            <a:r>
              <a:t>packages/durable/src/testing/types.ts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失败与恢复：多写入者、未完成迁移或错误事务句柄会破坏假设；必须按后端规定配置所有权。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练习：对照内存和一个磁盘后端，写出重开后应保持的记录、版本与任务状态。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参考判断：内存关闭后不能当磁盘恢复使用；磁盘后端需要证明重新创建实例后读取一致。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功能编号：DUR-39, DUR-40, DUR-55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文档来源：</a:t>
            </a:r>
          </a:p>
          <a:p xmlns:a="http://schemas.openxmlformats.org/drawingml/2006/main">
            <a:r>
              <a:t>packages/durable/README.md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关联测试阅读线索（未在演示文稿中执行）：</a:t>
            </a:r>
          </a:p>
          <a:p xmlns:a="http://schemas.openxmlformats.org/drawingml/2006/main">
            <a:r>
              <a:t>packages/durable/test/env-node-conformance.test.ts</a:t>
            </a:r>
          </a:p>
          <a:p xmlns:a="http://schemas.openxmlformats.org/drawingml/2006/main">
            <a:r>
              <a:t>packages/durable/test/jsonl-storage.test.ts</a:t>
            </a:r>
          </a:p>
          <a:p xmlns:a="http://schemas.openxmlformats.org/drawingml/2006/main">
            <a:r>
              <a:t>packages/durable/test/memory-storage.test.ts</a:t>
            </a:r>
          </a:p>
          <a:p xmlns:a="http://schemas.openxmlformats.org/drawingml/2006/main">
            <a:r>
              <a:t>packages/durable/test/sqlite-cloudflare.test.ts</a:t>
            </a:r>
          </a:p>
          <a:p xmlns:a="http://schemas.openxmlformats.org/drawingml/2006/main">
            <a:r>
              <a:t>packages/durable/test/sqlite-storage.test.ts</a:t>
            </a:r>
          </a:p>
          <a:p xmlns:a="http://schemas.openxmlformats.org/drawingml/2006/main">
            <a:r>
              <a:t>packages/durable/test/storage-memory.ts</a:t>
            </a:r>
          </a:p>
          <a:p xmlns:a="http://schemas.openxmlformats.org/drawingml/2006/main">
            <a:r>
              <a:t>packages/durable/test/storage.bench.ts</a:t>
            </a:r>
          </a:p>
          <a:p xmlns:a="http://schemas.openxmlformats.org/drawingml/2006/main">
            <a:r>
              <a:t>packages/env/test/conformance.test.ts</a:t>
            </a:r>
          </a:p>
          <a:p xmlns:a="http://schemas.openxmlformats.org/drawingml/2006/main">
            <a:r>
              <a:t>packages/env/test/ssh-external.test.ts</a:t>
            </a:r>
          </a:p>
          <a:p xmlns:a="http://schemas.openxmlformats.org/drawingml/2006/main">
            <a:r>
              <a:t>packages/durable/test/nested-images-bench.ts</a:t>
            </a:r>
          </a:p>
          <a:p xmlns:a="http://schemas.openxmlformats.org/drawingml/2006/main">
            <a:r>
              <a:t>packages/durable/test/nested-tools-bench.ts</a:t>
            </a:r>
          </a:p>
          <a:p xmlns:a="http://schemas.openxmlformats.org/drawingml/2006/main">
            <a:r>
              <a:t>packages/durable/test/tool-output-bench.ts</a:t>
            </a:r>
          </a:p>
          <a:p xmlns:a="http://schemas.openxmlformats.org/drawingml/2006/main">
            <a:r>
              <a:t>packages/durable/test/sqlite-facade.test.ts</a:t>
            </a:r>
          </a:p>
          <a:p xmlns:a="http://schemas.openxmlformats.org/drawingml/2006/main">
            <a:r>
              <a:t>packages/durable/test/sqlite-migrations.test.ts</a:t>
            </a:r>
          </a:p>
          <a:p xmlns:a="http://schemas.openxmlformats.org/drawingml/2006/main">
            <a:r>
              <a:t>packages/durable/test/codemode-bench.ts</a:t>
            </a:r>
          </a:p>
          <a:p xmlns:a="http://schemas.openxmlformats.org/drawingml/2006/main">
            <a:r>
              <a:t>packages/durable/test/codemode.test.ts</a:t>
            </a:r>
          </a:p>
          <a:p xmlns:a="http://schemas.openxmlformats.org/drawingml/2006/main">
            <a:r>
              <a:t>packages/durable/test/harness-compaction.test.ts</a:t>
            </a:r>
          </a:p>
          <a:p xmlns:a="http://schemas.openxmlformats.org/drawingml/2006/main">
            <a:r>
              <a:t>packages/durable/test/harness-conversations.test.ts</a:t>
            </a:r>
          </a:p>
          <a:p xmlns:a="http://schemas.openxmlformats.org/drawingml/2006/main">
            <a:r>
              <a:t>packages/durable/test/harness-generation-recovery.test.ts</a:t>
            </a:r>
          </a:p>
          <a:p xmlns:a="http://schemas.openxmlformats.org/drawingml/2006/main">
            <a:r>
              <a:t>packages/durable/test/harness-inbox.test.ts</a:t>
            </a:r>
          </a:p>
          <a:p xmlns:a="http://schemas.openxmlformats.org/drawingml/2006/main">
            <a:r>
              <a:t>packages/durable/test/harness-input-entries.test.ts</a:t>
            </a:r>
          </a:p>
          <a:p xmlns:a="http://schemas.openxmlformats.org/drawingml/2006/main">
            <a:r>
              <a:t>packages/durable/test/harness-lifecycle.test.ts</a:t>
            </a:r>
          </a:p>
          <a:p xmlns:a="http://schemas.openxmlformats.org/drawingml/2006/main">
            <a:r>
              <a:t>packages/durable/test/harness-nested-tools-restart.test.ts</a:t>
            </a:r>
          </a:p>
          <a:p xmlns:a="http://schemas.openxmlformats.org/drawingml/2006/main">
            <a:r>
              <a:t>packages/durable/test/harness-nested-tools.test.ts</a:t>
            </a:r>
          </a:p>
          <a:p xmlns:a="http://schemas.openxmlformats.org/drawingml/2006/main">
            <a:r>
              <a:t>packages/durable/test/harness-ownership.test.ts</a:t>
            </a:r>
          </a:p>
          <a:p xmlns:a="http://schemas.openxmlformats.org/drawingml/2006/main">
            <a:r>
              <a:t>packages/durable/test/harness-scheduler-indexes.test.ts</a:t>
            </a:r>
          </a:p>
          <a:p xmlns:a="http://schemas.openxmlformats.org/drawingml/2006/main">
            <a:r>
              <a:t>packages/durable/test/harness-scheduler-retention.test.ts</a:t>
            </a:r>
          </a:p>
          <a:p xmlns:a="http://schemas.openxmlformats.org/drawingml/2006/main">
            <a:r>
              <a:t>packages/durable/test/harness-structured.test.ts</a:t>
            </a:r>
          </a:p>
          <a:p xmlns:a="http://schemas.openxmlformats.org/drawingml/2006/main">
            <a:r>
              <a:t>packages/durable/test/harness-submissions.test.ts</a:t>
            </a:r>
          </a:p>
          <a:p xmlns:a="http://schemas.openxmlformats.org/drawingml/2006/main">
            <a:r>
              <a:t>packages/durable/test/harness-task-graph.test.ts</a:t>
            </a:r>
          </a:p>
          <a:p xmlns:a="http://schemas.openxmlformats.org/drawingml/2006/main">
            <a:r>
              <a:t>packages/durable/test/harness-tasks-recovery.test.ts</a:t>
            </a:r>
          </a:p>
          <a:p xmlns:a="http://schemas.openxmlformats.org/drawingml/2006/main">
            <a:r>
              <a:t>packages/durable/test/harness-tools-recovery.test.ts</a:t>
            </a:r>
          </a:p>
          <a:p xmlns:a="http://schemas.openxmlformats.org/drawingml/2006/main">
            <a:r>
              <a:t>packages/durable/test/scheduler-memory-bench.ts</a:t>
            </a:r>
          </a:p>
          <a:p xmlns:a="http://schemas.openxmlformats.org/drawingml/2006/main">
            <a:r>
              <a:t>packages/durable/test/session-document-cache-bench.ts</a:t>
            </a:r>
          </a:p>
          <a:p xmlns:a="http://schemas.openxmlformats.org/drawingml/2006/main">
            <a:r>
              <a:t>packages/durable/test/scheduler-fanout-bench.ts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源码基线：6cd9d957a9fd50bc504d45b72834ed9dd85a20b6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流程为教学阅读顺序，可选分支不表示每次运行必经。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主任务分出审查或检索子任务，并在重启后继续观察它们。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确定会话所有权</a:t>
            </a:r>
          </a:p>
          <a:p xmlns:a="http://schemas.openxmlformats.org/drawingml/2006/main">
            <a:r>
              <a:t>从 foreground/background 子智能体示例理解父子会话、结果与生命周期。</a:t>
            </a:r>
          </a:p>
          <a:p xmlns:a="http://schemas.openxmlformats.org/drawingml/2006/main">
            <a:r>
              <a:t>输入：父任务与子输入</a:t>
            </a:r>
          </a:p>
          <a:p xmlns:a="http://schemas.openxmlformats.org/drawingml/2006/main">
            <a:r>
              <a:t>输出：子会话和归属关系</a:t>
            </a:r>
          </a:p>
          <a:p xmlns:a="http://schemas.openxmlformats.org/drawingml/2006/main">
            <a:r>
              <a:t>入口线索：createConversation ownership；abort；background: true</a:t>
            </a:r>
          </a:p>
          <a:p xmlns:a="http://schemas.openxmlformats.org/drawingml/2006/main">
            <a:r>
              <a:t>职责：安全重放需复用子会话和 requestId；前台和后台的取消/空闲行为不同。</a:t>
            </a:r>
          </a:p>
          <a:p xmlns:a="http://schemas.openxmlformats.org/drawingml/2006/main">
            <a:r>
              <a:t>源码：packages/durable/src/harness/harness.ts</a:t>
            </a:r>
          </a:p>
          <a:p xmlns:a="http://schemas.openxmlformats.org/drawingml/2006/main">
            <a:r>
              <a:t>packages/durable/src/harness/scheduler.ts</a:t>
            </a:r>
          </a:p>
          <a:p xmlns:a="http://schemas.openxmlformats.org/drawingml/2006/main">
            <a:r>
              <a:t>packages/durable/src/session/transaction.ts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2. 建立子任务</a:t>
            </a:r>
          </a:p>
          <a:p xmlns:a="http://schemas.openxmlformats.org/drawingml/2006/main">
            <a:r>
              <a:t>阅读任务图与 child tasks，标出调度依赖、等待与终止传播。</a:t>
            </a:r>
          </a:p>
          <a:p xmlns:a="http://schemas.openxmlformats.org/drawingml/2006/main">
            <a:r>
              <a:t>输入：持久任务检查点</a:t>
            </a:r>
          </a:p>
          <a:p xmlns:a="http://schemas.openxmlformats.org/drawingml/2006/main">
            <a:r>
              <a:t>输出：父子任务图</a:t>
            </a:r>
          </a:p>
          <a:p xmlns:a="http://schemas.openxmlformats.org/drawingml/2006/main">
            <a:r>
              <a:t>入口线索：taskGraph；watchTaskGraph；waiting；completing</a:t>
            </a:r>
          </a:p>
          <a:p xmlns:a="http://schemas.openxmlformats.org/drawingml/2006/main">
            <a:r>
              <a:t>职责：后台任务构成取消与空闲边界；任务图显示活跃任务，不替代完整审计历史。</a:t>
            </a:r>
          </a:p>
          <a:p xmlns:a="http://schemas.openxmlformats.org/drawingml/2006/main">
            <a:r>
              <a:t>源码：packages/durable/src/harness/scheduler.ts</a:t>
            </a:r>
          </a:p>
          <a:p xmlns:a="http://schemas.openxmlformats.org/drawingml/2006/main">
            <a:r>
              <a:t>packages/durable/src/harness/task-graph.ts</a:t>
            </a:r>
          </a:p>
          <a:p xmlns:a="http://schemas.openxmlformats.org/drawingml/2006/main">
            <a:r>
              <a:t>packages/durable/src/tasks.ts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3. 重开并继续观察</a:t>
            </a:r>
          </a:p>
          <a:p xmlns:a="http://schemas.openxmlformats.org/drawingml/2006/main">
            <a:r>
              <a:t>使用视图与游标观察子任务当前状态，避免靠内存 Promise 作为唯一真相。</a:t>
            </a:r>
          </a:p>
          <a:p xmlns:a="http://schemas.openxmlformats.org/drawingml/2006/main">
            <a:r>
              <a:t>输入：恢复后的存储</a:t>
            </a:r>
          </a:p>
          <a:p xmlns:a="http://schemas.openxmlformats.org/drawingml/2006/main">
            <a:r>
              <a:t>输出：当前任务与会话视图</a:t>
            </a:r>
          </a:p>
          <a:p xmlns:a="http://schemas.openxmlformats.org/drawingml/2006/main">
            <a:r>
              <a:t>入口线索：viewState；watch；watchDoc；documentState</a:t>
            </a:r>
          </a:p>
          <a:p xmlns:a="http://schemas.openxmlformats.org/drawingml/2006/main">
            <a:r>
              <a:t>职责：状态提交后才对外展示；慢监听超过有界积压后收到最新整份快照。</a:t>
            </a:r>
          </a:p>
          <a:p xmlns:a="http://schemas.openxmlformats.org/drawingml/2006/main">
            <a:r>
              <a:t>源码：packages/durable/src/harness/live.ts</a:t>
            </a:r>
          </a:p>
          <a:p xmlns:a="http://schemas.openxmlformats.org/drawingml/2006/main">
            <a:r>
              <a:t>packages/durable/src/harness/view.ts</a:t>
            </a:r>
          </a:p>
          <a:p xmlns:a="http://schemas.openxmlformats.org/drawingml/2006/main">
            <a:r>
              <a:t>packages/durable/src/session/observation.ts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4. 汇总结果与用量</a:t>
            </a:r>
          </a:p>
          <a:p xmlns:a="http://schemas.openxmlformats.org/drawingml/2006/main">
            <a:r>
              <a:t>检查各任务结果与 usage 的归属，避免把观察到的重复事件重复累加。</a:t>
            </a:r>
          </a:p>
          <a:p xmlns:a="http://schemas.openxmlformats.org/drawingml/2006/main">
            <a:r>
              <a:t>输入：已提交的子任务结果</a:t>
            </a:r>
          </a:p>
          <a:p xmlns:a="http://schemas.openxmlformats.org/drawingml/2006/main">
            <a:r>
              <a:t>输出：父流程可消费的结果</a:t>
            </a:r>
          </a:p>
          <a:p xmlns:a="http://schemas.openxmlformats.org/drawingml/2006/main">
            <a:r>
              <a:t>入口线索：Harness.usage；pi.usage</a:t>
            </a:r>
          </a:p>
          <a:p xmlns:a="http://schemas.openxmlformats.org/drawingml/2006/main">
            <a:r>
              <a:t>职责：失败或取消但已有用量的尝试也计入；数值依赖提供商实际报告。</a:t>
            </a:r>
          </a:p>
          <a:p xmlns:a="http://schemas.openxmlformats.org/drawingml/2006/main">
            <a:r>
              <a:t>源码：packages/durable/src/harness/usage.ts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失败与恢复：父等待取消与子任务取消有不同语义；重启后需要从持久状态恢复关系。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练习：阅读 22、23、24 三个示例，比较前台、后台与普通子任务如何让父流程继续。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参考判断：答案要说清谁持有子会话、谁等待结果以及恢复依据，不把所有后台工作视为脱离管理。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功能编号：DUR-21, DUR-22, DUR-31, DUR-32, DUR-33, DUR-34, DUR-35, DUR-37, DUR-38, DUR-61, OTH-60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文档来源：</a:t>
            </a:r>
          </a:p>
          <a:p xmlns:a="http://schemas.openxmlformats.org/drawingml/2006/main">
            <a:r>
              <a:t>packages/durable/README.md</a:t>
            </a:r>
          </a:p>
          <a:p xmlns:a="http://schemas.openxmlformats.org/drawingml/2006/main">
            <a:r>
              <a:t>packages/durable/CHANGELOG.md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关联测试阅读线索（未在演示文稿中执行）：</a:t>
            </a:r>
          </a:p>
          <a:p xmlns:a="http://schemas.openxmlformats.org/drawingml/2006/main">
            <a:r>
              <a:t>packages/durable/test/harness-scheduler-retention.test.ts</a:t>
            </a:r>
          </a:p>
          <a:p xmlns:a="http://schemas.openxmlformats.org/drawingml/2006/main">
            <a:r>
              <a:t>packages/durable/test/harness-storage-failure.test.ts</a:t>
            </a:r>
          </a:p>
          <a:p xmlns:a="http://schemas.openxmlformats.org/drawingml/2006/main">
            <a:r>
              <a:t>packages/durable/test/scheduler-memory-bench.ts</a:t>
            </a:r>
          </a:p>
          <a:p xmlns:a="http://schemas.openxmlformats.org/drawingml/2006/main">
            <a:r>
              <a:t>packages/durable/test/harness-inbox.test.ts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源码基线：6cd9d957a9fd50bc504d45b72834ed9dd85a20b6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流程为教学阅读顺序，可选分支不表示每次运行必经。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主任务分出审查或检索子任务，并在重启后继续观察它们。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确定会话所有权</a:t>
            </a:r>
          </a:p>
          <a:p xmlns:a="http://schemas.openxmlformats.org/drawingml/2006/main">
            <a:r>
              <a:t>从 foreground/background 子智能体示例理解父子会话、结果与生命周期。</a:t>
            </a:r>
          </a:p>
          <a:p xmlns:a="http://schemas.openxmlformats.org/drawingml/2006/main">
            <a:r>
              <a:t>输入：父任务与子输入</a:t>
            </a:r>
          </a:p>
          <a:p xmlns:a="http://schemas.openxmlformats.org/drawingml/2006/main">
            <a:r>
              <a:t>输出：子会话和归属关系</a:t>
            </a:r>
          </a:p>
          <a:p xmlns:a="http://schemas.openxmlformats.org/drawingml/2006/main">
            <a:r>
              <a:t>入口线索：createConversation ownership；abort；background: true</a:t>
            </a:r>
          </a:p>
          <a:p xmlns:a="http://schemas.openxmlformats.org/drawingml/2006/main">
            <a:r>
              <a:t>职责：安全重放需复用子会话和 requestId；前台和后台的取消/空闲行为不同。</a:t>
            </a:r>
          </a:p>
          <a:p xmlns:a="http://schemas.openxmlformats.org/drawingml/2006/main">
            <a:r>
              <a:t>源码：packages/durable/src/harness/harness.ts</a:t>
            </a:r>
          </a:p>
          <a:p xmlns:a="http://schemas.openxmlformats.org/drawingml/2006/main">
            <a:r>
              <a:t>packages/durable/src/harness/scheduler.ts</a:t>
            </a:r>
          </a:p>
          <a:p xmlns:a="http://schemas.openxmlformats.org/drawingml/2006/main">
            <a:r>
              <a:t>packages/durable/src/session/transaction.ts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2. 建立子任务</a:t>
            </a:r>
          </a:p>
          <a:p xmlns:a="http://schemas.openxmlformats.org/drawingml/2006/main">
            <a:r>
              <a:t>阅读任务图与 child tasks，标出调度依赖、等待与终止传播。</a:t>
            </a:r>
          </a:p>
          <a:p xmlns:a="http://schemas.openxmlformats.org/drawingml/2006/main">
            <a:r>
              <a:t>输入：持久任务检查点</a:t>
            </a:r>
          </a:p>
          <a:p xmlns:a="http://schemas.openxmlformats.org/drawingml/2006/main">
            <a:r>
              <a:t>输出：父子任务图</a:t>
            </a:r>
          </a:p>
          <a:p xmlns:a="http://schemas.openxmlformats.org/drawingml/2006/main">
            <a:r>
              <a:t>入口线索：taskGraph；watchTaskGraph；waiting；completing</a:t>
            </a:r>
          </a:p>
          <a:p xmlns:a="http://schemas.openxmlformats.org/drawingml/2006/main">
            <a:r>
              <a:t>职责：后台任务构成取消与空闲边界；任务图显示活跃任务，不替代完整审计历史。</a:t>
            </a:r>
          </a:p>
          <a:p xmlns:a="http://schemas.openxmlformats.org/drawingml/2006/main">
            <a:r>
              <a:t>源码：packages/durable/src/harness/scheduler.ts</a:t>
            </a:r>
          </a:p>
          <a:p xmlns:a="http://schemas.openxmlformats.org/drawingml/2006/main">
            <a:r>
              <a:t>packages/durable/src/harness/task-graph.ts</a:t>
            </a:r>
          </a:p>
          <a:p xmlns:a="http://schemas.openxmlformats.org/drawingml/2006/main">
            <a:r>
              <a:t>packages/durable/src/tasks.ts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3. 重开并继续观察</a:t>
            </a:r>
          </a:p>
          <a:p xmlns:a="http://schemas.openxmlformats.org/drawingml/2006/main">
            <a:r>
              <a:t>使用视图与游标观察子任务当前状态，避免靠内存 Promise 作为唯一真相。</a:t>
            </a:r>
          </a:p>
          <a:p xmlns:a="http://schemas.openxmlformats.org/drawingml/2006/main">
            <a:r>
              <a:t>输入：恢复后的存储</a:t>
            </a:r>
          </a:p>
          <a:p xmlns:a="http://schemas.openxmlformats.org/drawingml/2006/main">
            <a:r>
              <a:t>输出：当前任务与会话视图</a:t>
            </a:r>
          </a:p>
          <a:p xmlns:a="http://schemas.openxmlformats.org/drawingml/2006/main">
            <a:r>
              <a:t>入口线索：viewState；watch；watchDoc；documentState</a:t>
            </a:r>
          </a:p>
          <a:p xmlns:a="http://schemas.openxmlformats.org/drawingml/2006/main">
            <a:r>
              <a:t>职责：状态提交后才对外展示；慢监听超过有界积压后收到最新整份快照。</a:t>
            </a:r>
          </a:p>
          <a:p xmlns:a="http://schemas.openxmlformats.org/drawingml/2006/main">
            <a:r>
              <a:t>源码：packages/durable/src/harness/live.ts</a:t>
            </a:r>
          </a:p>
          <a:p xmlns:a="http://schemas.openxmlformats.org/drawingml/2006/main">
            <a:r>
              <a:t>packages/durable/src/harness/view.ts</a:t>
            </a:r>
          </a:p>
          <a:p xmlns:a="http://schemas.openxmlformats.org/drawingml/2006/main">
            <a:r>
              <a:t>packages/durable/src/session/observation.ts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4. 汇总结果与用量</a:t>
            </a:r>
          </a:p>
          <a:p xmlns:a="http://schemas.openxmlformats.org/drawingml/2006/main">
            <a:r>
              <a:t>检查各任务结果与 usage 的归属，避免把观察到的重复事件重复累加。</a:t>
            </a:r>
          </a:p>
          <a:p xmlns:a="http://schemas.openxmlformats.org/drawingml/2006/main">
            <a:r>
              <a:t>输入：已提交的子任务结果</a:t>
            </a:r>
          </a:p>
          <a:p xmlns:a="http://schemas.openxmlformats.org/drawingml/2006/main">
            <a:r>
              <a:t>输出：父流程可消费的结果</a:t>
            </a:r>
          </a:p>
          <a:p xmlns:a="http://schemas.openxmlformats.org/drawingml/2006/main">
            <a:r>
              <a:t>入口线索：Harness.usage；pi.usage</a:t>
            </a:r>
          </a:p>
          <a:p xmlns:a="http://schemas.openxmlformats.org/drawingml/2006/main">
            <a:r>
              <a:t>职责：失败或取消但已有用量的尝试也计入；数值依赖提供商实际报告。</a:t>
            </a:r>
          </a:p>
          <a:p xmlns:a="http://schemas.openxmlformats.org/drawingml/2006/main">
            <a:r>
              <a:t>源码：packages/durable/src/harness/usage.ts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失败与恢复：父等待取消与子任务取消有不同语义；重启后需要从持久状态恢复关系。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练习：阅读 22、23、24 三个示例，比较前台、后台与普通子任务如何让父流程继续。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参考判断：答案要说清谁持有子会话、谁等待结果以及恢复依据，不把所有后台工作视为脱离管理。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功能编号：DUR-21, DUR-22, DUR-31, DUR-32, DUR-33, DUR-34, DUR-35, DUR-37, DUR-38, DUR-61, OTH-60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文档来源：</a:t>
            </a:r>
          </a:p>
          <a:p xmlns:a="http://schemas.openxmlformats.org/drawingml/2006/main">
            <a:r>
              <a:t>packages/durable/README.md</a:t>
            </a:r>
          </a:p>
          <a:p xmlns:a="http://schemas.openxmlformats.org/drawingml/2006/main">
            <a:r>
              <a:t>packages/durable/CHANGELOG.md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关联测试阅读线索（未在演示文稿中执行）：</a:t>
            </a:r>
          </a:p>
          <a:p xmlns:a="http://schemas.openxmlformats.org/drawingml/2006/main">
            <a:r>
              <a:t>packages/durable/test/harness-scheduler-retention.test.ts</a:t>
            </a:r>
          </a:p>
          <a:p xmlns:a="http://schemas.openxmlformats.org/drawingml/2006/main">
            <a:r>
              <a:t>packages/durable/test/harness-storage-failure.test.ts</a:t>
            </a:r>
          </a:p>
          <a:p xmlns:a="http://schemas.openxmlformats.org/drawingml/2006/main">
            <a:r>
              <a:t>packages/durable/test/scheduler-memory-bench.ts</a:t>
            </a:r>
          </a:p>
          <a:p xmlns:a="http://schemas.openxmlformats.org/drawingml/2006/main">
            <a:r>
              <a:t>packages/durable/test/harness-inbox.test.ts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源码基线：6cd9d957a9fd50bc504d45b72834ed9dd85a20b6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流程为教学阅读顺序，可选分支不表示每次运行必经。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主任务分出审查或检索子任务，并在重启后继续观察它们。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确定会话所有权</a:t>
            </a:r>
          </a:p>
          <a:p xmlns:a="http://schemas.openxmlformats.org/drawingml/2006/main">
            <a:r>
              <a:t>从 foreground/background 子智能体示例理解父子会话、结果与生命周期。</a:t>
            </a:r>
          </a:p>
          <a:p xmlns:a="http://schemas.openxmlformats.org/drawingml/2006/main">
            <a:r>
              <a:t>输入：父任务与子输入</a:t>
            </a:r>
          </a:p>
          <a:p xmlns:a="http://schemas.openxmlformats.org/drawingml/2006/main">
            <a:r>
              <a:t>输出：子会话和归属关系</a:t>
            </a:r>
          </a:p>
          <a:p xmlns:a="http://schemas.openxmlformats.org/drawingml/2006/main">
            <a:r>
              <a:t>入口线索：createConversation ownership；abort；background: true</a:t>
            </a:r>
          </a:p>
          <a:p xmlns:a="http://schemas.openxmlformats.org/drawingml/2006/main">
            <a:r>
              <a:t>职责：安全重放需复用子会话和 requestId；前台和后台的取消/空闲行为不同。</a:t>
            </a:r>
          </a:p>
          <a:p xmlns:a="http://schemas.openxmlformats.org/drawingml/2006/main">
            <a:r>
              <a:t>源码：packages/durable/src/harness/harness.ts</a:t>
            </a:r>
          </a:p>
          <a:p xmlns:a="http://schemas.openxmlformats.org/drawingml/2006/main">
            <a:r>
              <a:t>packages/durable/src/harness/scheduler.ts</a:t>
            </a:r>
          </a:p>
          <a:p xmlns:a="http://schemas.openxmlformats.org/drawingml/2006/main">
            <a:r>
              <a:t>packages/durable/src/session/transaction.ts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2. 建立子任务</a:t>
            </a:r>
          </a:p>
          <a:p xmlns:a="http://schemas.openxmlformats.org/drawingml/2006/main">
            <a:r>
              <a:t>阅读任务图与 child tasks，标出调度依赖、等待与终止传播。</a:t>
            </a:r>
          </a:p>
          <a:p xmlns:a="http://schemas.openxmlformats.org/drawingml/2006/main">
            <a:r>
              <a:t>输入：持久任务检查点</a:t>
            </a:r>
          </a:p>
          <a:p xmlns:a="http://schemas.openxmlformats.org/drawingml/2006/main">
            <a:r>
              <a:t>输出：父子任务图</a:t>
            </a:r>
          </a:p>
          <a:p xmlns:a="http://schemas.openxmlformats.org/drawingml/2006/main">
            <a:r>
              <a:t>入口线索：taskGraph；watchTaskGraph；waiting；completing</a:t>
            </a:r>
          </a:p>
          <a:p xmlns:a="http://schemas.openxmlformats.org/drawingml/2006/main">
            <a:r>
              <a:t>职责：后台任务构成取消与空闲边界；任务图显示活跃任务，不替代完整审计历史。</a:t>
            </a:r>
          </a:p>
          <a:p xmlns:a="http://schemas.openxmlformats.org/drawingml/2006/main">
            <a:r>
              <a:t>源码：packages/durable/src/harness/scheduler.ts</a:t>
            </a:r>
          </a:p>
          <a:p xmlns:a="http://schemas.openxmlformats.org/drawingml/2006/main">
            <a:r>
              <a:t>packages/durable/src/harness/task-graph.ts</a:t>
            </a:r>
          </a:p>
          <a:p xmlns:a="http://schemas.openxmlformats.org/drawingml/2006/main">
            <a:r>
              <a:t>packages/durable/src/tasks.ts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3. 重开并继续观察</a:t>
            </a:r>
          </a:p>
          <a:p xmlns:a="http://schemas.openxmlformats.org/drawingml/2006/main">
            <a:r>
              <a:t>使用视图与游标观察子任务当前状态，避免靠内存 Promise 作为唯一真相。</a:t>
            </a:r>
          </a:p>
          <a:p xmlns:a="http://schemas.openxmlformats.org/drawingml/2006/main">
            <a:r>
              <a:t>输入：恢复后的存储</a:t>
            </a:r>
          </a:p>
          <a:p xmlns:a="http://schemas.openxmlformats.org/drawingml/2006/main">
            <a:r>
              <a:t>输出：当前任务与会话视图</a:t>
            </a:r>
          </a:p>
          <a:p xmlns:a="http://schemas.openxmlformats.org/drawingml/2006/main">
            <a:r>
              <a:t>入口线索：viewState；watch；watchDoc；documentState</a:t>
            </a:r>
          </a:p>
          <a:p xmlns:a="http://schemas.openxmlformats.org/drawingml/2006/main">
            <a:r>
              <a:t>职责：状态提交后才对外展示；慢监听超过有界积压后收到最新整份快照。</a:t>
            </a:r>
          </a:p>
          <a:p xmlns:a="http://schemas.openxmlformats.org/drawingml/2006/main">
            <a:r>
              <a:t>源码：packages/durable/src/harness/live.ts</a:t>
            </a:r>
          </a:p>
          <a:p xmlns:a="http://schemas.openxmlformats.org/drawingml/2006/main">
            <a:r>
              <a:t>packages/durable/src/harness/view.ts</a:t>
            </a:r>
          </a:p>
          <a:p xmlns:a="http://schemas.openxmlformats.org/drawingml/2006/main">
            <a:r>
              <a:t>packages/durable/src/session/observation.ts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4. 汇总结果与用量</a:t>
            </a:r>
          </a:p>
          <a:p xmlns:a="http://schemas.openxmlformats.org/drawingml/2006/main">
            <a:r>
              <a:t>检查各任务结果与 usage 的归属，避免把观察到的重复事件重复累加。</a:t>
            </a:r>
          </a:p>
          <a:p xmlns:a="http://schemas.openxmlformats.org/drawingml/2006/main">
            <a:r>
              <a:t>输入：已提交的子任务结果</a:t>
            </a:r>
          </a:p>
          <a:p xmlns:a="http://schemas.openxmlformats.org/drawingml/2006/main">
            <a:r>
              <a:t>输出：父流程可消费的结果</a:t>
            </a:r>
          </a:p>
          <a:p xmlns:a="http://schemas.openxmlformats.org/drawingml/2006/main">
            <a:r>
              <a:t>入口线索：Harness.usage；pi.usage</a:t>
            </a:r>
          </a:p>
          <a:p xmlns:a="http://schemas.openxmlformats.org/drawingml/2006/main">
            <a:r>
              <a:t>职责：失败或取消但已有用量的尝试也计入；数值依赖提供商实际报告。</a:t>
            </a:r>
          </a:p>
          <a:p xmlns:a="http://schemas.openxmlformats.org/drawingml/2006/main">
            <a:r>
              <a:t>源码：packages/durable/src/harness/usage.ts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失败与恢复：父等待取消与子任务取消有不同语义；重启后需要从持久状态恢复关系。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练习：阅读 22、23、24 三个示例，比较前台、后台与普通子任务如何让父流程继续。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参考判断：答案要说清谁持有子会话、谁等待结果以及恢复依据，不把所有后台工作视为脱离管理。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功能编号：DUR-21, DUR-22, DUR-31, DUR-32, DUR-33, DUR-34, DUR-35, DUR-37, DUR-38, DUR-61, OTH-60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文档来源：</a:t>
            </a:r>
          </a:p>
          <a:p xmlns:a="http://schemas.openxmlformats.org/drawingml/2006/main">
            <a:r>
              <a:t>packages/durable/README.md</a:t>
            </a:r>
          </a:p>
          <a:p xmlns:a="http://schemas.openxmlformats.org/drawingml/2006/main">
            <a:r>
              <a:t>packages/durable/CHANGELOG.md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关联测试阅读线索（未在演示文稿中执行）：</a:t>
            </a:r>
          </a:p>
          <a:p xmlns:a="http://schemas.openxmlformats.org/drawingml/2006/main">
            <a:r>
              <a:t>packages/durable/test/harness-scheduler-retention.test.ts</a:t>
            </a:r>
          </a:p>
          <a:p xmlns:a="http://schemas.openxmlformats.org/drawingml/2006/main">
            <a:r>
              <a:t>packages/durable/test/harness-storage-failure.test.ts</a:t>
            </a:r>
          </a:p>
          <a:p xmlns:a="http://schemas.openxmlformats.org/drawingml/2006/main">
            <a:r>
              <a:t>packages/durable/test/scheduler-memory-bench.ts</a:t>
            </a:r>
          </a:p>
          <a:p xmlns:a="http://schemas.openxmlformats.org/drawingml/2006/main">
            <a:r>
              <a:t>packages/durable/test/harness-inbox.test.ts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源码基线：6cd9d957a9fd50bc504d45b72834ed9dd85a20b6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流程为教学阅读顺序，可选分支不表示每次运行必经。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长时间运行的持久会话需要缩减上下文，并在重启后保持相同边界。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决定压缩任务</a:t>
            </a:r>
          </a:p>
          <a:p xmlns:a="http://schemas.openxmlformats.org/drawingml/2006/main">
            <a:r>
              <a:t>读取压缩配置、触发条件和记录边界，区分普通生成和摘要任务。</a:t>
            </a:r>
          </a:p>
          <a:p xmlns:a="http://schemas.openxmlformats.org/drawingml/2006/main">
            <a:r>
              <a:t>输入：长会话与限制</a:t>
            </a:r>
          </a:p>
          <a:p xmlns:a="http://schemas.openxmlformats.org/drawingml/2006/main">
            <a:r>
              <a:t>输出：压缩计划</a:t>
            </a:r>
          </a:p>
          <a:p xmlns:a="http://schemas.openxmlformats.org/drawingml/2006/main">
            <a:r>
              <a:t>入口线索：Conversation.compact；CompactionTask；settings.compaction</a:t>
            </a:r>
          </a:p>
          <a:p xmlns:a="http://schemas.openxmlformats.org/drawingml/2006/main">
            <a:r>
              <a:t>职责：手动、后台和溢出压缩有不同触发；摘要费用计入用量，旧条目仍保留。</a:t>
            </a:r>
          </a:p>
          <a:p xmlns:a="http://schemas.openxmlformats.org/drawingml/2006/main">
            <a:r>
              <a:t>源码：packages/durable/src/harness/compaction.ts</a:t>
            </a:r>
          </a:p>
          <a:p xmlns:a="http://schemas.openxmlformats.org/drawingml/2006/main">
            <a:r>
              <a:t>packages/durable/src/harness/generation.ts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2. 处理阻塞与失败</a:t>
            </a:r>
          </a:p>
          <a:p xmlns:a="http://schemas.openxmlformats.org/drawingml/2006/main">
            <a:r>
              <a:t>观察 generation 被压缩阻塞的检查点，以及失败后允许怎样恢复。</a:t>
            </a:r>
          </a:p>
          <a:p xmlns:a="http://schemas.openxmlformats.org/drawingml/2006/main">
            <a:r>
              <a:t>输入：压缩进行中或失败</a:t>
            </a:r>
          </a:p>
          <a:p xmlns:a="http://schemas.openxmlformats.org/drawingml/2006/main">
            <a:r>
              <a:t>输出：可解释的等待/失败状态</a:t>
            </a:r>
          </a:p>
          <a:p xmlns:a="http://schemas.openxmlformats.org/drawingml/2006/main">
            <a:r>
              <a:t>入口线索：pi.live.compactionFailure / model_error / task wait</a:t>
            </a:r>
          </a:p>
          <a:p xmlns:a="http://schemas.openxmlformats.org/drawingml/2006/main">
            <a:r>
              <a:t>职责：成功摘要清除最近压缩失败；失败期间不继续发送本次模型请求。等待环错误需要修正任务依赖。</a:t>
            </a:r>
          </a:p>
          <a:p xmlns:a="http://schemas.openxmlformats.org/drawingml/2006/main">
            <a:r>
              <a:t>源码：packages/durable/src/harness/compaction.ts</a:t>
            </a:r>
          </a:p>
          <a:p xmlns:a="http://schemas.openxmlformats.org/drawingml/2006/main">
            <a:r>
              <a:t>packages/durable/src/harness/generation.ts</a:t>
            </a:r>
          </a:p>
          <a:p xmlns:a="http://schemas.openxmlformats.org/drawingml/2006/main">
            <a:r>
              <a:t>packages/durable/src/harness/live.ts</a:t>
            </a:r>
          </a:p>
          <a:p xmlns:a="http://schemas.openxmlformats.org/drawingml/2006/main">
            <a:r>
              <a:t>packages/durable/src/harness/scheduler.ts</a:t>
            </a:r>
          </a:p>
          <a:p xmlns:a="http://schemas.openxmlformats.org/drawingml/2006/main">
            <a:r>
              <a:t>packages/durable/src/session/transaction.ts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3. 提交摘要与视图</a:t>
            </a:r>
          </a:p>
          <a:p xmlns:a="http://schemas.openxmlformats.org/drawingml/2006/main">
            <a:r>
              <a:t>检查摘要提交后下一轮上下文和观察视图怎样改变，保留原始条目的归属。</a:t>
            </a:r>
          </a:p>
          <a:p xmlns:a="http://schemas.openxmlformats.org/drawingml/2006/main">
            <a:r>
              <a:t>输入：摘要和保留记录</a:t>
            </a:r>
          </a:p>
          <a:p xmlns:a="http://schemas.openxmlformats.org/drawingml/2006/main">
            <a:r>
              <a:t>输出：新的模型上下文</a:t>
            </a:r>
          </a:p>
          <a:p xmlns:a="http://schemas.openxmlformats.org/drawingml/2006/main">
            <a:r>
              <a:t>入口线索：viewState；watch；watchDoc；documentState</a:t>
            </a:r>
          </a:p>
          <a:p xmlns:a="http://schemas.openxmlformats.org/drawingml/2006/main">
            <a:r>
              <a:t>职责：状态提交后才对外展示；慢监听超过有界积压后收到最新整份快照。</a:t>
            </a:r>
          </a:p>
          <a:p xmlns:a="http://schemas.openxmlformats.org/drawingml/2006/main">
            <a:r>
              <a:t>源码：packages/durable/src/harness/live.ts</a:t>
            </a:r>
          </a:p>
          <a:p xmlns:a="http://schemas.openxmlformats.org/drawingml/2006/main">
            <a:r>
              <a:t>packages/durable/src/harness/view.ts</a:t>
            </a:r>
          </a:p>
          <a:p xmlns:a="http://schemas.openxmlformats.org/drawingml/2006/main">
            <a:r>
              <a:t>packages/durable/src/session/observation.ts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4. 核对图像预算</a:t>
            </a:r>
          </a:p>
          <a:p xmlns:a="http://schemas.openxmlformats.org/drawingml/2006/main">
            <a:r>
              <a:t>检查图像输入和模型限制，在持久消息与请求投影之间核对处理阶段。</a:t>
            </a:r>
          </a:p>
          <a:p xmlns:a="http://schemas.openxmlformats.org/drawingml/2006/main">
            <a:r>
              <a:t>输入：图像消息与模型能力</a:t>
            </a:r>
          </a:p>
          <a:p xmlns:a="http://schemas.openxmlformats.org/drawingml/2006/main">
            <a:r>
              <a:t>输出：符合当前请求条件的输入</a:t>
            </a:r>
          </a:p>
          <a:p xmlns:a="http://schemas.openxmlformats.org/drawingml/2006/main">
            <a:r>
              <a:t>入口线索：createCodingTools({ images })；images/node；images/cloudflare</a:t>
            </a:r>
          </a:p>
          <a:p xmlns:a="http://schemas.openxmlformats.org/drawingml/2006/main">
            <a:r>
              <a:t>职责：Node loader 在 worker 中处理图像，空闲 30 秒后退出；模型无图像输入能力时返回占位诊断。</a:t>
            </a:r>
          </a:p>
          <a:p xmlns:a="http://schemas.openxmlformats.org/drawingml/2006/main">
            <a:r>
              <a:t>源码：packages/durable/src/images/cloudflare.ts</a:t>
            </a:r>
          </a:p>
          <a:p xmlns:a="http://schemas.openxmlformats.org/drawingml/2006/main">
            <a:r>
              <a:t>packages/durable/src/images/exif.ts</a:t>
            </a:r>
          </a:p>
          <a:p xmlns:a="http://schemas.openxmlformats.org/drawingml/2006/main">
            <a:r>
              <a:t>packages/durable/src/images/index.ts</a:t>
            </a:r>
          </a:p>
          <a:p xmlns:a="http://schemas.openxmlformats.org/drawingml/2006/main">
            <a:r>
              <a:t>packages/durable/src/images/node-worker.ts</a:t>
            </a:r>
          </a:p>
          <a:p xmlns:a="http://schemas.openxmlformats.org/drawingml/2006/main">
            <a:r>
              <a:t>packages/durable/src/images/node.ts</a:t>
            </a:r>
          </a:p>
          <a:p xmlns:a="http://schemas.openxmlformats.org/drawingml/2006/main">
            <a:r>
              <a:t>packages/durable/src/images/photon-wasm.d.ts</a:t>
            </a:r>
          </a:p>
          <a:p xmlns:a="http://schemas.openxmlformats.org/drawingml/2006/main">
            <a:r>
              <a:t>packages/durable/src/tools/image-processor.ts</a:t>
            </a:r>
          </a:p>
          <a:p xmlns:a="http://schemas.openxmlformats.org/drawingml/2006/main">
            <a:r>
              <a:t>packages/durable/src/tools/image.ts</a:t>
            </a:r>
          </a:p>
          <a:p xmlns:a="http://schemas.openxmlformats.org/drawingml/2006/main">
            <a:r>
              <a:t>packages/durable/src/tools/read.ts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失败与恢复：摘要失败不能直接伪装为压缩成功；取消与任务恢复需要保留清晰状态。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练习：找出一项压缩测试，写出压缩前后仍应保留的信息及应变化的上下文内容。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参考判断：记录历史、模型投影和观察视图是三个层次，不能只断言消息数量减少。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功能编号：DUR-21, DUR-22, DUR-27, DUR-28, DUR-37, DUR-42, DUR-43, DUR-69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文档来源：</a:t>
            </a:r>
          </a:p>
          <a:p xmlns:a="http://schemas.openxmlformats.org/drawingml/2006/main">
            <a:r>
              <a:t>packages/durable/README.md</a:t>
            </a:r>
          </a:p>
          <a:p xmlns:a="http://schemas.openxmlformats.org/drawingml/2006/main">
            <a:r>
              <a:t>packages/durable/CHANGELOG.md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关联测试阅读线索（未在演示文稿中执行）：</a:t>
            </a:r>
          </a:p>
          <a:p xmlns:a="http://schemas.openxmlformats.org/drawingml/2006/main">
            <a:r>
              <a:t>packages/durable/test/harness-compaction.test.ts</a:t>
            </a:r>
          </a:p>
          <a:p xmlns:a="http://schemas.openxmlformats.org/drawingml/2006/main">
            <a:r>
              <a:t>packages/durable/test/harness-storage-failure.test.ts</a:t>
            </a:r>
          </a:p>
          <a:p xmlns:a="http://schemas.openxmlformats.org/drawingml/2006/main">
            <a:r>
              <a:t>packages/durable/test/tools-images.test.ts</a:t>
            </a:r>
          </a:p>
          <a:p xmlns:a="http://schemas.openxmlformats.org/drawingml/2006/main">
            <a:r>
              <a:t>packages/durable/test/images-wasm-module.test.ts</a:t>
            </a:r>
          </a:p>
          <a:p xmlns:a="http://schemas.openxmlformats.org/drawingml/2006/main">
            <a:r>
              <a:t>packages/durable/test/tools-read-differential.test.ts</a:t>
            </a:r>
          </a:p>
          <a:p xmlns:a="http://schemas.openxmlformats.org/drawingml/2006/main">
            <a:r>
              <a:t>packages/durable/test/tools.test.ts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源码基线：6cd9d957a9fd50bc504d45b72834ed9dd85a20b6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流程为教学阅读顺序，可选分支不表示每次运行必经。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长时间运行的持久会话需要缩减上下文，并在重启后保持相同边界。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决定压缩任务</a:t>
            </a:r>
          </a:p>
          <a:p xmlns:a="http://schemas.openxmlformats.org/drawingml/2006/main">
            <a:r>
              <a:t>读取压缩配置、触发条件和记录边界，区分普通生成和摘要任务。</a:t>
            </a:r>
          </a:p>
          <a:p xmlns:a="http://schemas.openxmlformats.org/drawingml/2006/main">
            <a:r>
              <a:t>输入：长会话与限制</a:t>
            </a:r>
          </a:p>
          <a:p xmlns:a="http://schemas.openxmlformats.org/drawingml/2006/main">
            <a:r>
              <a:t>输出：压缩计划</a:t>
            </a:r>
          </a:p>
          <a:p xmlns:a="http://schemas.openxmlformats.org/drawingml/2006/main">
            <a:r>
              <a:t>入口线索：Conversation.compact；CompactionTask；settings.compaction</a:t>
            </a:r>
          </a:p>
          <a:p xmlns:a="http://schemas.openxmlformats.org/drawingml/2006/main">
            <a:r>
              <a:t>职责：手动、后台和溢出压缩有不同触发；摘要费用计入用量，旧条目仍保留。</a:t>
            </a:r>
          </a:p>
          <a:p xmlns:a="http://schemas.openxmlformats.org/drawingml/2006/main">
            <a:r>
              <a:t>源码：packages/durable/src/harness/compaction.ts</a:t>
            </a:r>
          </a:p>
          <a:p xmlns:a="http://schemas.openxmlformats.org/drawingml/2006/main">
            <a:r>
              <a:t>packages/durable/src/harness/generation.ts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2. 处理阻塞与失败</a:t>
            </a:r>
          </a:p>
          <a:p xmlns:a="http://schemas.openxmlformats.org/drawingml/2006/main">
            <a:r>
              <a:t>观察 generation 被压缩阻塞的检查点，以及失败后允许怎样恢复。</a:t>
            </a:r>
          </a:p>
          <a:p xmlns:a="http://schemas.openxmlformats.org/drawingml/2006/main">
            <a:r>
              <a:t>输入：压缩进行中或失败</a:t>
            </a:r>
          </a:p>
          <a:p xmlns:a="http://schemas.openxmlformats.org/drawingml/2006/main">
            <a:r>
              <a:t>输出：可解释的等待/失败状态</a:t>
            </a:r>
          </a:p>
          <a:p xmlns:a="http://schemas.openxmlformats.org/drawingml/2006/main">
            <a:r>
              <a:t>入口线索：pi.live.compactionFailure / model_error / task wait</a:t>
            </a:r>
          </a:p>
          <a:p xmlns:a="http://schemas.openxmlformats.org/drawingml/2006/main">
            <a:r>
              <a:t>职责：成功摘要清除最近压缩失败；失败期间不继续发送本次模型请求。等待环错误需要修正任务依赖。</a:t>
            </a:r>
          </a:p>
          <a:p xmlns:a="http://schemas.openxmlformats.org/drawingml/2006/main">
            <a:r>
              <a:t>源码：packages/durable/src/harness/compaction.ts</a:t>
            </a:r>
          </a:p>
          <a:p xmlns:a="http://schemas.openxmlformats.org/drawingml/2006/main">
            <a:r>
              <a:t>packages/durable/src/harness/generation.ts</a:t>
            </a:r>
          </a:p>
          <a:p xmlns:a="http://schemas.openxmlformats.org/drawingml/2006/main">
            <a:r>
              <a:t>packages/durable/src/harness/live.ts</a:t>
            </a:r>
          </a:p>
          <a:p xmlns:a="http://schemas.openxmlformats.org/drawingml/2006/main">
            <a:r>
              <a:t>packages/durable/src/harness/scheduler.ts</a:t>
            </a:r>
          </a:p>
          <a:p xmlns:a="http://schemas.openxmlformats.org/drawingml/2006/main">
            <a:r>
              <a:t>packages/durable/src/session/transaction.ts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3. 提交摘要与视图</a:t>
            </a:r>
          </a:p>
          <a:p xmlns:a="http://schemas.openxmlformats.org/drawingml/2006/main">
            <a:r>
              <a:t>检查摘要提交后下一轮上下文和观察视图怎样改变，保留原始条目的归属。</a:t>
            </a:r>
          </a:p>
          <a:p xmlns:a="http://schemas.openxmlformats.org/drawingml/2006/main">
            <a:r>
              <a:t>输入：摘要和保留记录</a:t>
            </a:r>
          </a:p>
          <a:p xmlns:a="http://schemas.openxmlformats.org/drawingml/2006/main">
            <a:r>
              <a:t>输出：新的模型上下文</a:t>
            </a:r>
          </a:p>
          <a:p xmlns:a="http://schemas.openxmlformats.org/drawingml/2006/main">
            <a:r>
              <a:t>入口线索：viewState；watch；watchDoc；documentState</a:t>
            </a:r>
          </a:p>
          <a:p xmlns:a="http://schemas.openxmlformats.org/drawingml/2006/main">
            <a:r>
              <a:t>职责：状态提交后才对外展示；慢监听超过有界积压后收到最新整份快照。</a:t>
            </a:r>
          </a:p>
          <a:p xmlns:a="http://schemas.openxmlformats.org/drawingml/2006/main">
            <a:r>
              <a:t>源码：packages/durable/src/harness/live.ts</a:t>
            </a:r>
          </a:p>
          <a:p xmlns:a="http://schemas.openxmlformats.org/drawingml/2006/main">
            <a:r>
              <a:t>packages/durable/src/harness/view.ts</a:t>
            </a:r>
          </a:p>
          <a:p xmlns:a="http://schemas.openxmlformats.org/drawingml/2006/main">
            <a:r>
              <a:t>packages/durable/src/session/observation.ts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4. 核对图像预算</a:t>
            </a:r>
          </a:p>
          <a:p xmlns:a="http://schemas.openxmlformats.org/drawingml/2006/main">
            <a:r>
              <a:t>检查图像输入和模型限制，在持久消息与请求投影之间核对处理阶段。</a:t>
            </a:r>
          </a:p>
          <a:p xmlns:a="http://schemas.openxmlformats.org/drawingml/2006/main">
            <a:r>
              <a:t>输入：图像消息与模型能力</a:t>
            </a:r>
          </a:p>
          <a:p xmlns:a="http://schemas.openxmlformats.org/drawingml/2006/main">
            <a:r>
              <a:t>输出：符合当前请求条件的输入</a:t>
            </a:r>
          </a:p>
          <a:p xmlns:a="http://schemas.openxmlformats.org/drawingml/2006/main">
            <a:r>
              <a:t>入口线索：createCodingTools({ images })；images/node；images/cloudflare</a:t>
            </a:r>
          </a:p>
          <a:p xmlns:a="http://schemas.openxmlformats.org/drawingml/2006/main">
            <a:r>
              <a:t>职责：Node loader 在 worker 中处理图像，空闲 30 秒后退出；模型无图像输入能力时返回占位诊断。</a:t>
            </a:r>
          </a:p>
          <a:p xmlns:a="http://schemas.openxmlformats.org/drawingml/2006/main">
            <a:r>
              <a:t>源码：packages/durable/src/images/cloudflare.ts</a:t>
            </a:r>
          </a:p>
          <a:p xmlns:a="http://schemas.openxmlformats.org/drawingml/2006/main">
            <a:r>
              <a:t>packages/durable/src/images/exif.ts</a:t>
            </a:r>
          </a:p>
          <a:p xmlns:a="http://schemas.openxmlformats.org/drawingml/2006/main">
            <a:r>
              <a:t>packages/durable/src/images/index.ts</a:t>
            </a:r>
          </a:p>
          <a:p xmlns:a="http://schemas.openxmlformats.org/drawingml/2006/main">
            <a:r>
              <a:t>packages/durable/src/images/node-worker.ts</a:t>
            </a:r>
          </a:p>
          <a:p xmlns:a="http://schemas.openxmlformats.org/drawingml/2006/main">
            <a:r>
              <a:t>packages/durable/src/images/node.ts</a:t>
            </a:r>
          </a:p>
          <a:p xmlns:a="http://schemas.openxmlformats.org/drawingml/2006/main">
            <a:r>
              <a:t>packages/durable/src/images/photon-wasm.d.ts</a:t>
            </a:r>
          </a:p>
          <a:p xmlns:a="http://schemas.openxmlformats.org/drawingml/2006/main">
            <a:r>
              <a:t>packages/durable/src/tools/image-processor.ts</a:t>
            </a:r>
          </a:p>
          <a:p xmlns:a="http://schemas.openxmlformats.org/drawingml/2006/main">
            <a:r>
              <a:t>packages/durable/src/tools/image.ts</a:t>
            </a:r>
          </a:p>
          <a:p xmlns:a="http://schemas.openxmlformats.org/drawingml/2006/main">
            <a:r>
              <a:t>packages/durable/src/tools/read.ts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失败与恢复：摘要失败不能直接伪装为压缩成功；取消与任务恢复需要保留清晰状态。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练习：找出一项压缩测试，写出压缩前后仍应保留的信息及应变化的上下文内容。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参考判断：记录历史、模型投影和观察视图是三个层次，不能只断言消息数量减少。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功能编号：DUR-21, DUR-22, DUR-27, DUR-28, DUR-37, DUR-42, DUR-43, DUR-69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文档来源：</a:t>
            </a:r>
          </a:p>
          <a:p xmlns:a="http://schemas.openxmlformats.org/drawingml/2006/main">
            <a:r>
              <a:t>packages/durable/README.md</a:t>
            </a:r>
          </a:p>
          <a:p xmlns:a="http://schemas.openxmlformats.org/drawingml/2006/main">
            <a:r>
              <a:t>packages/durable/CHANGELOG.md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关联测试阅读线索（未在演示文稿中执行）：</a:t>
            </a:r>
          </a:p>
          <a:p xmlns:a="http://schemas.openxmlformats.org/drawingml/2006/main">
            <a:r>
              <a:t>packages/durable/test/harness-compaction.test.ts</a:t>
            </a:r>
          </a:p>
          <a:p xmlns:a="http://schemas.openxmlformats.org/drawingml/2006/main">
            <a:r>
              <a:t>packages/durable/test/harness-storage-failure.test.ts</a:t>
            </a:r>
          </a:p>
          <a:p xmlns:a="http://schemas.openxmlformats.org/drawingml/2006/main">
            <a:r>
              <a:t>packages/durable/test/tools-images.test.ts</a:t>
            </a:r>
          </a:p>
          <a:p xmlns:a="http://schemas.openxmlformats.org/drawingml/2006/main">
            <a:r>
              <a:t>packages/durable/test/images-wasm-module.test.ts</a:t>
            </a:r>
          </a:p>
          <a:p xmlns:a="http://schemas.openxmlformats.org/drawingml/2006/main">
            <a:r>
              <a:t>packages/durable/test/tools-read-differential.test.ts</a:t>
            </a:r>
          </a:p>
          <a:p xmlns:a="http://schemas.openxmlformats.org/drawingml/2006/main">
            <a:r>
              <a:t>packages/durable/test/tools.test.ts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源码基线：6cd9d957a9fd50bc504d45b72834ed9dd85a20b6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流程为教学阅读顺序，可选分支不表示每次运行必经。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长时间运行的持久会话需要缩减上下文，并在重启后保持相同边界。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决定压缩任务</a:t>
            </a:r>
          </a:p>
          <a:p xmlns:a="http://schemas.openxmlformats.org/drawingml/2006/main">
            <a:r>
              <a:t>读取压缩配置、触发条件和记录边界，区分普通生成和摘要任务。</a:t>
            </a:r>
          </a:p>
          <a:p xmlns:a="http://schemas.openxmlformats.org/drawingml/2006/main">
            <a:r>
              <a:t>输入：长会话与限制</a:t>
            </a:r>
          </a:p>
          <a:p xmlns:a="http://schemas.openxmlformats.org/drawingml/2006/main">
            <a:r>
              <a:t>输出：压缩计划</a:t>
            </a:r>
          </a:p>
          <a:p xmlns:a="http://schemas.openxmlformats.org/drawingml/2006/main">
            <a:r>
              <a:t>入口线索：Conversation.compact；CompactionTask；settings.compaction</a:t>
            </a:r>
          </a:p>
          <a:p xmlns:a="http://schemas.openxmlformats.org/drawingml/2006/main">
            <a:r>
              <a:t>职责：手动、后台和溢出压缩有不同触发；摘要费用计入用量，旧条目仍保留。</a:t>
            </a:r>
          </a:p>
          <a:p xmlns:a="http://schemas.openxmlformats.org/drawingml/2006/main">
            <a:r>
              <a:t>源码：packages/durable/src/harness/compaction.ts</a:t>
            </a:r>
          </a:p>
          <a:p xmlns:a="http://schemas.openxmlformats.org/drawingml/2006/main">
            <a:r>
              <a:t>packages/durable/src/harness/generation.ts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2. 处理阻塞与失败</a:t>
            </a:r>
          </a:p>
          <a:p xmlns:a="http://schemas.openxmlformats.org/drawingml/2006/main">
            <a:r>
              <a:t>观察 generation 被压缩阻塞的检查点，以及失败后允许怎样恢复。</a:t>
            </a:r>
          </a:p>
          <a:p xmlns:a="http://schemas.openxmlformats.org/drawingml/2006/main">
            <a:r>
              <a:t>输入：压缩进行中或失败</a:t>
            </a:r>
          </a:p>
          <a:p xmlns:a="http://schemas.openxmlformats.org/drawingml/2006/main">
            <a:r>
              <a:t>输出：可解释的等待/失败状态</a:t>
            </a:r>
          </a:p>
          <a:p xmlns:a="http://schemas.openxmlformats.org/drawingml/2006/main">
            <a:r>
              <a:t>入口线索：pi.live.compactionFailure / model_error / task wait</a:t>
            </a:r>
          </a:p>
          <a:p xmlns:a="http://schemas.openxmlformats.org/drawingml/2006/main">
            <a:r>
              <a:t>职责：成功摘要清除最近压缩失败；失败期间不继续发送本次模型请求。等待环错误需要修正任务依赖。</a:t>
            </a:r>
          </a:p>
          <a:p xmlns:a="http://schemas.openxmlformats.org/drawingml/2006/main">
            <a:r>
              <a:t>源码：packages/durable/src/harness/compaction.ts</a:t>
            </a:r>
          </a:p>
          <a:p xmlns:a="http://schemas.openxmlformats.org/drawingml/2006/main">
            <a:r>
              <a:t>packages/durable/src/harness/generation.ts</a:t>
            </a:r>
          </a:p>
          <a:p xmlns:a="http://schemas.openxmlformats.org/drawingml/2006/main">
            <a:r>
              <a:t>packages/durable/src/harness/live.ts</a:t>
            </a:r>
          </a:p>
          <a:p xmlns:a="http://schemas.openxmlformats.org/drawingml/2006/main">
            <a:r>
              <a:t>packages/durable/src/harness/scheduler.ts</a:t>
            </a:r>
          </a:p>
          <a:p xmlns:a="http://schemas.openxmlformats.org/drawingml/2006/main">
            <a:r>
              <a:t>packages/durable/src/session/transaction.ts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3. 提交摘要与视图</a:t>
            </a:r>
          </a:p>
          <a:p xmlns:a="http://schemas.openxmlformats.org/drawingml/2006/main">
            <a:r>
              <a:t>检查摘要提交后下一轮上下文和观察视图怎样改变，保留原始条目的归属。</a:t>
            </a:r>
          </a:p>
          <a:p xmlns:a="http://schemas.openxmlformats.org/drawingml/2006/main">
            <a:r>
              <a:t>输入：摘要和保留记录</a:t>
            </a:r>
          </a:p>
          <a:p xmlns:a="http://schemas.openxmlformats.org/drawingml/2006/main">
            <a:r>
              <a:t>输出：新的模型上下文</a:t>
            </a:r>
          </a:p>
          <a:p xmlns:a="http://schemas.openxmlformats.org/drawingml/2006/main">
            <a:r>
              <a:t>入口线索：viewState；watch；watchDoc；documentState</a:t>
            </a:r>
          </a:p>
          <a:p xmlns:a="http://schemas.openxmlformats.org/drawingml/2006/main">
            <a:r>
              <a:t>职责：状态提交后才对外展示；慢监听超过有界积压后收到最新整份快照。</a:t>
            </a:r>
          </a:p>
          <a:p xmlns:a="http://schemas.openxmlformats.org/drawingml/2006/main">
            <a:r>
              <a:t>源码：packages/durable/src/harness/live.ts</a:t>
            </a:r>
          </a:p>
          <a:p xmlns:a="http://schemas.openxmlformats.org/drawingml/2006/main">
            <a:r>
              <a:t>packages/durable/src/harness/view.ts</a:t>
            </a:r>
          </a:p>
          <a:p xmlns:a="http://schemas.openxmlformats.org/drawingml/2006/main">
            <a:r>
              <a:t>packages/durable/src/session/observation.ts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4. 核对图像预算</a:t>
            </a:r>
          </a:p>
          <a:p xmlns:a="http://schemas.openxmlformats.org/drawingml/2006/main">
            <a:r>
              <a:t>检查图像输入和模型限制，在持久消息与请求投影之间核对处理阶段。</a:t>
            </a:r>
          </a:p>
          <a:p xmlns:a="http://schemas.openxmlformats.org/drawingml/2006/main">
            <a:r>
              <a:t>输入：图像消息与模型能力</a:t>
            </a:r>
          </a:p>
          <a:p xmlns:a="http://schemas.openxmlformats.org/drawingml/2006/main">
            <a:r>
              <a:t>输出：符合当前请求条件的输入</a:t>
            </a:r>
          </a:p>
          <a:p xmlns:a="http://schemas.openxmlformats.org/drawingml/2006/main">
            <a:r>
              <a:t>入口线索：createCodingTools({ images })；images/node；images/cloudflare</a:t>
            </a:r>
          </a:p>
          <a:p xmlns:a="http://schemas.openxmlformats.org/drawingml/2006/main">
            <a:r>
              <a:t>职责：Node loader 在 worker 中处理图像，空闲 30 秒后退出；模型无图像输入能力时返回占位诊断。</a:t>
            </a:r>
          </a:p>
          <a:p xmlns:a="http://schemas.openxmlformats.org/drawingml/2006/main">
            <a:r>
              <a:t>源码：packages/durable/src/images/cloudflare.ts</a:t>
            </a:r>
          </a:p>
          <a:p xmlns:a="http://schemas.openxmlformats.org/drawingml/2006/main">
            <a:r>
              <a:t>packages/durable/src/images/exif.ts</a:t>
            </a:r>
          </a:p>
          <a:p xmlns:a="http://schemas.openxmlformats.org/drawingml/2006/main">
            <a:r>
              <a:t>packages/durable/src/images/index.ts</a:t>
            </a:r>
          </a:p>
          <a:p xmlns:a="http://schemas.openxmlformats.org/drawingml/2006/main">
            <a:r>
              <a:t>packages/durable/src/images/node-worker.ts</a:t>
            </a:r>
          </a:p>
          <a:p xmlns:a="http://schemas.openxmlformats.org/drawingml/2006/main">
            <a:r>
              <a:t>packages/durable/src/images/node.ts</a:t>
            </a:r>
          </a:p>
          <a:p xmlns:a="http://schemas.openxmlformats.org/drawingml/2006/main">
            <a:r>
              <a:t>packages/durable/src/images/photon-wasm.d.ts</a:t>
            </a:r>
          </a:p>
          <a:p xmlns:a="http://schemas.openxmlformats.org/drawingml/2006/main">
            <a:r>
              <a:t>packages/durable/src/tools/image-processor.ts</a:t>
            </a:r>
          </a:p>
          <a:p xmlns:a="http://schemas.openxmlformats.org/drawingml/2006/main">
            <a:r>
              <a:t>packages/durable/src/tools/image.ts</a:t>
            </a:r>
          </a:p>
          <a:p xmlns:a="http://schemas.openxmlformats.org/drawingml/2006/main">
            <a:r>
              <a:t>packages/durable/src/tools/read.ts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失败与恢复：摘要失败不能直接伪装为压缩成功；取消与任务恢复需要保留清晰状态。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练习：找出一项压缩测试，写出压缩前后仍应保留的信息及应变化的上下文内容。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参考判断：记录历史、模型投影和观察视图是三个层次，不能只断言消息数量减少。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功能编号：DUR-21, DUR-22, DUR-27, DUR-28, DUR-37, DUR-42, DUR-43, DUR-69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文档来源：</a:t>
            </a:r>
          </a:p>
          <a:p xmlns:a="http://schemas.openxmlformats.org/drawingml/2006/main">
            <a:r>
              <a:t>packages/durable/README.md</a:t>
            </a:r>
          </a:p>
          <a:p xmlns:a="http://schemas.openxmlformats.org/drawingml/2006/main">
            <a:r>
              <a:t>packages/durable/CHANGELOG.md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关联测试阅读线索（未在演示文稿中执行）：</a:t>
            </a:r>
          </a:p>
          <a:p xmlns:a="http://schemas.openxmlformats.org/drawingml/2006/main">
            <a:r>
              <a:t>packages/durable/test/harness-compaction.test.ts</a:t>
            </a:r>
          </a:p>
          <a:p xmlns:a="http://schemas.openxmlformats.org/drawingml/2006/main">
            <a:r>
              <a:t>packages/durable/test/harness-storage-failure.test.ts</a:t>
            </a:r>
          </a:p>
          <a:p xmlns:a="http://schemas.openxmlformats.org/drawingml/2006/main">
            <a:r>
              <a:t>packages/durable/test/tools-images.test.ts</a:t>
            </a:r>
          </a:p>
          <a:p xmlns:a="http://schemas.openxmlformats.org/drawingml/2006/main">
            <a:r>
              <a:t>packages/durable/test/images-wasm-module.test.ts</a:t>
            </a:r>
          </a:p>
          <a:p xmlns:a="http://schemas.openxmlformats.org/drawingml/2006/main">
            <a:r>
              <a:t>packages/durable/test/tools-read-differential.test.ts</a:t>
            </a:r>
          </a:p>
          <a:p xmlns:a="http://schemas.openxmlformats.org/drawingml/2006/main">
            <a:r>
              <a:t>packages/durable/test/tools.test.ts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源码基线：6cd9d957a9fd50bc504d45b72834ed9dd85a20b6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流程为教学阅读顺序，可选分支不表示每次运行必经。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在可恢复任务里执行脚本，同时允许按需工具发现与分类/图像调用。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配置脚本能力</a:t>
            </a:r>
          </a:p>
          <a:p xmlns:a="http://schemas.openxmlformats.org/drawingml/2006/main">
            <a:r>
              <a:t>从 harness 的 codemode 装配确定注入工具、存储和运行环境。</a:t>
            </a:r>
          </a:p>
          <a:p xmlns:a="http://schemas.openxmlformats.org/drawingml/2006/main">
            <a:r>
              <a:t>输入：会话设置和 registry</a:t>
            </a:r>
          </a:p>
          <a:p xmlns:a="http://schemas.openxmlformats.org/drawingml/2006/main">
            <a:r>
              <a:t>输出：可恢复脚本任务</a:t>
            </a:r>
          </a:p>
          <a:p xmlns:a="http://schemas.openxmlformats.org/drawingml/2006/main">
            <a:r>
              <a:t>入口线索：createCodemodeExtension / createCodemodeTool / CODEMODE_MODULE_VERSION</a:t>
            </a:r>
          </a:p>
          <a:p xmlns:a="http://schemas.openxmlformats.org/drawingml/2006/main">
            <a:r>
              <a:t>职责：已完成子调用不重复执行；代码指纹、版本或响应顺序不匹配时失败。关闭沙箱不等于确定脚本最终结果。</a:t>
            </a:r>
          </a:p>
          <a:p xmlns:a="http://schemas.openxmlformats.org/drawingml/2006/main">
            <a:r>
              <a:t>源码：packages/durable/src/codemode/codemode.ts</a:t>
            </a:r>
          </a:p>
          <a:p xmlns:a="http://schemas.openxmlformats.org/drawingml/2006/main">
            <a:r>
              <a:t>packages/durable/src/codemode/index.ts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2. 发现并调用工具</a:t>
            </a:r>
          </a:p>
          <a:p xmlns:a="http://schemas.openxmlformats.org/drawingml/2006/main">
            <a:r>
              <a:t>比较工具搜索与脚本声明的关系，确认发现结果如何进入下一次执行。</a:t>
            </a:r>
          </a:p>
          <a:p xmlns:a="http://schemas.openxmlformats.org/drawingml/2006/main">
            <a:r>
              <a:t>输入：查询与工具目录</a:t>
            </a:r>
          </a:p>
          <a:p xmlns:a="http://schemas.openxmlformats.org/drawingml/2006/main">
            <a:r>
              <a:t>输出：可执行工具引用</a:t>
            </a:r>
          </a:p>
          <a:p xmlns:a="http://schemas.openxmlformats.org/drawingml/2006/main">
            <a:r>
              <a:t>入口线索：searchTools / describeTool / describeNamespace</a:t>
            </a:r>
          </a:p>
          <a:p xmlns:a="http://schemas.openxmlformats.org/drawingml/2006/main">
            <a:r>
              <a:t>职责：默认内联预算 3000 tokens；延迟工具通过查询发现，工具可调用资格与模型直接声明分别管理。</a:t>
            </a:r>
          </a:p>
          <a:p xmlns:a="http://schemas.openxmlformats.org/drawingml/2006/main">
            <a:r>
              <a:t>源码：packages/durable/src/codemode/codemode.ts</a:t>
            </a:r>
          </a:p>
          <a:p xmlns:a="http://schemas.openxmlformats.org/drawingml/2006/main">
            <a:r>
              <a:t>packages/durable/src/codemode/describe.ts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3. 执行模型子操作</a:t>
            </a:r>
          </a:p>
          <a:p xmlns:a="http://schemas.openxmlformats.org/drawingml/2006/main">
            <a:r>
              <a:t>检查 classify / generateImages 的输入、结果与 usage，核对持久任务中的关联。</a:t>
            </a:r>
          </a:p>
          <a:p xmlns:a="http://schemas.openxmlformats.org/drawingml/2006/main">
            <a:r>
              <a:t>输入：脚本模型调用</a:t>
            </a:r>
          </a:p>
          <a:p xmlns:a="http://schemas.openxmlformats.org/drawingml/2006/main">
            <a:r>
              <a:t>输出：分类/图像结果与用量</a:t>
            </a:r>
          </a:p>
          <a:p xmlns:a="http://schemas.openxmlformats.org/drawingml/2006/main">
            <a:r>
              <a:t>入口线索：models.classify / models.generateImages / models: false</a:t>
            </a:r>
          </a:p>
          <a:p xmlns:a="http://schemas.openxmlformats.org/drawingml/2006/main">
            <a:r>
              <a:t>职责：可以禁用模型助手；执行与恢复仍遵循持久任务和提供商契约。</a:t>
            </a:r>
          </a:p>
          <a:p xmlns:a="http://schemas.openxmlformats.org/drawingml/2006/main">
            <a:r>
              <a:t>源码：packages/durable/src/codemode/models.ts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4. 提交状态和输出</a:t>
            </a:r>
          </a:p>
          <a:p xmlns:a="http://schemas.openxmlformats.org/drawingml/2006/main">
            <a:r>
              <a:t>标出脚本状态、输出文件和嵌套任务结果的提交与保留点。</a:t>
            </a:r>
          </a:p>
          <a:p xmlns:a="http://schemas.openxmlformats.org/drawingml/2006/main">
            <a:r>
              <a:t>输入：执行结果与 storeWrites</a:t>
            </a:r>
          </a:p>
          <a:p xmlns:a="http://schemas.openxmlformats.org/drawingml/2006/main">
            <a:r>
              <a:t>输出：可恢复的脚本状态</a:t>
            </a:r>
          </a:p>
          <a:p xmlns:a="http://schemas.openxmlformats.org/drawingml/2006/main">
            <a:r>
              <a:t>入口线索：CodemodeStoreDoc / store / load / output</a:t>
            </a:r>
          </a:p>
          <a:p xmlns:a="http://schemas.openxmlformats.org/drawingml/2006/main">
            <a:r>
              <a:t>职责：完整大文本写临时文件；结构化错误值的返回与抛错由工具 schema 和输出决定。</a:t>
            </a:r>
          </a:p>
          <a:p xmlns:a="http://schemas.openxmlformats.org/drawingml/2006/main">
            <a:r>
              <a:t>源码：packages/durable/src/codemode/codemode.ts</a:t>
            </a:r>
          </a:p>
          <a:p xmlns:a="http://schemas.openxmlformats.org/drawingml/2006/main">
            <a:r>
              <a:t>packages/durable/src/codemode/output.ts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失败与恢复：脚本可恢复不等于宿主副作用可随意重跑；工具发现结果也不能绕过授权或校验。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练习：对照持久 codemode 测试，追踪一个嵌套调用从脚本到工具任务再回到结果。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参考判断：应保留嵌套调用身份与检查点，并说明成功写入和失败状态的处理区别。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功能编号：DUR-62, DUR-63, DUR-64, DUR-65, DUR-66, DUR-67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文档来源：</a:t>
            </a:r>
          </a:p>
          <a:p xmlns:a="http://schemas.openxmlformats.org/drawingml/2006/main">
            <a:r>
              <a:t>packages/durable/README.md</a:t>
            </a:r>
          </a:p>
          <a:p xmlns:a="http://schemas.openxmlformats.org/drawingml/2006/main">
            <a:r>
              <a:t>packages/durable/CHANGELOG.md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关联测试阅读线索（未在演示文稿中执行）：</a:t>
            </a:r>
          </a:p>
          <a:p xmlns:a="http://schemas.openxmlformats.org/drawingml/2006/main">
            <a:r>
              <a:t>packages/durable/test/codemode-bench.ts</a:t>
            </a:r>
          </a:p>
          <a:p xmlns:a="http://schemas.openxmlformats.org/drawingml/2006/main">
            <a:r>
              <a:t>packages/durable/test/codemode-describe.test.ts</a:t>
            </a:r>
          </a:p>
          <a:p xmlns:a="http://schemas.openxmlformats.org/drawingml/2006/main">
            <a:r>
              <a:t>packages/durable/test/codemode-models.test.ts</a:t>
            </a:r>
          </a:p>
          <a:p xmlns:a="http://schemas.openxmlformats.org/drawingml/2006/main">
            <a:r>
              <a:t>packages/durable/test/codemode.test.ts</a:t>
            </a:r>
          </a:p>
          <a:p xmlns:a="http://schemas.openxmlformats.org/drawingml/2006/main">
            <a:r>
              <a:t>packages/durable/test/harness-generation.test.ts</a:t>
            </a:r>
          </a:p>
          <a:p xmlns:a="http://schemas.openxmlformats.org/drawingml/2006/main">
            <a:r>
              <a:t>packages/durable/test/harness-prompt.test.ts</a:t>
            </a:r>
          </a:p>
          <a:p xmlns:a="http://schemas.openxmlformats.org/drawingml/2006/main">
            <a:r>
              <a:t>packages/durable/test/harness-registry.test.ts</a:t>
            </a:r>
          </a:p>
          <a:p xmlns:a="http://schemas.openxmlformats.org/drawingml/2006/main">
            <a:r>
              <a:t>packages/durable/test/tool-search.test.ts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源码基线：6cd9d957a9fd50bc504d45b72834ed9dd85a20b6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流程为教学阅读顺序，可选分支不表示每次运行必经。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在可恢复任务里执行脚本，同时允许按需工具发现与分类/图像调用。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配置脚本能力</a:t>
            </a:r>
          </a:p>
          <a:p xmlns:a="http://schemas.openxmlformats.org/drawingml/2006/main">
            <a:r>
              <a:t>从 harness 的 codemode 装配确定注入工具、存储和运行环境。</a:t>
            </a:r>
          </a:p>
          <a:p xmlns:a="http://schemas.openxmlformats.org/drawingml/2006/main">
            <a:r>
              <a:t>输入：会话设置和 registry</a:t>
            </a:r>
          </a:p>
          <a:p xmlns:a="http://schemas.openxmlformats.org/drawingml/2006/main">
            <a:r>
              <a:t>输出：可恢复脚本任务</a:t>
            </a:r>
          </a:p>
          <a:p xmlns:a="http://schemas.openxmlformats.org/drawingml/2006/main">
            <a:r>
              <a:t>入口线索：createCodemodeExtension / createCodemodeTool / CODEMODE_MODULE_VERSION</a:t>
            </a:r>
          </a:p>
          <a:p xmlns:a="http://schemas.openxmlformats.org/drawingml/2006/main">
            <a:r>
              <a:t>职责：已完成子调用不重复执行；代码指纹、版本或响应顺序不匹配时失败。关闭沙箱不等于确定脚本最终结果。</a:t>
            </a:r>
          </a:p>
          <a:p xmlns:a="http://schemas.openxmlformats.org/drawingml/2006/main">
            <a:r>
              <a:t>源码：packages/durable/src/codemode/codemode.ts</a:t>
            </a:r>
          </a:p>
          <a:p xmlns:a="http://schemas.openxmlformats.org/drawingml/2006/main">
            <a:r>
              <a:t>packages/durable/src/codemode/index.ts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2. 发现并调用工具</a:t>
            </a:r>
          </a:p>
          <a:p xmlns:a="http://schemas.openxmlformats.org/drawingml/2006/main">
            <a:r>
              <a:t>比较工具搜索与脚本声明的关系，确认发现结果如何进入下一次执行。</a:t>
            </a:r>
          </a:p>
          <a:p xmlns:a="http://schemas.openxmlformats.org/drawingml/2006/main">
            <a:r>
              <a:t>输入：查询与工具目录</a:t>
            </a:r>
          </a:p>
          <a:p xmlns:a="http://schemas.openxmlformats.org/drawingml/2006/main">
            <a:r>
              <a:t>输出：可执行工具引用</a:t>
            </a:r>
          </a:p>
          <a:p xmlns:a="http://schemas.openxmlformats.org/drawingml/2006/main">
            <a:r>
              <a:t>入口线索：searchTools / describeTool / describeNamespace</a:t>
            </a:r>
          </a:p>
          <a:p xmlns:a="http://schemas.openxmlformats.org/drawingml/2006/main">
            <a:r>
              <a:t>职责：默认内联预算 3000 tokens；延迟工具通过查询发现，工具可调用资格与模型直接声明分别管理。</a:t>
            </a:r>
          </a:p>
          <a:p xmlns:a="http://schemas.openxmlformats.org/drawingml/2006/main">
            <a:r>
              <a:t>源码：packages/durable/src/codemode/codemode.ts</a:t>
            </a:r>
          </a:p>
          <a:p xmlns:a="http://schemas.openxmlformats.org/drawingml/2006/main">
            <a:r>
              <a:t>packages/durable/src/codemode/describe.ts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3. 执行模型子操作</a:t>
            </a:r>
          </a:p>
          <a:p xmlns:a="http://schemas.openxmlformats.org/drawingml/2006/main">
            <a:r>
              <a:t>检查 classify / generateImages 的输入、结果与 usage，核对持久任务中的关联。</a:t>
            </a:r>
          </a:p>
          <a:p xmlns:a="http://schemas.openxmlformats.org/drawingml/2006/main">
            <a:r>
              <a:t>输入：脚本模型调用</a:t>
            </a:r>
          </a:p>
          <a:p xmlns:a="http://schemas.openxmlformats.org/drawingml/2006/main">
            <a:r>
              <a:t>输出：分类/图像结果与用量</a:t>
            </a:r>
          </a:p>
          <a:p xmlns:a="http://schemas.openxmlformats.org/drawingml/2006/main">
            <a:r>
              <a:t>入口线索：models.classify / models.generateImages / models: false</a:t>
            </a:r>
          </a:p>
          <a:p xmlns:a="http://schemas.openxmlformats.org/drawingml/2006/main">
            <a:r>
              <a:t>职责：可以禁用模型助手；执行与恢复仍遵循持久任务和提供商契约。</a:t>
            </a:r>
          </a:p>
          <a:p xmlns:a="http://schemas.openxmlformats.org/drawingml/2006/main">
            <a:r>
              <a:t>源码：packages/durable/src/codemode/models.ts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4. 提交状态和输出</a:t>
            </a:r>
          </a:p>
          <a:p xmlns:a="http://schemas.openxmlformats.org/drawingml/2006/main">
            <a:r>
              <a:t>标出脚本状态、输出文件和嵌套任务结果的提交与保留点。</a:t>
            </a:r>
          </a:p>
          <a:p xmlns:a="http://schemas.openxmlformats.org/drawingml/2006/main">
            <a:r>
              <a:t>输入：执行结果与 storeWrites</a:t>
            </a:r>
          </a:p>
          <a:p xmlns:a="http://schemas.openxmlformats.org/drawingml/2006/main">
            <a:r>
              <a:t>输出：可恢复的脚本状态</a:t>
            </a:r>
          </a:p>
          <a:p xmlns:a="http://schemas.openxmlformats.org/drawingml/2006/main">
            <a:r>
              <a:t>入口线索：CodemodeStoreDoc / store / load / output</a:t>
            </a:r>
          </a:p>
          <a:p xmlns:a="http://schemas.openxmlformats.org/drawingml/2006/main">
            <a:r>
              <a:t>职责：完整大文本写临时文件；结构化错误值的返回与抛错由工具 schema 和输出决定。</a:t>
            </a:r>
          </a:p>
          <a:p xmlns:a="http://schemas.openxmlformats.org/drawingml/2006/main">
            <a:r>
              <a:t>源码：packages/durable/src/codemode/codemode.ts</a:t>
            </a:r>
          </a:p>
          <a:p xmlns:a="http://schemas.openxmlformats.org/drawingml/2006/main">
            <a:r>
              <a:t>packages/durable/src/codemode/output.ts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失败与恢复：脚本可恢复不等于宿主副作用可随意重跑；工具发现结果也不能绕过授权或校验。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练习：对照持久 codemode 测试，追踪一个嵌套调用从脚本到工具任务再回到结果。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参考判断：应保留嵌套调用身份与检查点，并说明成功写入和失败状态的处理区别。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功能编号：DUR-62, DUR-63, DUR-64, DUR-65, DUR-66, DUR-67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文档来源：</a:t>
            </a:r>
          </a:p>
          <a:p xmlns:a="http://schemas.openxmlformats.org/drawingml/2006/main">
            <a:r>
              <a:t>packages/durable/README.md</a:t>
            </a:r>
          </a:p>
          <a:p xmlns:a="http://schemas.openxmlformats.org/drawingml/2006/main">
            <a:r>
              <a:t>packages/durable/CHANGELOG.md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关联测试阅读线索（未在演示文稿中执行）：</a:t>
            </a:r>
          </a:p>
          <a:p xmlns:a="http://schemas.openxmlformats.org/drawingml/2006/main">
            <a:r>
              <a:t>packages/durable/test/codemode-bench.ts</a:t>
            </a:r>
          </a:p>
          <a:p xmlns:a="http://schemas.openxmlformats.org/drawingml/2006/main">
            <a:r>
              <a:t>packages/durable/test/codemode-describe.test.ts</a:t>
            </a:r>
          </a:p>
          <a:p xmlns:a="http://schemas.openxmlformats.org/drawingml/2006/main">
            <a:r>
              <a:t>packages/durable/test/codemode-models.test.ts</a:t>
            </a:r>
          </a:p>
          <a:p xmlns:a="http://schemas.openxmlformats.org/drawingml/2006/main">
            <a:r>
              <a:t>packages/durable/test/codemode.test.ts</a:t>
            </a:r>
          </a:p>
          <a:p xmlns:a="http://schemas.openxmlformats.org/drawingml/2006/main">
            <a:r>
              <a:t>packages/durable/test/harness-generation.test.ts</a:t>
            </a:r>
          </a:p>
          <a:p xmlns:a="http://schemas.openxmlformats.org/drawingml/2006/main">
            <a:r>
              <a:t>packages/durable/test/harness-prompt.test.ts</a:t>
            </a:r>
          </a:p>
          <a:p xmlns:a="http://schemas.openxmlformats.org/drawingml/2006/main">
            <a:r>
              <a:t>packages/durable/test/harness-registry.test.ts</a:t>
            </a:r>
          </a:p>
          <a:p xmlns:a="http://schemas.openxmlformats.org/drawingml/2006/main">
            <a:r>
              <a:t>packages/durable/test/tool-search.test.ts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源码基线：6cd9d957a9fd50bc504d45b72834ed9dd85a20b6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流程为教学阅读顺序，可选分支不表示每次运行必经。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在可恢复任务里执行脚本，同时允许按需工具发现与分类/图像调用。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配置脚本能力</a:t>
            </a:r>
          </a:p>
          <a:p xmlns:a="http://schemas.openxmlformats.org/drawingml/2006/main">
            <a:r>
              <a:t>从 harness 的 codemode 装配确定注入工具、存储和运行环境。</a:t>
            </a:r>
          </a:p>
          <a:p xmlns:a="http://schemas.openxmlformats.org/drawingml/2006/main">
            <a:r>
              <a:t>输入：会话设置和 registry</a:t>
            </a:r>
          </a:p>
          <a:p xmlns:a="http://schemas.openxmlformats.org/drawingml/2006/main">
            <a:r>
              <a:t>输出：可恢复脚本任务</a:t>
            </a:r>
          </a:p>
          <a:p xmlns:a="http://schemas.openxmlformats.org/drawingml/2006/main">
            <a:r>
              <a:t>入口线索：createCodemodeExtension / createCodemodeTool / CODEMODE_MODULE_VERSION</a:t>
            </a:r>
          </a:p>
          <a:p xmlns:a="http://schemas.openxmlformats.org/drawingml/2006/main">
            <a:r>
              <a:t>职责：已完成子调用不重复执行；代码指纹、版本或响应顺序不匹配时失败。关闭沙箱不等于确定脚本最终结果。</a:t>
            </a:r>
          </a:p>
          <a:p xmlns:a="http://schemas.openxmlformats.org/drawingml/2006/main">
            <a:r>
              <a:t>源码：packages/durable/src/codemode/codemode.ts</a:t>
            </a:r>
          </a:p>
          <a:p xmlns:a="http://schemas.openxmlformats.org/drawingml/2006/main">
            <a:r>
              <a:t>packages/durable/src/codemode/index.ts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2. 发现并调用工具</a:t>
            </a:r>
          </a:p>
          <a:p xmlns:a="http://schemas.openxmlformats.org/drawingml/2006/main">
            <a:r>
              <a:t>比较工具搜索与脚本声明的关系，确认发现结果如何进入下一次执行。</a:t>
            </a:r>
          </a:p>
          <a:p xmlns:a="http://schemas.openxmlformats.org/drawingml/2006/main">
            <a:r>
              <a:t>输入：查询与工具目录</a:t>
            </a:r>
          </a:p>
          <a:p xmlns:a="http://schemas.openxmlformats.org/drawingml/2006/main">
            <a:r>
              <a:t>输出：可执行工具引用</a:t>
            </a:r>
          </a:p>
          <a:p xmlns:a="http://schemas.openxmlformats.org/drawingml/2006/main">
            <a:r>
              <a:t>入口线索：searchTools / describeTool / describeNamespace</a:t>
            </a:r>
          </a:p>
          <a:p xmlns:a="http://schemas.openxmlformats.org/drawingml/2006/main">
            <a:r>
              <a:t>职责：默认内联预算 3000 tokens；延迟工具通过查询发现，工具可调用资格与模型直接声明分别管理。</a:t>
            </a:r>
          </a:p>
          <a:p xmlns:a="http://schemas.openxmlformats.org/drawingml/2006/main">
            <a:r>
              <a:t>源码：packages/durable/src/codemode/codemode.ts</a:t>
            </a:r>
          </a:p>
          <a:p xmlns:a="http://schemas.openxmlformats.org/drawingml/2006/main">
            <a:r>
              <a:t>packages/durable/src/codemode/describe.ts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3. 执行模型子操作</a:t>
            </a:r>
          </a:p>
          <a:p xmlns:a="http://schemas.openxmlformats.org/drawingml/2006/main">
            <a:r>
              <a:t>检查 classify / generateImages 的输入、结果与 usage，核对持久任务中的关联。</a:t>
            </a:r>
          </a:p>
          <a:p xmlns:a="http://schemas.openxmlformats.org/drawingml/2006/main">
            <a:r>
              <a:t>输入：脚本模型调用</a:t>
            </a:r>
          </a:p>
          <a:p xmlns:a="http://schemas.openxmlformats.org/drawingml/2006/main">
            <a:r>
              <a:t>输出：分类/图像结果与用量</a:t>
            </a:r>
          </a:p>
          <a:p xmlns:a="http://schemas.openxmlformats.org/drawingml/2006/main">
            <a:r>
              <a:t>入口线索：models.classify / models.generateImages / models: false</a:t>
            </a:r>
          </a:p>
          <a:p xmlns:a="http://schemas.openxmlformats.org/drawingml/2006/main">
            <a:r>
              <a:t>职责：可以禁用模型助手；执行与恢复仍遵循持久任务和提供商契约。</a:t>
            </a:r>
          </a:p>
          <a:p xmlns:a="http://schemas.openxmlformats.org/drawingml/2006/main">
            <a:r>
              <a:t>源码：packages/durable/src/codemode/models.ts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4. 提交状态和输出</a:t>
            </a:r>
          </a:p>
          <a:p xmlns:a="http://schemas.openxmlformats.org/drawingml/2006/main">
            <a:r>
              <a:t>标出脚本状态、输出文件和嵌套任务结果的提交与保留点。</a:t>
            </a:r>
          </a:p>
          <a:p xmlns:a="http://schemas.openxmlformats.org/drawingml/2006/main">
            <a:r>
              <a:t>输入：执行结果与 storeWrites</a:t>
            </a:r>
          </a:p>
          <a:p xmlns:a="http://schemas.openxmlformats.org/drawingml/2006/main">
            <a:r>
              <a:t>输出：可恢复的脚本状态</a:t>
            </a:r>
          </a:p>
          <a:p xmlns:a="http://schemas.openxmlformats.org/drawingml/2006/main">
            <a:r>
              <a:t>入口线索：CodemodeStoreDoc / store / load / output</a:t>
            </a:r>
          </a:p>
          <a:p xmlns:a="http://schemas.openxmlformats.org/drawingml/2006/main">
            <a:r>
              <a:t>职责：完整大文本写临时文件；结构化错误值的返回与抛错由工具 schema 和输出决定。</a:t>
            </a:r>
          </a:p>
          <a:p xmlns:a="http://schemas.openxmlformats.org/drawingml/2006/main">
            <a:r>
              <a:t>源码：packages/durable/src/codemode/codemode.ts</a:t>
            </a:r>
          </a:p>
          <a:p xmlns:a="http://schemas.openxmlformats.org/drawingml/2006/main">
            <a:r>
              <a:t>packages/durable/src/codemode/output.ts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失败与恢复：脚本可恢复不等于宿主副作用可随意重跑；工具发现结果也不能绕过授权或校验。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练习：对照持久 codemode 测试，追踪一个嵌套调用从脚本到工具任务再回到结果。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参考判断：应保留嵌套调用身份与检查点，并说明成功写入和失败状态的处理区别。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功能编号：DUR-62, DUR-63, DUR-64, DUR-65, DUR-66, DUR-67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文档来源：</a:t>
            </a:r>
          </a:p>
          <a:p xmlns:a="http://schemas.openxmlformats.org/drawingml/2006/main">
            <a:r>
              <a:t>packages/durable/README.md</a:t>
            </a:r>
          </a:p>
          <a:p xmlns:a="http://schemas.openxmlformats.org/drawingml/2006/main">
            <a:r>
              <a:t>packages/durable/CHANGELOG.md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关联测试阅读线索（未在演示文稿中执行）：</a:t>
            </a:r>
          </a:p>
          <a:p xmlns:a="http://schemas.openxmlformats.org/drawingml/2006/main">
            <a:r>
              <a:t>packages/durable/test/codemode-bench.ts</a:t>
            </a:r>
          </a:p>
          <a:p xmlns:a="http://schemas.openxmlformats.org/drawingml/2006/main">
            <a:r>
              <a:t>packages/durable/test/codemode-describe.test.ts</a:t>
            </a:r>
          </a:p>
          <a:p xmlns:a="http://schemas.openxmlformats.org/drawingml/2006/main">
            <a:r>
              <a:t>packages/durable/test/codemode-models.test.ts</a:t>
            </a:r>
          </a:p>
          <a:p xmlns:a="http://schemas.openxmlformats.org/drawingml/2006/main">
            <a:r>
              <a:t>packages/durable/test/codemode.test.ts</a:t>
            </a:r>
          </a:p>
          <a:p xmlns:a="http://schemas.openxmlformats.org/drawingml/2006/main">
            <a:r>
              <a:t>packages/durable/test/harness-generation.test.ts</a:t>
            </a:r>
          </a:p>
          <a:p xmlns:a="http://schemas.openxmlformats.org/drawingml/2006/main">
            <a:r>
              <a:t>packages/durable/test/harness-prompt.test.ts</a:t>
            </a:r>
          </a:p>
          <a:p xmlns:a="http://schemas.openxmlformats.org/drawingml/2006/main">
            <a:r>
              <a:t>packages/durable/test/harness-registry.test.ts</a:t>
            </a:r>
          </a:p>
          <a:p xmlns:a="http://schemas.openxmlformats.org/drawingml/2006/main">
            <a:r>
              <a:t>packages/durable/test/tool-search.test.ts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源码基线：6cd9d957a9fd50bc504d45b72834ed9dd85a20b6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流程为教学阅读顺序，可选分支不表示每次运行必经。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让多个调用者访问同一对象，并在作用域结束时释放资源。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定义契约和变体</a:t>
            </a:r>
          </a:p>
          <a:p xmlns:a="http://schemas.openxmlformats.org/drawingml/2006/main">
            <a:r>
              <a:t>从 remote/local/method 的 schema 明确对象输入、方法与状态，检查 principal 相关变体。</a:t>
            </a:r>
          </a:p>
          <a:p xmlns:a="http://schemas.openxmlformats.org/drawingml/2006/main">
            <a:r>
              <a:t>输入：对象能力要求</a:t>
            </a:r>
          </a:p>
          <a:p xmlns:a="http://schemas.openxmlformats.org/drawingml/2006/main">
            <a:r>
              <a:t>输出：契约和允许的方法</a:t>
            </a:r>
          </a:p>
          <a:p xmlns:a="http://schemas.openxmlformats.org/drawingml/2006/main">
            <a:r>
              <a:t>入口线索：local / remote / method / opaque / bind / coverage</a:t>
            </a:r>
          </a:p>
          <a:p xmlns:a="http://schemas.openxmlformats.org/drawingml/2006/main">
            <a:r>
              <a:t>职责：契约版本和 schema 参与兼容性检查；principal 变体只限定对象能力，完整认证由宿主负责。</a:t>
            </a:r>
          </a:p>
          <a:p xmlns:a="http://schemas.openxmlformats.org/drawingml/2006/main">
            <a:r>
              <a:t>源码：packages/chord/src/contract.ts</a:t>
            </a:r>
          </a:p>
          <a:p xmlns:a="http://schemas.openxmlformats.org/drawingml/2006/main">
            <a:r>
              <a:t>packages/chord/src/schema.ts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2. 提供对象实现</a:t>
            </a:r>
          </a:p>
          <a:p xmlns:a="http://schemas.openxmlformats.org/drawingml/2006/main">
            <a:r>
              <a:t>跟踪 serve、root 和 get，检查规范化输入与 principalKey 如何参与对象身份。</a:t>
            </a:r>
          </a:p>
          <a:p xmlns:a="http://schemas.openxmlformats.org/drawingml/2006/main">
            <a:r>
              <a:t>输入：对象类型与输入</a:t>
            </a:r>
          </a:p>
          <a:p xmlns:a="http://schemas.openxmlformats.org/drawingml/2006/main">
            <a:r>
              <a:t>输出：可用 Handle</a:t>
            </a:r>
          </a:p>
          <a:p xmlns:a="http://schemas.openxmlformats.org/drawingml/2006/main">
            <a:r>
              <a:t>入口线索：createHost / host.serve / host.root / ctx.get</a:t>
            </a:r>
          </a:p>
          <a:p xmlns:a="http://schemas.openxmlformats.org/drawingml/2006/main">
            <a:r>
              <a:t>职责：工厂同步创建实现；激活等待资源与持有依赖就绪，root 结束释放该调用持有的对象。</a:t>
            </a:r>
          </a:p>
          <a:p xmlns:a="http://schemas.openxmlformats.org/drawingml/2006/main">
            <a:r>
              <a:t>源码：packages/chord/src/host.ts</a:t>
            </a:r>
          </a:p>
          <a:p xmlns:a="http://schemas.openxmlformats.org/drawingml/2006/main">
            <a:r>
              <a:t>packages/chord/src/record.ts</a:t>
            </a:r>
          </a:p>
          <a:p xmlns:a="http://schemas.openxmlformats.org/drawingml/2006/main">
            <a:r>
              <a:t>packages/chord/src/types.ts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3. 传递调用上下文</a:t>
            </a:r>
          </a:p>
          <a:p xmlns:a="http://schemas.openxmlformats.org/drawingml/2006/main">
            <a:r>
              <a:t>沿取消、deadline 和 scope value 观察调用传递；Context 不是自动认证系统。</a:t>
            </a:r>
          </a:p>
          <a:p xmlns:a="http://schemas.openxmlformats.org/drawingml/2006/main">
            <a:r>
              <a:t>输入：调用上下文</a:t>
            </a:r>
          </a:p>
          <a:p xmlns:a="http://schemas.openxmlformats.org/drawingml/2006/main">
            <a:r>
              <a:t>输出：受范围约束的执行</a:t>
            </a:r>
          </a:p>
          <a:p xmlns:a="http://schemas.openxmlformats.org/drawingml/2006/main">
            <a:r>
              <a:t>入口线索：Context / withCancel / withContextValue</a:t>
            </a:r>
          </a:p>
          <a:p xmlns:a="http://schemas.openxmlformats.org/drawingml/2006/main">
            <a:r>
              <a:t>职责：调用方负责提供上下文；上下文不是认证系统。</a:t>
            </a:r>
          </a:p>
          <a:p xmlns:a="http://schemas.openxmlformats.org/drawingml/2006/main">
            <a:r>
              <a:t>源码：packages/chord/src/context/index.ts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4. 释放持有与资源</a:t>
            </a:r>
          </a:p>
          <a:p xmlns:a="http://schemas.openxmlformats.org/drawingml/2006/main">
            <a:r>
              <a:t>检查 root 结束、依赖持有和 resource 清理，区分句柄存在与对象仍被有效持有。</a:t>
            </a:r>
          </a:p>
          <a:p xmlns:a="http://schemas.openxmlformats.org/drawingml/2006/main">
            <a:r>
              <a:t>输入：作用域结束</a:t>
            </a:r>
          </a:p>
          <a:p xmlns:a="http://schemas.openxmlformats.org/drawingml/2006/main">
            <a:r>
              <a:t>输出：资源释放或剩余持有</a:t>
            </a:r>
          </a:p>
          <a:p xmlns:a="http://schemas.openxmlformats.org/drawingml/2006/main">
            <a:r>
              <a:t>入口线索：self.state / cell / derivation / listener / resource</a:t>
            </a:r>
          </a:p>
          <a:p xmlns:a="http://schemas.openxmlformats.org/drawingml/2006/main">
            <a:r>
              <a:t>职责：句柄与状态读接口跨重载保持稳定；资源释放与迁移按运行时生命周期执行。</a:t>
            </a:r>
          </a:p>
          <a:p xmlns:a="http://schemas.openxmlformats.org/drawingml/2006/main">
            <a:r>
              <a:t>源码：packages/chord/src/cell.ts</a:t>
            </a:r>
          </a:p>
          <a:p xmlns:a="http://schemas.openxmlformats.org/drawingml/2006/main">
            <a:r>
              <a:t>packages/chord/src/declare.ts</a:t>
            </a:r>
          </a:p>
          <a:p xmlns:a="http://schemas.openxmlformats.org/drawingml/2006/main">
            <a:r>
              <a:t>packages/chord/src/publish.ts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失败与恢复：不同 principal 的句柄和状态不能任意共享；调用返回不总意味着所有对象立即销毁。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练习：从 Counter 教程追踪两个 root 获取同一对象，再逐个结束，说明资源何时释放。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参考判断：答案取决于身份与持有关系；应引用 host 和 lifecycle 测试验证。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功能编号：CHR-01, CHR-02, CHR-03, CHR-04, CHR-05, CHR-06, CHR-07, CHR-08, CHR-09, CHR-10, CHR-11, CHR-12, CHR-13, CHR-14, CHR-15, CHR-16, CHR-17, CHR-18, CHR-32, CHR-37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文档来源：</a:t>
            </a:r>
          </a:p>
          <a:p xmlns:a="http://schemas.openxmlformats.org/drawingml/2006/main">
            <a:r>
              <a:t>packages/chord/README.md</a:t>
            </a:r>
          </a:p>
          <a:p xmlns:a="http://schemas.openxmlformats.org/drawingml/2006/main">
            <a:r>
              <a:t>packages/durable/README.md</a:t>
            </a:r>
          </a:p>
          <a:p xmlns:a="http://schemas.openxmlformats.org/drawingml/2006/main">
            <a:r>
              <a:t>packages/chord/docs/guide.md</a:t>
            </a:r>
          </a:p>
          <a:p xmlns:a="http://schemas.openxmlformats.org/drawingml/2006/main">
            <a:r>
              <a:t>packages/chord/docs/spec.md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关联测试阅读线索（未在演示文稿中执行）：</a:t>
            </a:r>
          </a:p>
          <a:p xmlns:a="http://schemas.openxmlformats.org/drawingml/2006/main">
            <a:r>
              <a:t>packages/chord/test/contract.test.ts</a:t>
            </a:r>
          </a:p>
          <a:p xmlns:a="http://schemas.openxmlformats.org/drawingml/2006/main">
            <a:r>
              <a:t>packages/chord/test/review.test.ts</a:t>
            </a:r>
          </a:p>
          <a:p xmlns:a="http://schemas.openxmlformats.org/drawingml/2006/main">
            <a:r>
              <a:t>packages/chord/test/eager-reload.test.ts</a:t>
            </a:r>
          </a:p>
          <a:p xmlns:a="http://schemas.openxmlformats.org/drawingml/2006/main">
            <a:r>
              <a:t>packages/chord/test/context.test.ts</a:t>
            </a:r>
          </a:p>
          <a:p xmlns:a="http://schemas.openxmlformats.org/drawingml/2006/main">
            <a:r>
              <a:t>packages/chord/test/replicated-state-delivery.test.ts</a:t>
            </a:r>
          </a:p>
          <a:p xmlns:a="http://schemas.openxmlformats.org/drawingml/2006/main">
            <a:r>
              <a:t>packages/chord/test/replicated-state.test.ts</a:t>
            </a:r>
          </a:p>
          <a:p xmlns:a="http://schemas.openxmlformats.org/drawingml/2006/main">
            <a:r>
              <a:t>packages/durable/test/codemode-bench.ts</a:t>
            </a:r>
          </a:p>
          <a:p xmlns:a="http://schemas.openxmlformats.org/drawingml/2006/main">
            <a:r>
              <a:t>packages/durable/test/document-append-bench.ts</a:t>
            </a:r>
          </a:p>
          <a:p xmlns:a="http://schemas.openxmlformats.org/drawingml/2006/main">
            <a:r>
              <a:t>packages/durable/test/env-node-conformance.test.ts</a:t>
            </a:r>
          </a:p>
          <a:p xmlns:a="http://schemas.openxmlformats.org/drawingml/2006/main">
            <a:r>
              <a:t>packages/durable/test/env-node-spill.test.ts</a:t>
            </a:r>
          </a:p>
          <a:p xmlns:a="http://schemas.openxmlformats.org/drawingml/2006/main">
            <a:r>
              <a:t>packages/durable/test/env-node.test.ts</a:t>
            </a:r>
          </a:p>
          <a:p xmlns:a="http://schemas.openxmlformats.org/drawingml/2006/main">
            <a:r>
              <a:t>packages/durable/test/harness-nested-tools.test.ts</a:t>
            </a:r>
          </a:p>
          <a:p xmlns:a="http://schemas.openxmlformats.org/drawingml/2006/main">
            <a:r>
              <a:t>packages/durable/test/harness-tasks.test.ts</a:t>
            </a:r>
          </a:p>
          <a:p xmlns:a="http://schemas.openxmlformats.org/drawingml/2006/main">
            <a:r>
              <a:t>packages/durable/test/jsonl-storage.test.ts</a:t>
            </a:r>
          </a:p>
          <a:p xmlns:a="http://schemas.openxmlformats.org/drawingml/2006/main">
            <a:r>
              <a:t>packages/durable/test/memory-storage.test.ts</a:t>
            </a:r>
          </a:p>
          <a:p xmlns:a="http://schemas.openxmlformats.org/drawingml/2006/main">
            <a:r>
              <a:t>packages/durable/test/nested-images-bench.ts</a:t>
            </a:r>
          </a:p>
          <a:p xmlns:a="http://schemas.openxmlformats.org/drawingml/2006/main">
            <a:r>
              <a:t>packages/durable/test/nested-tools-bench.ts</a:t>
            </a:r>
          </a:p>
          <a:p xmlns:a="http://schemas.openxmlformats.org/drawingml/2006/main">
            <a:r>
              <a:t>packages/durable/test/scheduler-fanout-bench.ts</a:t>
            </a:r>
          </a:p>
          <a:p xmlns:a="http://schemas.openxmlformats.org/drawingml/2006/main">
            <a:r>
              <a:t>packages/durable/test/scheduler-memory-bench.ts</a:t>
            </a:r>
          </a:p>
          <a:p xmlns:a="http://schemas.openxmlformats.org/drawingml/2006/main">
            <a:r>
              <a:t>packages/durable/test/session-document-cache-bench.ts</a:t>
            </a:r>
          </a:p>
          <a:p xmlns:a="http://schemas.openxmlformats.org/drawingml/2006/main">
            <a:r>
              <a:t>packages/durable/test/session-support.ts</a:t>
            </a:r>
          </a:p>
          <a:p xmlns:a="http://schemas.openxmlformats.org/drawingml/2006/main">
            <a:r>
              <a:t>packages/durable/test/session-watches.test.ts</a:t>
            </a:r>
          </a:p>
          <a:p xmlns:a="http://schemas.openxmlformats.org/drawingml/2006/main">
            <a:r>
              <a:t>packages/durable/test/sqlite-facade.test.ts</a:t>
            </a:r>
          </a:p>
          <a:p xmlns:a="http://schemas.openxmlformats.org/drawingml/2006/main">
            <a:r>
              <a:t>packages/durable/test/sqlite-migrations.test.ts</a:t>
            </a:r>
          </a:p>
          <a:p xmlns:a="http://schemas.openxmlformats.org/drawingml/2006/main">
            <a:r>
              <a:t>packages/durable/test/sqlite-storage.test.ts</a:t>
            </a:r>
          </a:p>
          <a:p xmlns:a="http://schemas.openxmlformats.org/drawingml/2006/main">
            <a:r>
              <a:t>packages/durable/test/storage-memory.ts</a:t>
            </a:r>
          </a:p>
          <a:p xmlns:a="http://schemas.openxmlformats.org/drawingml/2006/main">
            <a:r>
              <a:t>packages/durable/test/storage.bench.ts</a:t>
            </a:r>
          </a:p>
          <a:p xmlns:a="http://schemas.openxmlformats.org/drawingml/2006/main">
            <a:r>
              <a:t>packages/durable/test/tool-output-bench.ts</a:t>
            </a:r>
          </a:p>
          <a:p xmlns:a="http://schemas.openxmlformats.org/drawingml/2006/main">
            <a:r>
              <a:t>packages/durable/test/tools-images.test.ts</a:t>
            </a:r>
          </a:p>
          <a:p xmlns:a="http://schemas.openxmlformats.org/drawingml/2006/main">
            <a:r>
              <a:t>packages/durable/test/tools-read-differential.test.ts</a:t>
            </a:r>
          </a:p>
          <a:p xmlns:a="http://schemas.openxmlformats.org/drawingml/2006/main">
            <a:r>
              <a:t>packages/durable/test/tools.test.ts</a:t>
            </a:r>
          </a:p>
          <a:p xmlns:a="http://schemas.openxmlformats.org/drawingml/2006/main">
            <a:r>
              <a:t>packages/env/test/differential.test.ts</a:t>
            </a:r>
          </a:p>
          <a:p xmlns:a="http://schemas.openxmlformats.org/drawingml/2006/main">
            <a:r>
              <a:t>packages/env/test/remote.test.ts</a:t>
            </a:r>
          </a:p>
          <a:p xmlns:a="http://schemas.openxmlformats.org/drawingml/2006/main">
            <a:r>
              <a:t>packages/env/test/ssh-external.test.ts</a:t>
            </a:r>
          </a:p>
          <a:p xmlns:a="http://schemas.openxmlformats.org/drawingml/2006/main">
            <a:r>
              <a:t>packages/env/test/ssh.test.ts</a:t>
            </a:r>
          </a:p>
          <a:p xmlns:a="http://schemas.openxmlformats.org/drawingml/2006/main">
            <a:r>
              <a:t>packages/durable/test/harness-generation.test.ts</a:t>
            </a:r>
          </a:p>
          <a:p xmlns:a="http://schemas.openxmlformats.org/drawingml/2006/main">
            <a:r>
              <a:t>packages/durable/test/harness-prompt.test.ts</a:t>
            </a:r>
          </a:p>
          <a:p xmlns:a="http://schemas.openxmlformats.org/drawingml/2006/main">
            <a:r>
              <a:t>packages/durable/test/harness-registry.test.ts</a:t>
            </a:r>
          </a:p>
          <a:p xmlns:a="http://schemas.openxmlformats.org/drawingml/2006/main">
            <a:r>
              <a:t>packages/durable/test/harness-compaction.test.ts</a:t>
            </a:r>
          </a:p>
          <a:p xmlns:a="http://schemas.openxmlformats.org/drawingml/2006/main">
            <a:r>
              <a:t>packages/durable/test/harness-scheduler-retention.test.ts</a:t>
            </a:r>
          </a:p>
          <a:p xmlns:a="http://schemas.openxmlformats.org/drawingml/2006/main">
            <a:r>
              <a:t>packages/durable/test/harness-storage-failure.test.ts</a:t>
            </a:r>
          </a:p>
          <a:p xmlns:a="http://schemas.openxmlformats.org/drawingml/2006/main">
            <a:r>
              <a:t>packages/durable/test/harness-output-skip.test.ts</a:t>
            </a:r>
          </a:p>
          <a:p xmlns:a="http://schemas.openxmlformats.org/drawingml/2006/main">
            <a:r>
              <a:t>packages/durable/test/harness-output.test.ts</a:t>
            </a:r>
          </a:p>
          <a:p xmlns:a="http://schemas.openxmlformats.org/drawingml/2006/main">
            <a:r>
              <a:t>packages/durable/test/harness-inbox.test.ts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源码基线：6cd9d957a9fd50bc504d45b72834ed9dd85a20b6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流程为教学阅读顺序，可选分支不表示每次运行必经。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让多个调用者访问同一对象，并在作用域结束时释放资源。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定义契约和变体</a:t>
            </a:r>
          </a:p>
          <a:p xmlns:a="http://schemas.openxmlformats.org/drawingml/2006/main">
            <a:r>
              <a:t>从 remote/local/method 的 schema 明确对象输入、方法与状态，检查 principal 相关变体。</a:t>
            </a:r>
          </a:p>
          <a:p xmlns:a="http://schemas.openxmlformats.org/drawingml/2006/main">
            <a:r>
              <a:t>输入：对象能力要求</a:t>
            </a:r>
          </a:p>
          <a:p xmlns:a="http://schemas.openxmlformats.org/drawingml/2006/main">
            <a:r>
              <a:t>输出：契约和允许的方法</a:t>
            </a:r>
          </a:p>
          <a:p xmlns:a="http://schemas.openxmlformats.org/drawingml/2006/main">
            <a:r>
              <a:t>入口线索：local / remote / method / opaque / bind / coverage</a:t>
            </a:r>
          </a:p>
          <a:p xmlns:a="http://schemas.openxmlformats.org/drawingml/2006/main">
            <a:r>
              <a:t>职责：契约版本和 schema 参与兼容性检查；principal 变体只限定对象能力，完整认证由宿主负责。</a:t>
            </a:r>
          </a:p>
          <a:p xmlns:a="http://schemas.openxmlformats.org/drawingml/2006/main">
            <a:r>
              <a:t>源码：packages/chord/src/contract.ts</a:t>
            </a:r>
          </a:p>
          <a:p xmlns:a="http://schemas.openxmlformats.org/drawingml/2006/main">
            <a:r>
              <a:t>packages/chord/src/schema.ts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2. 提供对象实现</a:t>
            </a:r>
          </a:p>
          <a:p xmlns:a="http://schemas.openxmlformats.org/drawingml/2006/main">
            <a:r>
              <a:t>跟踪 serve、root 和 get，检查规范化输入与 principalKey 如何参与对象身份。</a:t>
            </a:r>
          </a:p>
          <a:p xmlns:a="http://schemas.openxmlformats.org/drawingml/2006/main">
            <a:r>
              <a:t>输入：对象类型与输入</a:t>
            </a:r>
          </a:p>
          <a:p xmlns:a="http://schemas.openxmlformats.org/drawingml/2006/main">
            <a:r>
              <a:t>输出：可用 Handle</a:t>
            </a:r>
          </a:p>
          <a:p xmlns:a="http://schemas.openxmlformats.org/drawingml/2006/main">
            <a:r>
              <a:t>入口线索：createHost / host.serve / host.root / ctx.get</a:t>
            </a:r>
          </a:p>
          <a:p xmlns:a="http://schemas.openxmlformats.org/drawingml/2006/main">
            <a:r>
              <a:t>职责：工厂同步创建实现；激活等待资源与持有依赖就绪，root 结束释放该调用持有的对象。</a:t>
            </a:r>
          </a:p>
          <a:p xmlns:a="http://schemas.openxmlformats.org/drawingml/2006/main">
            <a:r>
              <a:t>源码：packages/chord/src/host.ts</a:t>
            </a:r>
          </a:p>
          <a:p xmlns:a="http://schemas.openxmlformats.org/drawingml/2006/main">
            <a:r>
              <a:t>packages/chord/src/record.ts</a:t>
            </a:r>
          </a:p>
          <a:p xmlns:a="http://schemas.openxmlformats.org/drawingml/2006/main">
            <a:r>
              <a:t>packages/chord/src/types.ts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3. 传递调用上下文</a:t>
            </a:r>
          </a:p>
          <a:p xmlns:a="http://schemas.openxmlformats.org/drawingml/2006/main">
            <a:r>
              <a:t>沿取消、deadline 和 scope value 观察调用传递；Context 不是自动认证系统。</a:t>
            </a:r>
          </a:p>
          <a:p xmlns:a="http://schemas.openxmlformats.org/drawingml/2006/main">
            <a:r>
              <a:t>输入：调用上下文</a:t>
            </a:r>
          </a:p>
          <a:p xmlns:a="http://schemas.openxmlformats.org/drawingml/2006/main">
            <a:r>
              <a:t>输出：受范围约束的执行</a:t>
            </a:r>
          </a:p>
          <a:p xmlns:a="http://schemas.openxmlformats.org/drawingml/2006/main">
            <a:r>
              <a:t>入口线索：Context / withCancel / withContextValue</a:t>
            </a:r>
          </a:p>
          <a:p xmlns:a="http://schemas.openxmlformats.org/drawingml/2006/main">
            <a:r>
              <a:t>职责：调用方负责提供上下文；上下文不是认证系统。</a:t>
            </a:r>
          </a:p>
          <a:p xmlns:a="http://schemas.openxmlformats.org/drawingml/2006/main">
            <a:r>
              <a:t>源码：packages/chord/src/context/index.ts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4. 释放持有与资源</a:t>
            </a:r>
          </a:p>
          <a:p xmlns:a="http://schemas.openxmlformats.org/drawingml/2006/main">
            <a:r>
              <a:t>检查 root 结束、依赖持有和 resource 清理，区分句柄存在与对象仍被有效持有。</a:t>
            </a:r>
          </a:p>
          <a:p xmlns:a="http://schemas.openxmlformats.org/drawingml/2006/main">
            <a:r>
              <a:t>输入：作用域结束</a:t>
            </a:r>
          </a:p>
          <a:p xmlns:a="http://schemas.openxmlformats.org/drawingml/2006/main">
            <a:r>
              <a:t>输出：资源释放或剩余持有</a:t>
            </a:r>
          </a:p>
          <a:p xmlns:a="http://schemas.openxmlformats.org/drawingml/2006/main">
            <a:r>
              <a:t>入口线索：self.state / cell / derivation / listener / resource</a:t>
            </a:r>
          </a:p>
          <a:p xmlns:a="http://schemas.openxmlformats.org/drawingml/2006/main">
            <a:r>
              <a:t>职责：句柄与状态读接口跨重载保持稳定；资源释放与迁移按运行时生命周期执行。</a:t>
            </a:r>
          </a:p>
          <a:p xmlns:a="http://schemas.openxmlformats.org/drawingml/2006/main">
            <a:r>
              <a:t>源码：packages/chord/src/cell.ts</a:t>
            </a:r>
          </a:p>
          <a:p xmlns:a="http://schemas.openxmlformats.org/drawingml/2006/main">
            <a:r>
              <a:t>packages/chord/src/declare.ts</a:t>
            </a:r>
          </a:p>
          <a:p xmlns:a="http://schemas.openxmlformats.org/drawingml/2006/main">
            <a:r>
              <a:t>packages/chord/src/publish.ts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失败与恢复：不同 principal 的句柄和状态不能任意共享；调用返回不总意味着所有对象立即销毁。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练习：从 Counter 教程追踪两个 root 获取同一对象，再逐个结束，说明资源何时释放。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参考判断：答案取决于身份与持有关系；应引用 host 和 lifecycle 测试验证。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功能编号：CHR-01, CHR-02, CHR-03, CHR-04, CHR-05, CHR-06, CHR-07, CHR-08, CHR-09, CHR-10, CHR-11, CHR-12, CHR-13, CHR-14, CHR-15, CHR-16, CHR-17, CHR-18, CHR-32, CHR-37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文档来源：</a:t>
            </a:r>
          </a:p>
          <a:p xmlns:a="http://schemas.openxmlformats.org/drawingml/2006/main">
            <a:r>
              <a:t>packages/chord/README.md</a:t>
            </a:r>
          </a:p>
          <a:p xmlns:a="http://schemas.openxmlformats.org/drawingml/2006/main">
            <a:r>
              <a:t>packages/durable/README.md</a:t>
            </a:r>
          </a:p>
          <a:p xmlns:a="http://schemas.openxmlformats.org/drawingml/2006/main">
            <a:r>
              <a:t>packages/chord/docs/guide.md</a:t>
            </a:r>
          </a:p>
          <a:p xmlns:a="http://schemas.openxmlformats.org/drawingml/2006/main">
            <a:r>
              <a:t>packages/chord/docs/spec.md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关联测试阅读线索（未在演示文稿中执行）：</a:t>
            </a:r>
          </a:p>
          <a:p xmlns:a="http://schemas.openxmlformats.org/drawingml/2006/main">
            <a:r>
              <a:t>packages/chord/test/contract.test.ts</a:t>
            </a:r>
          </a:p>
          <a:p xmlns:a="http://schemas.openxmlformats.org/drawingml/2006/main">
            <a:r>
              <a:t>packages/chord/test/review.test.ts</a:t>
            </a:r>
          </a:p>
          <a:p xmlns:a="http://schemas.openxmlformats.org/drawingml/2006/main">
            <a:r>
              <a:t>packages/chord/test/eager-reload.test.ts</a:t>
            </a:r>
          </a:p>
          <a:p xmlns:a="http://schemas.openxmlformats.org/drawingml/2006/main">
            <a:r>
              <a:t>packages/chord/test/context.test.ts</a:t>
            </a:r>
          </a:p>
          <a:p xmlns:a="http://schemas.openxmlformats.org/drawingml/2006/main">
            <a:r>
              <a:t>packages/chord/test/replicated-state-delivery.test.ts</a:t>
            </a:r>
          </a:p>
          <a:p xmlns:a="http://schemas.openxmlformats.org/drawingml/2006/main">
            <a:r>
              <a:t>packages/chord/test/replicated-state.test.ts</a:t>
            </a:r>
          </a:p>
          <a:p xmlns:a="http://schemas.openxmlformats.org/drawingml/2006/main">
            <a:r>
              <a:t>packages/durable/test/codemode-bench.ts</a:t>
            </a:r>
          </a:p>
          <a:p xmlns:a="http://schemas.openxmlformats.org/drawingml/2006/main">
            <a:r>
              <a:t>packages/durable/test/document-append-bench.ts</a:t>
            </a:r>
          </a:p>
          <a:p xmlns:a="http://schemas.openxmlformats.org/drawingml/2006/main">
            <a:r>
              <a:t>packages/durable/test/env-node-conformance.test.ts</a:t>
            </a:r>
          </a:p>
          <a:p xmlns:a="http://schemas.openxmlformats.org/drawingml/2006/main">
            <a:r>
              <a:t>packages/durable/test/env-node-spill.test.ts</a:t>
            </a:r>
          </a:p>
          <a:p xmlns:a="http://schemas.openxmlformats.org/drawingml/2006/main">
            <a:r>
              <a:t>packages/durable/test/env-node.test.ts</a:t>
            </a:r>
          </a:p>
          <a:p xmlns:a="http://schemas.openxmlformats.org/drawingml/2006/main">
            <a:r>
              <a:t>packages/durable/test/harness-nested-tools.test.ts</a:t>
            </a:r>
          </a:p>
          <a:p xmlns:a="http://schemas.openxmlformats.org/drawingml/2006/main">
            <a:r>
              <a:t>packages/durable/test/harness-tasks.test.ts</a:t>
            </a:r>
          </a:p>
          <a:p xmlns:a="http://schemas.openxmlformats.org/drawingml/2006/main">
            <a:r>
              <a:t>packages/durable/test/jsonl-storage.test.ts</a:t>
            </a:r>
          </a:p>
          <a:p xmlns:a="http://schemas.openxmlformats.org/drawingml/2006/main">
            <a:r>
              <a:t>packages/durable/test/memory-storage.test.ts</a:t>
            </a:r>
          </a:p>
          <a:p xmlns:a="http://schemas.openxmlformats.org/drawingml/2006/main">
            <a:r>
              <a:t>packages/durable/test/nested-images-bench.ts</a:t>
            </a:r>
          </a:p>
          <a:p xmlns:a="http://schemas.openxmlformats.org/drawingml/2006/main">
            <a:r>
              <a:t>packages/durable/test/nested-tools-bench.ts</a:t>
            </a:r>
          </a:p>
          <a:p xmlns:a="http://schemas.openxmlformats.org/drawingml/2006/main">
            <a:r>
              <a:t>packages/durable/test/scheduler-fanout-bench.ts</a:t>
            </a:r>
          </a:p>
          <a:p xmlns:a="http://schemas.openxmlformats.org/drawingml/2006/main">
            <a:r>
              <a:t>packages/durable/test/scheduler-memory-bench.ts</a:t>
            </a:r>
          </a:p>
          <a:p xmlns:a="http://schemas.openxmlformats.org/drawingml/2006/main">
            <a:r>
              <a:t>packages/durable/test/session-document-cache-bench.ts</a:t>
            </a:r>
          </a:p>
          <a:p xmlns:a="http://schemas.openxmlformats.org/drawingml/2006/main">
            <a:r>
              <a:t>packages/durable/test/session-support.ts</a:t>
            </a:r>
          </a:p>
          <a:p xmlns:a="http://schemas.openxmlformats.org/drawingml/2006/main">
            <a:r>
              <a:t>packages/durable/test/session-watches.test.ts</a:t>
            </a:r>
          </a:p>
          <a:p xmlns:a="http://schemas.openxmlformats.org/drawingml/2006/main">
            <a:r>
              <a:t>packages/durable/test/sqlite-facade.test.ts</a:t>
            </a:r>
          </a:p>
          <a:p xmlns:a="http://schemas.openxmlformats.org/drawingml/2006/main">
            <a:r>
              <a:t>packages/durable/test/sqlite-migrations.test.ts</a:t>
            </a:r>
          </a:p>
          <a:p xmlns:a="http://schemas.openxmlformats.org/drawingml/2006/main">
            <a:r>
              <a:t>packages/durable/test/sqlite-storage.test.ts</a:t>
            </a:r>
          </a:p>
          <a:p xmlns:a="http://schemas.openxmlformats.org/drawingml/2006/main">
            <a:r>
              <a:t>packages/durable/test/storage-memory.ts</a:t>
            </a:r>
          </a:p>
          <a:p xmlns:a="http://schemas.openxmlformats.org/drawingml/2006/main">
            <a:r>
              <a:t>packages/durable/test/storage.bench.ts</a:t>
            </a:r>
          </a:p>
          <a:p xmlns:a="http://schemas.openxmlformats.org/drawingml/2006/main">
            <a:r>
              <a:t>packages/durable/test/tool-output-bench.ts</a:t>
            </a:r>
          </a:p>
          <a:p xmlns:a="http://schemas.openxmlformats.org/drawingml/2006/main">
            <a:r>
              <a:t>packages/durable/test/tools-images.test.ts</a:t>
            </a:r>
          </a:p>
          <a:p xmlns:a="http://schemas.openxmlformats.org/drawingml/2006/main">
            <a:r>
              <a:t>packages/durable/test/tools-read-differential.test.ts</a:t>
            </a:r>
          </a:p>
          <a:p xmlns:a="http://schemas.openxmlformats.org/drawingml/2006/main">
            <a:r>
              <a:t>packages/durable/test/tools.test.ts</a:t>
            </a:r>
          </a:p>
          <a:p xmlns:a="http://schemas.openxmlformats.org/drawingml/2006/main">
            <a:r>
              <a:t>packages/env/test/differential.test.ts</a:t>
            </a:r>
          </a:p>
          <a:p xmlns:a="http://schemas.openxmlformats.org/drawingml/2006/main">
            <a:r>
              <a:t>packages/env/test/remote.test.ts</a:t>
            </a:r>
          </a:p>
          <a:p xmlns:a="http://schemas.openxmlformats.org/drawingml/2006/main">
            <a:r>
              <a:t>packages/env/test/ssh-external.test.ts</a:t>
            </a:r>
          </a:p>
          <a:p xmlns:a="http://schemas.openxmlformats.org/drawingml/2006/main">
            <a:r>
              <a:t>packages/env/test/ssh.test.ts</a:t>
            </a:r>
          </a:p>
          <a:p xmlns:a="http://schemas.openxmlformats.org/drawingml/2006/main">
            <a:r>
              <a:t>packages/durable/test/harness-generation.test.ts</a:t>
            </a:r>
          </a:p>
          <a:p xmlns:a="http://schemas.openxmlformats.org/drawingml/2006/main">
            <a:r>
              <a:t>packages/durable/test/harness-prompt.test.ts</a:t>
            </a:r>
          </a:p>
          <a:p xmlns:a="http://schemas.openxmlformats.org/drawingml/2006/main">
            <a:r>
              <a:t>packages/durable/test/harness-registry.test.ts</a:t>
            </a:r>
          </a:p>
          <a:p xmlns:a="http://schemas.openxmlformats.org/drawingml/2006/main">
            <a:r>
              <a:t>packages/durable/test/harness-compaction.test.ts</a:t>
            </a:r>
          </a:p>
          <a:p xmlns:a="http://schemas.openxmlformats.org/drawingml/2006/main">
            <a:r>
              <a:t>packages/durable/test/harness-scheduler-retention.test.ts</a:t>
            </a:r>
          </a:p>
          <a:p xmlns:a="http://schemas.openxmlformats.org/drawingml/2006/main">
            <a:r>
              <a:t>packages/durable/test/harness-storage-failure.test.ts</a:t>
            </a:r>
          </a:p>
          <a:p xmlns:a="http://schemas.openxmlformats.org/drawingml/2006/main">
            <a:r>
              <a:t>packages/durable/test/harness-output-skip.test.ts</a:t>
            </a:r>
          </a:p>
          <a:p xmlns:a="http://schemas.openxmlformats.org/drawingml/2006/main">
            <a:r>
              <a:t>packages/durable/test/harness-output.test.ts</a:t>
            </a:r>
          </a:p>
          <a:p xmlns:a="http://schemas.openxmlformats.org/drawingml/2006/main">
            <a:r>
              <a:t>packages/durable/test/harness-inbox.test.ts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源码基线：6cd9d957a9fd50bc504d45b72834ed9dd85a20b6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流程为教学阅读顺序，可选分支不表示每次运行必经。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让多个调用者访问同一对象，并在作用域结束时释放资源。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定义契约和变体</a:t>
            </a:r>
          </a:p>
          <a:p xmlns:a="http://schemas.openxmlformats.org/drawingml/2006/main">
            <a:r>
              <a:t>从 remote/local/method 的 schema 明确对象输入、方法与状态，检查 principal 相关变体。</a:t>
            </a:r>
          </a:p>
          <a:p xmlns:a="http://schemas.openxmlformats.org/drawingml/2006/main">
            <a:r>
              <a:t>输入：对象能力要求</a:t>
            </a:r>
          </a:p>
          <a:p xmlns:a="http://schemas.openxmlformats.org/drawingml/2006/main">
            <a:r>
              <a:t>输出：契约和允许的方法</a:t>
            </a:r>
          </a:p>
          <a:p xmlns:a="http://schemas.openxmlformats.org/drawingml/2006/main">
            <a:r>
              <a:t>入口线索：local / remote / method / opaque / bind / coverage</a:t>
            </a:r>
          </a:p>
          <a:p xmlns:a="http://schemas.openxmlformats.org/drawingml/2006/main">
            <a:r>
              <a:t>职责：契约版本和 schema 参与兼容性检查；principal 变体只限定对象能力，完整认证由宿主负责。</a:t>
            </a:r>
          </a:p>
          <a:p xmlns:a="http://schemas.openxmlformats.org/drawingml/2006/main">
            <a:r>
              <a:t>源码：packages/chord/src/contract.ts</a:t>
            </a:r>
          </a:p>
          <a:p xmlns:a="http://schemas.openxmlformats.org/drawingml/2006/main">
            <a:r>
              <a:t>packages/chord/src/schema.ts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2. 提供对象实现</a:t>
            </a:r>
          </a:p>
          <a:p xmlns:a="http://schemas.openxmlformats.org/drawingml/2006/main">
            <a:r>
              <a:t>跟踪 serve、root 和 get，检查规范化输入与 principalKey 如何参与对象身份。</a:t>
            </a:r>
          </a:p>
          <a:p xmlns:a="http://schemas.openxmlformats.org/drawingml/2006/main">
            <a:r>
              <a:t>输入：对象类型与输入</a:t>
            </a:r>
          </a:p>
          <a:p xmlns:a="http://schemas.openxmlformats.org/drawingml/2006/main">
            <a:r>
              <a:t>输出：可用 Handle</a:t>
            </a:r>
          </a:p>
          <a:p xmlns:a="http://schemas.openxmlformats.org/drawingml/2006/main">
            <a:r>
              <a:t>入口线索：createHost / host.serve / host.root / ctx.get</a:t>
            </a:r>
          </a:p>
          <a:p xmlns:a="http://schemas.openxmlformats.org/drawingml/2006/main">
            <a:r>
              <a:t>职责：工厂同步创建实现；激活等待资源与持有依赖就绪，root 结束释放该调用持有的对象。</a:t>
            </a:r>
          </a:p>
          <a:p xmlns:a="http://schemas.openxmlformats.org/drawingml/2006/main">
            <a:r>
              <a:t>源码：packages/chord/src/host.ts</a:t>
            </a:r>
          </a:p>
          <a:p xmlns:a="http://schemas.openxmlformats.org/drawingml/2006/main">
            <a:r>
              <a:t>packages/chord/src/record.ts</a:t>
            </a:r>
          </a:p>
          <a:p xmlns:a="http://schemas.openxmlformats.org/drawingml/2006/main">
            <a:r>
              <a:t>packages/chord/src/types.ts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3. 传递调用上下文</a:t>
            </a:r>
          </a:p>
          <a:p xmlns:a="http://schemas.openxmlformats.org/drawingml/2006/main">
            <a:r>
              <a:t>沿取消、deadline 和 scope value 观察调用传递；Context 不是自动认证系统。</a:t>
            </a:r>
          </a:p>
          <a:p xmlns:a="http://schemas.openxmlformats.org/drawingml/2006/main">
            <a:r>
              <a:t>输入：调用上下文</a:t>
            </a:r>
          </a:p>
          <a:p xmlns:a="http://schemas.openxmlformats.org/drawingml/2006/main">
            <a:r>
              <a:t>输出：受范围约束的执行</a:t>
            </a:r>
          </a:p>
          <a:p xmlns:a="http://schemas.openxmlformats.org/drawingml/2006/main">
            <a:r>
              <a:t>入口线索：Context / withCancel / withContextValue</a:t>
            </a:r>
          </a:p>
          <a:p xmlns:a="http://schemas.openxmlformats.org/drawingml/2006/main">
            <a:r>
              <a:t>职责：调用方负责提供上下文；上下文不是认证系统。</a:t>
            </a:r>
          </a:p>
          <a:p xmlns:a="http://schemas.openxmlformats.org/drawingml/2006/main">
            <a:r>
              <a:t>源码：packages/chord/src/context/index.ts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4. 释放持有与资源</a:t>
            </a:r>
          </a:p>
          <a:p xmlns:a="http://schemas.openxmlformats.org/drawingml/2006/main">
            <a:r>
              <a:t>检查 root 结束、依赖持有和 resource 清理，区分句柄存在与对象仍被有效持有。</a:t>
            </a:r>
          </a:p>
          <a:p xmlns:a="http://schemas.openxmlformats.org/drawingml/2006/main">
            <a:r>
              <a:t>输入：作用域结束</a:t>
            </a:r>
          </a:p>
          <a:p xmlns:a="http://schemas.openxmlformats.org/drawingml/2006/main">
            <a:r>
              <a:t>输出：资源释放或剩余持有</a:t>
            </a:r>
          </a:p>
          <a:p xmlns:a="http://schemas.openxmlformats.org/drawingml/2006/main">
            <a:r>
              <a:t>入口线索：self.state / cell / derivation / listener / resource</a:t>
            </a:r>
          </a:p>
          <a:p xmlns:a="http://schemas.openxmlformats.org/drawingml/2006/main">
            <a:r>
              <a:t>职责：句柄与状态读接口跨重载保持稳定；资源释放与迁移按运行时生命周期执行。</a:t>
            </a:r>
          </a:p>
          <a:p xmlns:a="http://schemas.openxmlformats.org/drawingml/2006/main">
            <a:r>
              <a:t>源码：packages/chord/src/cell.ts</a:t>
            </a:r>
          </a:p>
          <a:p xmlns:a="http://schemas.openxmlformats.org/drawingml/2006/main">
            <a:r>
              <a:t>packages/chord/src/declare.ts</a:t>
            </a:r>
          </a:p>
          <a:p xmlns:a="http://schemas.openxmlformats.org/drawingml/2006/main">
            <a:r>
              <a:t>packages/chord/src/publish.ts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失败与恢复：不同 principal 的句柄和状态不能任意共享；调用返回不总意味着所有对象立即销毁。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练习：从 Counter 教程追踪两个 root 获取同一对象，再逐个结束，说明资源何时释放。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参考判断：答案取决于身份与持有关系；应引用 host 和 lifecycle 测试验证。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功能编号：CHR-01, CHR-02, CHR-03, CHR-04, CHR-05, CHR-06, CHR-07, CHR-08, CHR-09, CHR-10, CHR-11, CHR-12, CHR-13, CHR-14, CHR-15, CHR-16, CHR-17, CHR-18, CHR-32, CHR-37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文档来源：</a:t>
            </a:r>
          </a:p>
          <a:p xmlns:a="http://schemas.openxmlformats.org/drawingml/2006/main">
            <a:r>
              <a:t>packages/chord/README.md</a:t>
            </a:r>
          </a:p>
          <a:p xmlns:a="http://schemas.openxmlformats.org/drawingml/2006/main">
            <a:r>
              <a:t>packages/durable/README.md</a:t>
            </a:r>
          </a:p>
          <a:p xmlns:a="http://schemas.openxmlformats.org/drawingml/2006/main">
            <a:r>
              <a:t>packages/chord/docs/guide.md</a:t>
            </a:r>
          </a:p>
          <a:p xmlns:a="http://schemas.openxmlformats.org/drawingml/2006/main">
            <a:r>
              <a:t>packages/chord/docs/spec.md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关联测试阅读线索（未在演示文稿中执行）：</a:t>
            </a:r>
          </a:p>
          <a:p xmlns:a="http://schemas.openxmlformats.org/drawingml/2006/main">
            <a:r>
              <a:t>packages/chord/test/contract.test.ts</a:t>
            </a:r>
          </a:p>
          <a:p xmlns:a="http://schemas.openxmlformats.org/drawingml/2006/main">
            <a:r>
              <a:t>packages/chord/test/review.test.ts</a:t>
            </a:r>
          </a:p>
          <a:p xmlns:a="http://schemas.openxmlformats.org/drawingml/2006/main">
            <a:r>
              <a:t>packages/chord/test/eager-reload.test.ts</a:t>
            </a:r>
          </a:p>
          <a:p xmlns:a="http://schemas.openxmlformats.org/drawingml/2006/main">
            <a:r>
              <a:t>packages/chord/test/context.test.ts</a:t>
            </a:r>
          </a:p>
          <a:p xmlns:a="http://schemas.openxmlformats.org/drawingml/2006/main">
            <a:r>
              <a:t>packages/chord/test/replicated-state-delivery.test.ts</a:t>
            </a:r>
          </a:p>
          <a:p xmlns:a="http://schemas.openxmlformats.org/drawingml/2006/main">
            <a:r>
              <a:t>packages/chord/test/replicated-state.test.ts</a:t>
            </a:r>
          </a:p>
          <a:p xmlns:a="http://schemas.openxmlformats.org/drawingml/2006/main">
            <a:r>
              <a:t>packages/durable/test/codemode-bench.ts</a:t>
            </a:r>
          </a:p>
          <a:p xmlns:a="http://schemas.openxmlformats.org/drawingml/2006/main">
            <a:r>
              <a:t>packages/durable/test/document-append-bench.ts</a:t>
            </a:r>
          </a:p>
          <a:p xmlns:a="http://schemas.openxmlformats.org/drawingml/2006/main">
            <a:r>
              <a:t>packages/durable/test/env-node-conformance.test.ts</a:t>
            </a:r>
          </a:p>
          <a:p xmlns:a="http://schemas.openxmlformats.org/drawingml/2006/main">
            <a:r>
              <a:t>packages/durable/test/env-node-spill.test.ts</a:t>
            </a:r>
          </a:p>
          <a:p xmlns:a="http://schemas.openxmlformats.org/drawingml/2006/main">
            <a:r>
              <a:t>packages/durable/test/env-node.test.ts</a:t>
            </a:r>
          </a:p>
          <a:p xmlns:a="http://schemas.openxmlformats.org/drawingml/2006/main">
            <a:r>
              <a:t>packages/durable/test/harness-nested-tools.test.ts</a:t>
            </a:r>
          </a:p>
          <a:p xmlns:a="http://schemas.openxmlformats.org/drawingml/2006/main">
            <a:r>
              <a:t>packages/durable/test/harness-tasks.test.ts</a:t>
            </a:r>
          </a:p>
          <a:p xmlns:a="http://schemas.openxmlformats.org/drawingml/2006/main">
            <a:r>
              <a:t>packages/durable/test/jsonl-storage.test.ts</a:t>
            </a:r>
          </a:p>
          <a:p xmlns:a="http://schemas.openxmlformats.org/drawingml/2006/main">
            <a:r>
              <a:t>packages/durable/test/memory-storage.test.ts</a:t>
            </a:r>
          </a:p>
          <a:p xmlns:a="http://schemas.openxmlformats.org/drawingml/2006/main">
            <a:r>
              <a:t>packages/durable/test/nested-images-bench.ts</a:t>
            </a:r>
          </a:p>
          <a:p xmlns:a="http://schemas.openxmlformats.org/drawingml/2006/main">
            <a:r>
              <a:t>packages/durable/test/nested-tools-bench.ts</a:t>
            </a:r>
          </a:p>
          <a:p xmlns:a="http://schemas.openxmlformats.org/drawingml/2006/main">
            <a:r>
              <a:t>packages/durable/test/scheduler-fanout-bench.ts</a:t>
            </a:r>
          </a:p>
          <a:p xmlns:a="http://schemas.openxmlformats.org/drawingml/2006/main">
            <a:r>
              <a:t>packages/durable/test/scheduler-memory-bench.ts</a:t>
            </a:r>
          </a:p>
          <a:p xmlns:a="http://schemas.openxmlformats.org/drawingml/2006/main">
            <a:r>
              <a:t>packages/durable/test/session-document-cache-bench.ts</a:t>
            </a:r>
          </a:p>
          <a:p xmlns:a="http://schemas.openxmlformats.org/drawingml/2006/main">
            <a:r>
              <a:t>packages/durable/test/session-support.ts</a:t>
            </a:r>
          </a:p>
          <a:p xmlns:a="http://schemas.openxmlformats.org/drawingml/2006/main">
            <a:r>
              <a:t>packages/durable/test/session-watches.test.ts</a:t>
            </a:r>
          </a:p>
          <a:p xmlns:a="http://schemas.openxmlformats.org/drawingml/2006/main">
            <a:r>
              <a:t>packages/durable/test/sqlite-facade.test.ts</a:t>
            </a:r>
          </a:p>
          <a:p xmlns:a="http://schemas.openxmlformats.org/drawingml/2006/main">
            <a:r>
              <a:t>packages/durable/test/sqlite-migrations.test.ts</a:t>
            </a:r>
          </a:p>
          <a:p xmlns:a="http://schemas.openxmlformats.org/drawingml/2006/main">
            <a:r>
              <a:t>packages/durable/test/sqlite-storage.test.ts</a:t>
            </a:r>
          </a:p>
          <a:p xmlns:a="http://schemas.openxmlformats.org/drawingml/2006/main">
            <a:r>
              <a:t>packages/durable/test/storage-memory.ts</a:t>
            </a:r>
          </a:p>
          <a:p xmlns:a="http://schemas.openxmlformats.org/drawingml/2006/main">
            <a:r>
              <a:t>packages/durable/test/storage.bench.ts</a:t>
            </a:r>
          </a:p>
          <a:p xmlns:a="http://schemas.openxmlformats.org/drawingml/2006/main">
            <a:r>
              <a:t>packages/durable/test/tool-output-bench.ts</a:t>
            </a:r>
          </a:p>
          <a:p xmlns:a="http://schemas.openxmlformats.org/drawingml/2006/main">
            <a:r>
              <a:t>packages/durable/test/tools-images.test.ts</a:t>
            </a:r>
          </a:p>
          <a:p xmlns:a="http://schemas.openxmlformats.org/drawingml/2006/main">
            <a:r>
              <a:t>packages/durable/test/tools-read-differential.test.ts</a:t>
            </a:r>
          </a:p>
          <a:p xmlns:a="http://schemas.openxmlformats.org/drawingml/2006/main">
            <a:r>
              <a:t>packages/durable/test/tools.test.ts</a:t>
            </a:r>
          </a:p>
          <a:p xmlns:a="http://schemas.openxmlformats.org/drawingml/2006/main">
            <a:r>
              <a:t>packages/env/test/differential.test.ts</a:t>
            </a:r>
          </a:p>
          <a:p xmlns:a="http://schemas.openxmlformats.org/drawingml/2006/main">
            <a:r>
              <a:t>packages/env/test/remote.test.ts</a:t>
            </a:r>
          </a:p>
          <a:p xmlns:a="http://schemas.openxmlformats.org/drawingml/2006/main">
            <a:r>
              <a:t>packages/env/test/ssh-external.test.ts</a:t>
            </a:r>
          </a:p>
          <a:p xmlns:a="http://schemas.openxmlformats.org/drawingml/2006/main">
            <a:r>
              <a:t>packages/env/test/ssh.test.ts</a:t>
            </a:r>
          </a:p>
          <a:p xmlns:a="http://schemas.openxmlformats.org/drawingml/2006/main">
            <a:r>
              <a:t>packages/durable/test/harness-generation.test.ts</a:t>
            </a:r>
          </a:p>
          <a:p xmlns:a="http://schemas.openxmlformats.org/drawingml/2006/main">
            <a:r>
              <a:t>packages/durable/test/harness-prompt.test.ts</a:t>
            </a:r>
          </a:p>
          <a:p xmlns:a="http://schemas.openxmlformats.org/drawingml/2006/main">
            <a:r>
              <a:t>packages/durable/test/harness-registry.test.ts</a:t>
            </a:r>
          </a:p>
          <a:p xmlns:a="http://schemas.openxmlformats.org/drawingml/2006/main">
            <a:r>
              <a:t>packages/durable/test/harness-compaction.test.ts</a:t>
            </a:r>
          </a:p>
          <a:p xmlns:a="http://schemas.openxmlformats.org/drawingml/2006/main">
            <a:r>
              <a:t>packages/durable/test/harness-scheduler-retention.test.ts</a:t>
            </a:r>
          </a:p>
          <a:p xmlns:a="http://schemas.openxmlformats.org/drawingml/2006/main">
            <a:r>
              <a:t>packages/durable/test/harness-storage-failure.test.ts</a:t>
            </a:r>
          </a:p>
          <a:p xmlns:a="http://schemas.openxmlformats.org/drawingml/2006/main">
            <a:r>
              <a:t>packages/durable/test/harness-output-skip.test.ts</a:t>
            </a:r>
          </a:p>
          <a:p xmlns:a="http://schemas.openxmlformats.org/drawingml/2006/main">
            <a:r>
              <a:t>packages/durable/test/harness-output.test.ts</a:t>
            </a:r>
          </a:p>
          <a:p xmlns:a="http://schemas.openxmlformats.org/drawingml/2006/main">
            <a:r>
              <a:t>packages/durable/test/harness-inbox.test.ts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源码基线：6cd9d957a9fd50bc504d45b72834ed9dd85a20b6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流程为教学阅读顺序，可选分支不表示每次运行必经。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订阅者要看到一致状态，而更新计算可能失败。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明确 JSON 边界</a:t>
            </a:r>
          </a:p>
          <a:p xmlns:a="http://schemas.openxmlformats.org/drawingml/2006/main">
            <a:r>
              <a:t>检查合法 JSON、复制与所有权约定，发布后不直接改共享容器。</a:t>
            </a:r>
          </a:p>
          <a:p xmlns:a="http://schemas.openxmlformats.org/drawingml/2006/main">
            <a:r>
              <a:t>输入：调用者持有的 JSON</a:t>
            </a:r>
          </a:p>
          <a:p xmlns:a="http://schemas.openxmlformats.org/drawingml/2006/main">
            <a:r>
              <a:t>输出：可安全交给运行时的值</a:t>
            </a:r>
          </a:p>
          <a:p xmlns:a="http://schemas.openxmlformats.org/drawingml/2006/main">
            <a:r>
              <a:t>入口线索：copyJson / isJsonValue / ChordError</a:t>
            </a:r>
          </a:p>
          <a:p xmlns:a="http://schemas.openxmlformats.org/drawingml/2006/main">
            <a:r>
              <a:t>职责：转移所有权后的值不得继续修改；在可变信任边界复制或序列化。</a:t>
            </a:r>
          </a:p>
          <a:p xmlns:a="http://schemas.openxmlformats.org/drawingml/2006/main">
            <a:r>
              <a:t>源码：packages/chord/src/errors.ts</a:t>
            </a:r>
          </a:p>
          <a:p xmlns:a="http://schemas.openxmlformats.org/drawingml/2006/main">
            <a:r>
              <a:t>packages/chord/src/json.ts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2. 准备增量</a:t>
            </a:r>
          </a:p>
          <a:p xmlns:a="http://schemas.openxmlformats.org/drawingml/2006/main">
            <a:r>
              <a:t>跟踪 track/prepare，理解候选变更尚未成为权威版本。</a:t>
            </a:r>
          </a:p>
          <a:p xmlns:a="http://schemas.openxmlformats.org/drawingml/2006/main">
            <a:r>
              <a:t>输入：旧版本和修改</a:t>
            </a:r>
          </a:p>
          <a:p xmlns:a="http://schemas.openxmlformats.org/drawingml/2006/main">
            <a:r>
              <a:t>输出：候选 delta</a:t>
            </a:r>
          </a:p>
          <a:p xmlns:a="http://schemas.openxmlformats.org/drawingml/2006/main">
            <a:r>
              <a:t>入口线索：track / applyImmutable / replicatedState</a:t>
            </a:r>
          </a:p>
          <a:p xmlns:a="http://schemas.openxmlformats.org/drawingml/2006/main">
            <a:r>
              <a:t>职责：replicatedState 独立于对象宿主；每订阅最多积压 100 份完整值，溢出合并为最新值，不能当成无损审计流。</a:t>
            </a:r>
          </a:p>
          <a:p xmlns:a="http://schemas.openxmlformats.org/drawingml/2006/main">
            <a:r>
              <a:t>源码：packages/chord/src/delta/README.md</a:t>
            </a:r>
          </a:p>
          <a:p xmlns:a="http://schemas.openxmlformats.org/drawingml/2006/main">
            <a:r>
              <a:t>packages/chord/src/delta/README.zh.md</a:t>
            </a:r>
          </a:p>
          <a:p xmlns:a="http://schemas.openxmlformats.org/drawingml/2006/main">
            <a:r>
              <a:t>packages/chord/src/delta/apply-immutable-trusted.ts</a:t>
            </a:r>
          </a:p>
          <a:p xmlns:a="http://schemas.openxmlformats.org/drawingml/2006/main">
            <a:r>
              <a:t>packages/chord/src/delta/diff.ts</a:t>
            </a:r>
          </a:p>
          <a:p xmlns:a="http://schemas.openxmlformats.org/drawingml/2006/main">
            <a:r>
              <a:t>packages/chord/src/delta/draft.ts</a:t>
            </a:r>
          </a:p>
          <a:p xmlns:a="http://schemas.openxmlformats.org/drawingml/2006/main">
            <a:r>
              <a:t>packages/chord/src/delta/index.ts</a:t>
            </a:r>
          </a:p>
          <a:p xmlns:a="http://schemas.openxmlformats.org/drawingml/2006/main">
            <a:r>
              <a:t>packages/chord/src/delta/revision-validator.ts</a:t>
            </a:r>
          </a:p>
          <a:p xmlns:a="http://schemas.openxmlformats.org/drawingml/2006/main">
            <a:r>
              <a:t>packages/chord/src/delta/tracker.ts</a:t>
            </a:r>
          </a:p>
          <a:p xmlns:a="http://schemas.openxmlformats.org/drawingml/2006/main">
            <a:r>
              <a:t>packages/chord/src/state.ts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3. 提交并发布</a:t>
            </a:r>
          </a:p>
          <a:p xmlns:a="http://schemas.openxmlformats.org/drawingml/2006/main">
            <a:r>
              <a:t>对照 adopt 与 applyImmutable，标记版本切换和订阅者可见点。</a:t>
            </a:r>
          </a:p>
          <a:p xmlns:a="http://schemas.openxmlformats.org/drawingml/2006/main">
            <a:r>
              <a:t>输入：已验证候选变更</a:t>
            </a:r>
          </a:p>
          <a:p xmlns:a="http://schemas.openxmlformats.org/drawingml/2006/main">
            <a:r>
              <a:t>输出：新权威状态</a:t>
            </a:r>
          </a:p>
          <a:p xmlns:a="http://schemas.openxmlformats.org/drawingml/2006/main">
            <a:r>
              <a:t>入口线索：track / applyImmutable / replicatedState</a:t>
            </a:r>
          </a:p>
          <a:p xmlns:a="http://schemas.openxmlformats.org/drawingml/2006/main">
            <a:r>
              <a:t>职责：replicatedState 独立于对象宿主；每订阅最多积压 100 份完整值，溢出合并为最新值，不能当成无损审计流。</a:t>
            </a:r>
          </a:p>
          <a:p xmlns:a="http://schemas.openxmlformats.org/drawingml/2006/main">
            <a:r>
              <a:t>源码：packages/chord/src/delta/README.md</a:t>
            </a:r>
          </a:p>
          <a:p xmlns:a="http://schemas.openxmlformats.org/drawingml/2006/main">
            <a:r>
              <a:t>packages/chord/src/delta/README.zh.md</a:t>
            </a:r>
          </a:p>
          <a:p xmlns:a="http://schemas.openxmlformats.org/drawingml/2006/main">
            <a:r>
              <a:t>packages/chord/src/delta/apply-immutable-trusted.ts</a:t>
            </a:r>
          </a:p>
          <a:p xmlns:a="http://schemas.openxmlformats.org/drawingml/2006/main">
            <a:r>
              <a:t>packages/chord/src/delta/diff.ts</a:t>
            </a:r>
          </a:p>
          <a:p xmlns:a="http://schemas.openxmlformats.org/drawingml/2006/main">
            <a:r>
              <a:t>packages/chord/src/delta/draft.ts</a:t>
            </a:r>
          </a:p>
          <a:p xmlns:a="http://schemas.openxmlformats.org/drawingml/2006/main">
            <a:r>
              <a:t>packages/chord/src/delta/index.ts</a:t>
            </a:r>
          </a:p>
          <a:p xmlns:a="http://schemas.openxmlformats.org/drawingml/2006/main">
            <a:r>
              <a:t>packages/chord/src/delta/revision-validator.ts</a:t>
            </a:r>
          </a:p>
          <a:p xmlns:a="http://schemas.openxmlformats.org/drawingml/2006/main">
            <a:r>
              <a:t>packages/chord/src/delta/tracker.ts</a:t>
            </a:r>
          </a:p>
          <a:p xmlns:a="http://schemas.openxmlformats.org/drawingml/2006/main">
            <a:r>
              <a:t>packages/chord/src/state.ts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4. 观察积压行为</a:t>
            </a:r>
          </a:p>
          <a:p xmlns:a="http://schemas.openxmlformats.org/drawingml/2006/main">
            <a:r>
              <a:t>比较对象 state 与 replicatedState 的订阅语义，核对慢消费者的合并边界。</a:t>
            </a:r>
          </a:p>
          <a:p xmlns:a="http://schemas.openxmlformats.org/drawingml/2006/main">
            <a:r>
              <a:t>输入：连续状态更新</a:t>
            </a:r>
          </a:p>
          <a:p xmlns:a="http://schemas.openxmlformats.org/drawingml/2006/main">
            <a:r>
              <a:t>输出：订阅者得到的状态</a:t>
            </a:r>
          </a:p>
          <a:p xmlns:a="http://schemas.openxmlformats.org/drawingml/2006/main">
            <a:r>
              <a:t>入口线索：self.state / cell / derivation / listener / resource</a:t>
            </a:r>
          </a:p>
          <a:p xmlns:a="http://schemas.openxmlformats.org/drawingml/2006/main">
            <a:r>
              <a:t>职责：句柄与状态读接口跨重载保持稳定；资源释放与迁移按运行时生命周期执行。</a:t>
            </a:r>
          </a:p>
          <a:p xmlns:a="http://schemas.openxmlformats.org/drawingml/2006/main">
            <a:r>
              <a:t>源码：packages/chord/src/cell.ts</a:t>
            </a:r>
          </a:p>
          <a:p xmlns:a="http://schemas.openxmlformats.org/drawingml/2006/main">
            <a:r>
              <a:t>packages/chord/src/declare.ts</a:t>
            </a:r>
          </a:p>
          <a:p xmlns:a="http://schemas.openxmlformats.org/drawingml/2006/main">
            <a:r>
              <a:t>packages/chord/src/publish.ts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失败与恢复：replicatedState 的完整值积压会合并为最新值，不能当作无损审计事件流；需要审计时保存事件记录。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练习：设计 prepare 后抛错而不 adopt 的测试，证明权威版本不改变。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参考判断：候选状态与已提交状态必须隔离；观察到最新值不证明中间每次值都被消费。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功能编号：CHR-05, CHR-12, CHR-13, CHR-14, CHR-15, CHR-16, CHR-33, CHR-34, CHR-35, CHR-36, CHR-38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文档来源：</a:t>
            </a:r>
          </a:p>
          <a:p xmlns:a="http://schemas.openxmlformats.org/drawingml/2006/main">
            <a:r>
              <a:t>packages/chord/README.md</a:t>
            </a:r>
          </a:p>
          <a:p xmlns:a="http://schemas.openxmlformats.org/drawingml/2006/main">
            <a:r>
              <a:t>packages/chord/docs/guide.md</a:t>
            </a:r>
          </a:p>
          <a:p xmlns:a="http://schemas.openxmlformats.org/drawingml/2006/main">
            <a:r>
              <a:t>packages/chord/docs/spec.md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关联测试阅读线索（未在演示文稿中执行）：</a:t>
            </a:r>
          </a:p>
          <a:p xmlns:a="http://schemas.openxmlformats.org/drawingml/2006/main">
            <a:r>
              <a:t>packages/chord/test/delta-diff.test.ts</a:t>
            </a:r>
          </a:p>
          <a:p xmlns:a="http://schemas.openxmlformats.org/drawingml/2006/main">
            <a:r>
              <a:t>packages/chord/test/state-diff.test.ts</a:t>
            </a:r>
          </a:p>
          <a:p xmlns:a="http://schemas.openxmlformats.org/drawingml/2006/main">
            <a:r>
              <a:t>packages/chord/test/delta-benchmark/benchmark.worker.ts</a:t>
            </a:r>
          </a:p>
          <a:p xmlns:a="http://schemas.openxmlformats.org/drawingml/2006/main">
            <a:r>
              <a:t>packages/chord/test/delta-benchmark/conversation-view-benchmark.worker.ts</a:t>
            </a:r>
          </a:p>
          <a:p xmlns:a="http://schemas.openxmlformats.org/drawingml/2006/main">
            <a:r>
              <a:t>packages/chord/test/delta-benchmark/memory-benchmark.worker.ts</a:t>
            </a:r>
          </a:p>
          <a:p xmlns:a="http://schemas.openxmlformats.org/drawingml/2006/main">
            <a:r>
              <a:t>packages/chord/test/delta-apply-immutable.test.ts</a:t>
            </a:r>
          </a:p>
          <a:p xmlns:a="http://schemas.openxmlformats.org/drawingml/2006/main">
            <a:r>
              <a:t>packages/chord/test/delta-clone.test.ts</a:t>
            </a:r>
          </a:p>
          <a:p xmlns:a="http://schemas.openxmlformats.org/drawingml/2006/main">
            <a:r>
              <a:t>packages/chord/test/delta-tracker/retention.worker.ts</a:t>
            </a:r>
          </a:p>
          <a:p xmlns:a="http://schemas.openxmlformats.org/drawingml/2006/main">
            <a:r>
              <a:t>packages/chord/test/delta-tracker/tracker.test.ts</a:t>
            </a:r>
          </a:p>
          <a:p xmlns:a="http://schemas.openxmlformats.org/drawingml/2006/main">
            <a:r>
              <a:t>packages/chord/test/delta-traversal.bench.ts</a:t>
            </a:r>
          </a:p>
          <a:p xmlns:a="http://schemas.openxmlformats.org/drawingml/2006/main">
            <a:r>
              <a:t>packages/chord/test/delta.test.ts</a:t>
            </a:r>
          </a:p>
          <a:p xmlns:a="http://schemas.openxmlformats.org/drawingml/2006/main">
            <a:r>
              <a:t>packages/chord/test/replicated-state.test.ts</a:t>
            </a:r>
          </a:p>
          <a:p xmlns:a="http://schemas.openxmlformats.org/drawingml/2006/main">
            <a:r>
              <a:t>packages/chord/test/requests.test.ts</a:t>
            </a:r>
          </a:p>
          <a:p xmlns:a="http://schemas.openxmlformats.org/drawingml/2006/main">
            <a:r>
              <a:t>packages/chord/test/state-draft.test.ts</a:t>
            </a:r>
          </a:p>
          <a:p xmlns:a="http://schemas.openxmlformats.org/drawingml/2006/main">
            <a:r>
              <a:t>packages/chord/test/state-fuzz.test.ts</a:t>
            </a:r>
          </a:p>
          <a:p xmlns:a="http://schemas.openxmlformats.org/drawingml/2006/main">
            <a:r>
              <a:t>packages/chord/test/state-value.test.ts</a:t>
            </a:r>
          </a:p>
          <a:p xmlns:a="http://schemas.openxmlformats.org/drawingml/2006/main">
            <a:r>
              <a:t>packages/chord/test/state.test.ts</a:t>
            </a:r>
          </a:p>
          <a:p xmlns:a="http://schemas.openxmlformats.org/drawingml/2006/main">
            <a:r>
              <a:t>packages/durable/test/harness-inbox.test.ts</a:t>
            </a:r>
          </a:p>
          <a:p xmlns:a="http://schemas.openxmlformats.org/drawingml/2006/main">
            <a:r>
              <a:t>packages/durable/test/harness-live-deltas.test.ts</a:t>
            </a:r>
          </a:p>
          <a:p xmlns:a="http://schemas.openxmlformats.org/drawingml/2006/main">
            <a:r>
              <a:t>packages/durable/test/harness-task-graph.test.ts</a:t>
            </a:r>
          </a:p>
          <a:p xmlns:a="http://schemas.openxmlformats.org/drawingml/2006/main">
            <a:r>
              <a:t>packages/durable/test/harness-view.test.ts</a:t>
            </a:r>
          </a:p>
          <a:p xmlns:a="http://schemas.openxmlformats.org/drawingml/2006/main">
            <a:r>
              <a:t>packages/durable/test/session-checkpoints-migrations.test.ts</a:t>
            </a:r>
          </a:p>
          <a:p xmlns:a="http://schemas.openxmlformats.org/drawingml/2006/main">
            <a:r>
              <a:t>packages/durable/test/session-watches.test.ts</a:t>
            </a:r>
          </a:p>
          <a:p xmlns:a="http://schemas.openxmlformats.org/drawingml/2006/main">
            <a:r>
              <a:t>packages/chord/test/eager-reload.test.ts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源码基线：6cd9d957a9fd50bc504d45b72834ed9dd85a20b6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流程为教学阅读顺序，可选分支不表示每次运行必经。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订阅者要看到一致状态，而更新计算可能失败。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明确 JSON 边界</a:t>
            </a:r>
          </a:p>
          <a:p xmlns:a="http://schemas.openxmlformats.org/drawingml/2006/main">
            <a:r>
              <a:t>检查合法 JSON、复制与所有权约定，发布后不直接改共享容器。</a:t>
            </a:r>
          </a:p>
          <a:p xmlns:a="http://schemas.openxmlformats.org/drawingml/2006/main">
            <a:r>
              <a:t>输入：调用者持有的 JSON</a:t>
            </a:r>
          </a:p>
          <a:p xmlns:a="http://schemas.openxmlformats.org/drawingml/2006/main">
            <a:r>
              <a:t>输出：可安全交给运行时的值</a:t>
            </a:r>
          </a:p>
          <a:p xmlns:a="http://schemas.openxmlformats.org/drawingml/2006/main">
            <a:r>
              <a:t>入口线索：copyJson / isJsonValue / ChordError</a:t>
            </a:r>
          </a:p>
          <a:p xmlns:a="http://schemas.openxmlformats.org/drawingml/2006/main">
            <a:r>
              <a:t>职责：转移所有权后的值不得继续修改；在可变信任边界复制或序列化。</a:t>
            </a:r>
          </a:p>
          <a:p xmlns:a="http://schemas.openxmlformats.org/drawingml/2006/main">
            <a:r>
              <a:t>源码：packages/chord/src/errors.ts</a:t>
            </a:r>
          </a:p>
          <a:p xmlns:a="http://schemas.openxmlformats.org/drawingml/2006/main">
            <a:r>
              <a:t>packages/chord/src/json.ts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2. 准备增量</a:t>
            </a:r>
          </a:p>
          <a:p xmlns:a="http://schemas.openxmlformats.org/drawingml/2006/main">
            <a:r>
              <a:t>跟踪 track/prepare，理解候选变更尚未成为权威版本。</a:t>
            </a:r>
          </a:p>
          <a:p xmlns:a="http://schemas.openxmlformats.org/drawingml/2006/main">
            <a:r>
              <a:t>输入：旧版本和修改</a:t>
            </a:r>
          </a:p>
          <a:p xmlns:a="http://schemas.openxmlformats.org/drawingml/2006/main">
            <a:r>
              <a:t>输出：候选 delta</a:t>
            </a:r>
          </a:p>
          <a:p xmlns:a="http://schemas.openxmlformats.org/drawingml/2006/main">
            <a:r>
              <a:t>入口线索：track / applyImmutable / replicatedState</a:t>
            </a:r>
          </a:p>
          <a:p xmlns:a="http://schemas.openxmlformats.org/drawingml/2006/main">
            <a:r>
              <a:t>职责：replicatedState 独立于对象宿主；每订阅最多积压 100 份完整值，溢出合并为最新值，不能当成无损审计流。</a:t>
            </a:r>
          </a:p>
          <a:p xmlns:a="http://schemas.openxmlformats.org/drawingml/2006/main">
            <a:r>
              <a:t>源码：packages/chord/src/delta/README.md</a:t>
            </a:r>
          </a:p>
          <a:p xmlns:a="http://schemas.openxmlformats.org/drawingml/2006/main">
            <a:r>
              <a:t>packages/chord/src/delta/README.zh.md</a:t>
            </a:r>
          </a:p>
          <a:p xmlns:a="http://schemas.openxmlformats.org/drawingml/2006/main">
            <a:r>
              <a:t>packages/chord/src/delta/apply-immutable-trusted.ts</a:t>
            </a:r>
          </a:p>
          <a:p xmlns:a="http://schemas.openxmlformats.org/drawingml/2006/main">
            <a:r>
              <a:t>packages/chord/src/delta/diff.ts</a:t>
            </a:r>
          </a:p>
          <a:p xmlns:a="http://schemas.openxmlformats.org/drawingml/2006/main">
            <a:r>
              <a:t>packages/chord/src/delta/draft.ts</a:t>
            </a:r>
          </a:p>
          <a:p xmlns:a="http://schemas.openxmlformats.org/drawingml/2006/main">
            <a:r>
              <a:t>packages/chord/src/delta/index.ts</a:t>
            </a:r>
          </a:p>
          <a:p xmlns:a="http://schemas.openxmlformats.org/drawingml/2006/main">
            <a:r>
              <a:t>packages/chord/src/delta/revision-validator.ts</a:t>
            </a:r>
          </a:p>
          <a:p xmlns:a="http://schemas.openxmlformats.org/drawingml/2006/main">
            <a:r>
              <a:t>packages/chord/src/delta/tracker.ts</a:t>
            </a:r>
          </a:p>
          <a:p xmlns:a="http://schemas.openxmlformats.org/drawingml/2006/main">
            <a:r>
              <a:t>packages/chord/src/state.ts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3. 提交并发布</a:t>
            </a:r>
          </a:p>
          <a:p xmlns:a="http://schemas.openxmlformats.org/drawingml/2006/main">
            <a:r>
              <a:t>对照 adopt 与 applyImmutable，标记版本切换和订阅者可见点。</a:t>
            </a:r>
          </a:p>
          <a:p xmlns:a="http://schemas.openxmlformats.org/drawingml/2006/main">
            <a:r>
              <a:t>输入：已验证候选变更</a:t>
            </a:r>
          </a:p>
          <a:p xmlns:a="http://schemas.openxmlformats.org/drawingml/2006/main">
            <a:r>
              <a:t>输出：新权威状态</a:t>
            </a:r>
          </a:p>
          <a:p xmlns:a="http://schemas.openxmlformats.org/drawingml/2006/main">
            <a:r>
              <a:t>入口线索：track / applyImmutable / replicatedState</a:t>
            </a:r>
          </a:p>
          <a:p xmlns:a="http://schemas.openxmlformats.org/drawingml/2006/main">
            <a:r>
              <a:t>职责：replicatedState 独立于对象宿主；每订阅最多积压 100 份完整值，溢出合并为最新值，不能当成无损审计流。</a:t>
            </a:r>
          </a:p>
          <a:p xmlns:a="http://schemas.openxmlformats.org/drawingml/2006/main">
            <a:r>
              <a:t>源码：packages/chord/src/delta/README.md</a:t>
            </a:r>
          </a:p>
          <a:p xmlns:a="http://schemas.openxmlformats.org/drawingml/2006/main">
            <a:r>
              <a:t>packages/chord/src/delta/README.zh.md</a:t>
            </a:r>
          </a:p>
          <a:p xmlns:a="http://schemas.openxmlformats.org/drawingml/2006/main">
            <a:r>
              <a:t>packages/chord/src/delta/apply-immutable-trusted.ts</a:t>
            </a:r>
          </a:p>
          <a:p xmlns:a="http://schemas.openxmlformats.org/drawingml/2006/main">
            <a:r>
              <a:t>packages/chord/src/delta/diff.ts</a:t>
            </a:r>
          </a:p>
          <a:p xmlns:a="http://schemas.openxmlformats.org/drawingml/2006/main">
            <a:r>
              <a:t>packages/chord/src/delta/draft.ts</a:t>
            </a:r>
          </a:p>
          <a:p xmlns:a="http://schemas.openxmlformats.org/drawingml/2006/main">
            <a:r>
              <a:t>packages/chord/src/delta/index.ts</a:t>
            </a:r>
          </a:p>
          <a:p xmlns:a="http://schemas.openxmlformats.org/drawingml/2006/main">
            <a:r>
              <a:t>packages/chord/src/delta/revision-validator.ts</a:t>
            </a:r>
          </a:p>
          <a:p xmlns:a="http://schemas.openxmlformats.org/drawingml/2006/main">
            <a:r>
              <a:t>packages/chord/src/delta/tracker.ts</a:t>
            </a:r>
          </a:p>
          <a:p xmlns:a="http://schemas.openxmlformats.org/drawingml/2006/main">
            <a:r>
              <a:t>packages/chord/src/state.ts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4. 观察积压行为</a:t>
            </a:r>
          </a:p>
          <a:p xmlns:a="http://schemas.openxmlformats.org/drawingml/2006/main">
            <a:r>
              <a:t>比较对象 state 与 replicatedState 的订阅语义，核对慢消费者的合并边界。</a:t>
            </a:r>
          </a:p>
          <a:p xmlns:a="http://schemas.openxmlformats.org/drawingml/2006/main">
            <a:r>
              <a:t>输入：连续状态更新</a:t>
            </a:r>
          </a:p>
          <a:p xmlns:a="http://schemas.openxmlformats.org/drawingml/2006/main">
            <a:r>
              <a:t>输出：订阅者得到的状态</a:t>
            </a:r>
          </a:p>
          <a:p xmlns:a="http://schemas.openxmlformats.org/drawingml/2006/main">
            <a:r>
              <a:t>入口线索：self.state / cell / derivation / listener / resource</a:t>
            </a:r>
          </a:p>
          <a:p xmlns:a="http://schemas.openxmlformats.org/drawingml/2006/main">
            <a:r>
              <a:t>职责：句柄与状态读接口跨重载保持稳定；资源释放与迁移按运行时生命周期执行。</a:t>
            </a:r>
          </a:p>
          <a:p xmlns:a="http://schemas.openxmlformats.org/drawingml/2006/main">
            <a:r>
              <a:t>源码：packages/chord/src/cell.ts</a:t>
            </a:r>
          </a:p>
          <a:p xmlns:a="http://schemas.openxmlformats.org/drawingml/2006/main">
            <a:r>
              <a:t>packages/chord/src/declare.ts</a:t>
            </a:r>
          </a:p>
          <a:p xmlns:a="http://schemas.openxmlformats.org/drawingml/2006/main">
            <a:r>
              <a:t>packages/chord/src/publish.ts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失败与恢复：replicatedState 的完整值积压会合并为最新值，不能当作无损审计事件流；需要审计时保存事件记录。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练习：设计 prepare 后抛错而不 adopt 的测试，证明权威版本不改变。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参考判断：候选状态与已提交状态必须隔离；观察到最新值不证明中间每次值都被消费。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功能编号：CHR-05, CHR-12, CHR-13, CHR-14, CHR-15, CHR-16, CHR-33, CHR-34, CHR-35, CHR-36, CHR-38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文档来源：</a:t>
            </a:r>
          </a:p>
          <a:p xmlns:a="http://schemas.openxmlformats.org/drawingml/2006/main">
            <a:r>
              <a:t>packages/chord/README.md</a:t>
            </a:r>
          </a:p>
          <a:p xmlns:a="http://schemas.openxmlformats.org/drawingml/2006/main">
            <a:r>
              <a:t>packages/chord/docs/guide.md</a:t>
            </a:r>
          </a:p>
          <a:p xmlns:a="http://schemas.openxmlformats.org/drawingml/2006/main">
            <a:r>
              <a:t>packages/chord/docs/spec.md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关联测试阅读线索（未在演示文稿中执行）：</a:t>
            </a:r>
          </a:p>
          <a:p xmlns:a="http://schemas.openxmlformats.org/drawingml/2006/main">
            <a:r>
              <a:t>packages/chord/test/delta-diff.test.ts</a:t>
            </a:r>
          </a:p>
          <a:p xmlns:a="http://schemas.openxmlformats.org/drawingml/2006/main">
            <a:r>
              <a:t>packages/chord/test/state-diff.test.ts</a:t>
            </a:r>
          </a:p>
          <a:p xmlns:a="http://schemas.openxmlformats.org/drawingml/2006/main">
            <a:r>
              <a:t>packages/chord/test/delta-benchmark/benchmark.worker.ts</a:t>
            </a:r>
          </a:p>
          <a:p xmlns:a="http://schemas.openxmlformats.org/drawingml/2006/main">
            <a:r>
              <a:t>packages/chord/test/delta-benchmark/conversation-view-benchmark.worker.ts</a:t>
            </a:r>
          </a:p>
          <a:p xmlns:a="http://schemas.openxmlformats.org/drawingml/2006/main">
            <a:r>
              <a:t>packages/chord/test/delta-benchmark/memory-benchmark.worker.ts</a:t>
            </a:r>
          </a:p>
          <a:p xmlns:a="http://schemas.openxmlformats.org/drawingml/2006/main">
            <a:r>
              <a:t>packages/chord/test/delta-apply-immutable.test.ts</a:t>
            </a:r>
          </a:p>
          <a:p xmlns:a="http://schemas.openxmlformats.org/drawingml/2006/main">
            <a:r>
              <a:t>packages/chord/test/delta-clone.test.ts</a:t>
            </a:r>
          </a:p>
          <a:p xmlns:a="http://schemas.openxmlformats.org/drawingml/2006/main">
            <a:r>
              <a:t>packages/chord/test/delta-tracker/retention.worker.ts</a:t>
            </a:r>
          </a:p>
          <a:p xmlns:a="http://schemas.openxmlformats.org/drawingml/2006/main">
            <a:r>
              <a:t>packages/chord/test/delta-tracker/tracker.test.ts</a:t>
            </a:r>
          </a:p>
          <a:p xmlns:a="http://schemas.openxmlformats.org/drawingml/2006/main">
            <a:r>
              <a:t>packages/chord/test/delta-traversal.bench.ts</a:t>
            </a:r>
          </a:p>
          <a:p xmlns:a="http://schemas.openxmlformats.org/drawingml/2006/main">
            <a:r>
              <a:t>packages/chord/test/delta.test.ts</a:t>
            </a:r>
          </a:p>
          <a:p xmlns:a="http://schemas.openxmlformats.org/drawingml/2006/main">
            <a:r>
              <a:t>packages/chord/test/replicated-state.test.ts</a:t>
            </a:r>
          </a:p>
          <a:p xmlns:a="http://schemas.openxmlformats.org/drawingml/2006/main">
            <a:r>
              <a:t>packages/chord/test/requests.test.ts</a:t>
            </a:r>
          </a:p>
          <a:p xmlns:a="http://schemas.openxmlformats.org/drawingml/2006/main">
            <a:r>
              <a:t>packages/chord/test/state-draft.test.ts</a:t>
            </a:r>
          </a:p>
          <a:p xmlns:a="http://schemas.openxmlformats.org/drawingml/2006/main">
            <a:r>
              <a:t>packages/chord/test/state-fuzz.test.ts</a:t>
            </a:r>
          </a:p>
          <a:p xmlns:a="http://schemas.openxmlformats.org/drawingml/2006/main">
            <a:r>
              <a:t>packages/chord/test/state-value.test.ts</a:t>
            </a:r>
          </a:p>
          <a:p xmlns:a="http://schemas.openxmlformats.org/drawingml/2006/main">
            <a:r>
              <a:t>packages/chord/test/state.test.ts</a:t>
            </a:r>
          </a:p>
          <a:p xmlns:a="http://schemas.openxmlformats.org/drawingml/2006/main">
            <a:r>
              <a:t>packages/durable/test/harness-inbox.test.ts</a:t>
            </a:r>
          </a:p>
          <a:p xmlns:a="http://schemas.openxmlformats.org/drawingml/2006/main">
            <a:r>
              <a:t>packages/durable/test/harness-live-deltas.test.ts</a:t>
            </a:r>
          </a:p>
          <a:p xmlns:a="http://schemas.openxmlformats.org/drawingml/2006/main">
            <a:r>
              <a:t>packages/durable/test/harness-task-graph.test.ts</a:t>
            </a:r>
          </a:p>
          <a:p xmlns:a="http://schemas.openxmlformats.org/drawingml/2006/main">
            <a:r>
              <a:t>packages/durable/test/harness-view.test.ts</a:t>
            </a:r>
          </a:p>
          <a:p xmlns:a="http://schemas.openxmlformats.org/drawingml/2006/main">
            <a:r>
              <a:t>packages/durable/test/session-checkpoints-migrations.test.ts</a:t>
            </a:r>
          </a:p>
          <a:p xmlns:a="http://schemas.openxmlformats.org/drawingml/2006/main">
            <a:r>
              <a:t>packages/durable/test/session-watches.test.ts</a:t>
            </a:r>
          </a:p>
          <a:p xmlns:a="http://schemas.openxmlformats.org/drawingml/2006/main">
            <a:r>
              <a:t>packages/chord/test/eager-reload.test.ts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源码基线：6cd9d957a9fd50bc504d45b72834ed9dd85a20b6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流程为教学阅读顺序，可选分支不表示每次运行必经。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订阅者要看到一致状态，而更新计算可能失败。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明确 JSON 边界</a:t>
            </a:r>
          </a:p>
          <a:p xmlns:a="http://schemas.openxmlformats.org/drawingml/2006/main">
            <a:r>
              <a:t>检查合法 JSON、复制与所有权约定，发布后不直接改共享容器。</a:t>
            </a:r>
          </a:p>
          <a:p xmlns:a="http://schemas.openxmlformats.org/drawingml/2006/main">
            <a:r>
              <a:t>输入：调用者持有的 JSON</a:t>
            </a:r>
          </a:p>
          <a:p xmlns:a="http://schemas.openxmlformats.org/drawingml/2006/main">
            <a:r>
              <a:t>输出：可安全交给运行时的值</a:t>
            </a:r>
          </a:p>
          <a:p xmlns:a="http://schemas.openxmlformats.org/drawingml/2006/main">
            <a:r>
              <a:t>入口线索：copyJson / isJsonValue / ChordError</a:t>
            </a:r>
          </a:p>
          <a:p xmlns:a="http://schemas.openxmlformats.org/drawingml/2006/main">
            <a:r>
              <a:t>职责：转移所有权后的值不得继续修改；在可变信任边界复制或序列化。</a:t>
            </a:r>
          </a:p>
          <a:p xmlns:a="http://schemas.openxmlformats.org/drawingml/2006/main">
            <a:r>
              <a:t>源码：packages/chord/src/errors.ts</a:t>
            </a:r>
          </a:p>
          <a:p xmlns:a="http://schemas.openxmlformats.org/drawingml/2006/main">
            <a:r>
              <a:t>packages/chord/src/json.ts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2. 准备增量</a:t>
            </a:r>
          </a:p>
          <a:p xmlns:a="http://schemas.openxmlformats.org/drawingml/2006/main">
            <a:r>
              <a:t>跟踪 track/prepare，理解候选变更尚未成为权威版本。</a:t>
            </a:r>
          </a:p>
          <a:p xmlns:a="http://schemas.openxmlformats.org/drawingml/2006/main">
            <a:r>
              <a:t>输入：旧版本和修改</a:t>
            </a:r>
          </a:p>
          <a:p xmlns:a="http://schemas.openxmlformats.org/drawingml/2006/main">
            <a:r>
              <a:t>输出：候选 delta</a:t>
            </a:r>
          </a:p>
          <a:p xmlns:a="http://schemas.openxmlformats.org/drawingml/2006/main">
            <a:r>
              <a:t>入口线索：track / applyImmutable / replicatedState</a:t>
            </a:r>
          </a:p>
          <a:p xmlns:a="http://schemas.openxmlformats.org/drawingml/2006/main">
            <a:r>
              <a:t>职责：replicatedState 独立于对象宿主；每订阅最多积压 100 份完整值，溢出合并为最新值，不能当成无损审计流。</a:t>
            </a:r>
          </a:p>
          <a:p xmlns:a="http://schemas.openxmlformats.org/drawingml/2006/main">
            <a:r>
              <a:t>源码：packages/chord/src/delta/README.md</a:t>
            </a:r>
          </a:p>
          <a:p xmlns:a="http://schemas.openxmlformats.org/drawingml/2006/main">
            <a:r>
              <a:t>packages/chord/src/delta/README.zh.md</a:t>
            </a:r>
          </a:p>
          <a:p xmlns:a="http://schemas.openxmlformats.org/drawingml/2006/main">
            <a:r>
              <a:t>packages/chord/src/delta/apply-immutable-trusted.ts</a:t>
            </a:r>
          </a:p>
          <a:p xmlns:a="http://schemas.openxmlformats.org/drawingml/2006/main">
            <a:r>
              <a:t>packages/chord/src/delta/diff.ts</a:t>
            </a:r>
          </a:p>
          <a:p xmlns:a="http://schemas.openxmlformats.org/drawingml/2006/main">
            <a:r>
              <a:t>packages/chord/src/delta/draft.ts</a:t>
            </a:r>
          </a:p>
          <a:p xmlns:a="http://schemas.openxmlformats.org/drawingml/2006/main">
            <a:r>
              <a:t>packages/chord/src/delta/index.ts</a:t>
            </a:r>
          </a:p>
          <a:p xmlns:a="http://schemas.openxmlformats.org/drawingml/2006/main">
            <a:r>
              <a:t>packages/chord/src/delta/revision-validator.ts</a:t>
            </a:r>
          </a:p>
          <a:p xmlns:a="http://schemas.openxmlformats.org/drawingml/2006/main">
            <a:r>
              <a:t>packages/chord/src/delta/tracker.ts</a:t>
            </a:r>
          </a:p>
          <a:p xmlns:a="http://schemas.openxmlformats.org/drawingml/2006/main">
            <a:r>
              <a:t>packages/chord/src/state.ts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3. 提交并发布</a:t>
            </a:r>
          </a:p>
          <a:p xmlns:a="http://schemas.openxmlformats.org/drawingml/2006/main">
            <a:r>
              <a:t>对照 adopt 与 applyImmutable，标记版本切换和订阅者可见点。</a:t>
            </a:r>
          </a:p>
          <a:p xmlns:a="http://schemas.openxmlformats.org/drawingml/2006/main">
            <a:r>
              <a:t>输入：已验证候选变更</a:t>
            </a:r>
          </a:p>
          <a:p xmlns:a="http://schemas.openxmlformats.org/drawingml/2006/main">
            <a:r>
              <a:t>输出：新权威状态</a:t>
            </a:r>
          </a:p>
          <a:p xmlns:a="http://schemas.openxmlformats.org/drawingml/2006/main">
            <a:r>
              <a:t>入口线索：track / applyImmutable / replicatedState</a:t>
            </a:r>
          </a:p>
          <a:p xmlns:a="http://schemas.openxmlformats.org/drawingml/2006/main">
            <a:r>
              <a:t>职责：replicatedState 独立于对象宿主；每订阅最多积压 100 份完整值，溢出合并为最新值，不能当成无损审计流。</a:t>
            </a:r>
          </a:p>
          <a:p xmlns:a="http://schemas.openxmlformats.org/drawingml/2006/main">
            <a:r>
              <a:t>源码：packages/chord/src/delta/README.md</a:t>
            </a:r>
          </a:p>
          <a:p xmlns:a="http://schemas.openxmlformats.org/drawingml/2006/main">
            <a:r>
              <a:t>packages/chord/src/delta/README.zh.md</a:t>
            </a:r>
          </a:p>
          <a:p xmlns:a="http://schemas.openxmlformats.org/drawingml/2006/main">
            <a:r>
              <a:t>packages/chord/src/delta/apply-immutable-trusted.ts</a:t>
            </a:r>
          </a:p>
          <a:p xmlns:a="http://schemas.openxmlformats.org/drawingml/2006/main">
            <a:r>
              <a:t>packages/chord/src/delta/diff.ts</a:t>
            </a:r>
          </a:p>
          <a:p xmlns:a="http://schemas.openxmlformats.org/drawingml/2006/main">
            <a:r>
              <a:t>packages/chord/src/delta/draft.ts</a:t>
            </a:r>
          </a:p>
          <a:p xmlns:a="http://schemas.openxmlformats.org/drawingml/2006/main">
            <a:r>
              <a:t>packages/chord/src/delta/index.ts</a:t>
            </a:r>
          </a:p>
          <a:p xmlns:a="http://schemas.openxmlformats.org/drawingml/2006/main">
            <a:r>
              <a:t>packages/chord/src/delta/revision-validator.ts</a:t>
            </a:r>
          </a:p>
          <a:p xmlns:a="http://schemas.openxmlformats.org/drawingml/2006/main">
            <a:r>
              <a:t>packages/chord/src/delta/tracker.ts</a:t>
            </a:r>
          </a:p>
          <a:p xmlns:a="http://schemas.openxmlformats.org/drawingml/2006/main">
            <a:r>
              <a:t>packages/chord/src/state.ts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4. 观察积压行为</a:t>
            </a:r>
          </a:p>
          <a:p xmlns:a="http://schemas.openxmlformats.org/drawingml/2006/main">
            <a:r>
              <a:t>比较对象 state 与 replicatedState 的订阅语义，核对慢消费者的合并边界。</a:t>
            </a:r>
          </a:p>
          <a:p xmlns:a="http://schemas.openxmlformats.org/drawingml/2006/main">
            <a:r>
              <a:t>输入：连续状态更新</a:t>
            </a:r>
          </a:p>
          <a:p xmlns:a="http://schemas.openxmlformats.org/drawingml/2006/main">
            <a:r>
              <a:t>输出：订阅者得到的状态</a:t>
            </a:r>
          </a:p>
          <a:p xmlns:a="http://schemas.openxmlformats.org/drawingml/2006/main">
            <a:r>
              <a:t>入口线索：self.state / cell / derivation / listener / resource</a:t>
            </a:r>
          </a:p>
          <a:p xmlns:a="http://schemas.openxmlformats.org/drawingml/2006/main">
            <a:r>
              <a:t>职责：句柄与状态读接口跨重载保持稳定；资源释放与迁移按运行时生命周期执行。</a:t>
            </a:r>
          </a:p>
          <a:p xmlns:a="http://schemas.openxmlformats.org/drawingml/2006/main">
            <a:r>
              <a:t>源码：packages/chord/src/cell.ts</a:t>
            </a:r>
          </a:p>
          <a:p xmlns:a="http://schemas.openxmlformats.org/drawingml/2006/main">
            <a:r>
              <a:t>packages/chord/src/declare.ts</a:t>
            </a:r>
          </a:p>
          <a:p xmlns:a="http://schemas.openxmlformats.org/drawingml/2006/main">
            <a:r>
              <a:t>packages/chord/src/publish.ts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失败与恢复：replicatedState 的完整值积压会合并为最新值，不能当作无损审计事件流；需要审计时保存事件记录。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练习：设计 prepare 后抛错而不 adopt 的测试，证明权威版本不改变。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参考判断：候选状态与已提交状态必须隔离；观察到最新值不证明中间每次值都被消费。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功能编号：CHR-05, CHR-12, CHR-13, CHR-14, CHR-15, CHR-16, CHR-33, CHR-34, CHR-35, CHR-36, CHR-38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文档来源：</a:t>
            </a:r>
          </a:p>
          <a:p xmlns:a="http://schemas.openxmlformats.org/drawingml/2006/main">
            <a:r>
              <a:t>packages/chord/README.md</a:t>
            </a:r>
          </a:p>
          <a:p xmlns:a="http://schemas.openxmlformats.org/drawingml/2006/main">
            <a:r>
              <a:t>packages/chord/docs/guide.md</a:t>
            </a:r>
          </a:p>
          <a:p xmlns:a="http://schemas.openxmlformats.org/drawingml/2006/main">
            <a:r>
              <a:t>packages/chord/docs/spec.md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关联测试阅读线索（未在演示文稿中执行）：</a:t>
            </a:r>
          </a:p>
          <a:p xmlns:a="http://schemas.openxmlformats.org/drawingml/2006/main">
            <a:r>
              <a:t>packages/chord/test/delta-diff.test.ts</a:t>
            </a:r>
          </a:p>
          <a:p xmlns:a="http://schemas.openxmlformats.org/drawingml/2006/main">
            <a:r>
              <a:t>packages/chord/test/state-diff.test.ts</a:t>
            </a:r>
          </a:p>
          <a:p xmlns:a="http://schemas.openxmlformats.org/drawingml/2006/main">
            <a:r>
              <a:t>packages/chord/test/delta-benchmark/benchmark.worker.ts</a:t>
            </a:r>
          </a:p>
          <a:p xmlns:a="http://schemas.openxmlformats.org/drawingml/2006/main">
            <a:r>
              <a:t>packages/chord/test/delta-benchmark/conversation-view-benchmark.worker.ts</a:t>
            </a:r>
          </a:p>
          <a:p xmlns:a="http://schemas.openxmlformats.org/drawingml/2006/main">
            <a:r>
              <a:t>packages/chord/test/delta-benchmark/memory-benchmark.worker.ts</a:t>
            </a:r>
          </a:p>
          <a:p xmlns:a="http://schemas.openxmlformats.org/drawingml/2006/main">
            <a:r>
              <a:t>packages/chord/test/delta-apply-immutable.test.ts</a:t>
            </a:r>
          </a:p>
          <a:p xmlns:a="http://schemas.openxmlformats.org/drawingml/2006/main">
            <a:r>
              <a:t>packages/chord/test/delta-clone.test.ts</a:t>
            </a:r>
          </a:p>
          <a:p xmlns:a="http://schemas.openxmlformats.org/drawingml/2006/main">
            <a:r>
              <a:t>packages/chord/test/delta-tracker/retention.worker.ts</a:t>
            </a:r>
          </a:p>
          <a:p xmlns:a="http://schemas.openxmlformats.org/drawingml/2006/main">
            <a:r>
              <a:t>packages/chord/test/delta-tracker/tracker.test.ts</a:t>
            </a:r>
          </a:p>
          <a:p xmlns:a="http://schemas.openxmlformats.org/drawingml/2006/main">
            <a:r>
              <a:t>packages/chord/test/delta-traversal.bench.ts</a:t>
            </a:r>
          </a:p>
          <a:p xmlns:a="http://schemas.openxmlformats.org/drawingml/2006/main">
            <a:r>
              <a:t>packages/chord/test/delta.test.ts</a:t>
            </a:r>
          </a:p>
          <a:p xmlns:a="http://schemas.openxmlformats.org/drawingml/2006/main">
            <a:r>
              <a:t>packages/chord/test/replicated-state.test.ts</a:t>
            </a:r>
          </a:p>
          <a:p xmlns:a="http://schemas.openxmlformats.org/drawingml/2006/main">
            <a:r>
              <a:t>packages/chord/test/requests.test.ts</a:t>
            </a:r>
          </a:p>
          <a:p xmlns:a="http://schemas.openxmlformats.org/drawingml/2006/main">
            <a:r>
              <a:t>packages/chord/test/state-draft.test.ts</a:t>
            </a:r>
          </a:p>
          <a:p xmlns:a="http://schemas.openxmlformats.org/drawingml/2006/main">
            <a:r>
              <a:t>packages/chord/test/state-fuzz.test.ts</a:t>
            </a:r>
          </a:p>
          <a:p xmlns:a="http://schemas.openxmlformats.org/drawingml/2006/main">
            <a:r>
              <a:t>packages/chord/test/state-value.test.ts</a:t>
            </a:r>
          </a:p>
          <a:p xmlns:a="http://schemas.openxmlformats.org/drawingml/2006/main">
            <a:r>
              <a:t>packages/chord/test/state.test.ts</a:t>
            </a:r>
          </a:p>
          <a:p xmlns:a="http://schemas.openxmlformats.org/drawingml/2006/main">
            <a:r>
              <a:t>packages/durable/test/harness-inbox.test.ts</a:t>
            </a:r>
          </a:p>
          <a:p xmlns:a="http://schemas.openxmlformats.org/drawingml/2006/main">
            <a:r>
              <a:t>packages/durable/test/harness-live-deltas.test.ts</a:t>
            </a:r>
          </a:p>
          <a:p xmlns:a="http://schemas.openxmlformats.org/drawingml/2006/main">
            <a:r>
              <a:t>packages/durable/test/harness-task-graph.test.ts</a:t>
            </a:r>
          </a:p>
          <a:p xmlns:a="http://schemas.openxmlformats.org/drawingml/2006/main">
            <a:r>
              <a:t>packages/durable/test/harness-view.test.ts</a:t>
            </a:r>
          </a:p>
          <a:p xmlns:a="http://schemas.openxmlformats.org/drawingml/2006/main">
            <a:r>
              <a:t>packages/durable/test/session-checkpoints-migrations.test.ts</a:t>
            </a:r>
          </a:p>
          <a:p xmlns:a="http://schemas.openxmlformats.org/drawingml/2006/main">
            <a:r>
              <a:t>packages/durable/test/session-watches.test.ts</a:t>
            </a:r>
          </a:p>
          <a:p xmlns:a="http://schemas.openxmlformats.org/drawingml/2006/main">
            <a:r>
              <a:t>packages/chord/test/eager-reload.test.ts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源码基线：6cd9d957a9fd50bc504d45b72834ed9dd85a20b6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流程为教学阅读顺序，可选分支不表示每次运行必经。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代码变化时，希望对象状态保持，同时已有请求能够收尾。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连通两个 Host</a:t>
            </a:r>
          </a:p>
          <a:p xmlns:a="http://schemas.openxmlformats.org/drawingml/2006/main">
            <a:r>
              <a:t>先用 memoryLinkPair 跟踪 JSON 帧，再比较 IPC/WebSocket 的 accept 与调用。</a:t>
            </a:r>
          </a:p>
          <a:p xmlns:a="http://schemas.openxmlformats.org/drawingml/2006/main">
            <a:r>
              <a:t>输入：两端 Host</a:t>
            </a:r>
          </a:p>
          <a:p xmlns:a="http://schemas.openxmlformats.org/drawingml/2006/main">
            <a:r>
              <a:t>输出：远程句柄与状态连接</a:t>
            </a:r>
          </a:p>
          <a:p xmlns:a="http://schemas.openxmlformats.org/drawingml/2006/main">
            <a:r>
              <a:t>入口线索：memoryLinkPair / ipcLink / webSocketLink / acceptWebSockets</a:t>
            </a:r>
          </a:p>
          <a:p xmlns:a="http://schemas.openxmlformats.org/drawingml/2006/main">
            <a:r>
              <a:t>职责：断线拒绝未完成调用；不支持连接恢复，断线不证明远端操作尚未执行。</a:t>
            </a:r>
          </a:p>
          <a:p xmlns:a="http://schemas.openxmlformats.org/drawingml/2006/main">
            <a:r>
              <a:t>源码：packages/chord/src/cluster.ts</a:t>
            </a:r>
          </a:p>
          <a:p xmlns:a="http://schemas.openxmlformats.org/drawingml/2006/main">
            <a:r>
              <a:t>packages/chord/src/connection.ts</a:t>
            </a:r>
          </a:p>
          <a:p xmlns:a="http://schemas.openxmlformats.org/drawingml/2006/main">
            <a:r>
              <a:t>packages/chord/src/link.ts</a:t>
            </a:r>
          </a:p>
          <a:p xmlns:a="http://schemas.openxmlformats.org/drawingml/2006/main">
            <a:r>
              <a:t>packages/chord/src/remote.ts</a:t>
            </a:r>
          </a:p>
          <a:p xmlns:a="http://schemas.openxmlformats.org/drawingml/2006/main">
            <a:r>
              <a:t>packages/chord/src/websocket.ts</a:t>
            </a:r>
          </a:p>
          <a:p xmlns:a="http://schemas.openxmlformats.org/drawingml/2006/main">
            <a:r>
              <a:t>packages/chord/src/wire.ts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2. 组织 Facet 与注册表</a:t>
            </a:r>
          </a:p>
          <a:p xmlns:a="http://schemas.openxmlformats.org/drawingml/2006/main">
            <a:r>
              <a:t>查看 defineFacet/setup 和 defineRegistry，辨认实现装配与对象契约的关系。</a:t>
            </a:r>
          </a:p>
          <a:p xmlns:a="http://schemas.openxmlformats.org/drawingml/2006/main">
            <a:r>
              <a:t>输入：模块和提供者</a:t>
            </a:r>
          </a:p>
          <a:p xmlns:a="http://schemas.openxmlformats.org/drawingml/2006/main">
            <a:r>
              <a:t>输出：动态可见能力</a:t>
            </a:r>
          </a:p>
          <a:p xmlns:a="http://schemas.openxmlformats.org/drawingml/2006/main">
            <a:r>
              <a:t>入口线索：defineFacet / defineRegistry</a:t>
            </a:r>
          </a:p>
          <a:p xmlns:a="http://schemas.openxmlformats.org/drawingml/2006/main">
            <a:r>
              <a:t>职责：新版 defineFacet 属于对象运行时；旧 createFacetHost、defineService 接口已移除。</a:t>
            </a:r>
          </a:p>
          <a:p xmlns:a="http://schemas.openxmlformats.org/drawingml/2006/main">
            <a:r>
              <a:t>源码：packages/chord/src/host.ts</a:t>
            </a:r>
          </a:p>
          <a:p xmlns:a="http://schemas.openxmlformats.org/drawingml/2006/main">
            <a:r>
              <a:t>packages/chord/src/registry.ts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3. 管理子宿主</a:t>
            </a:r>
          </a:p>
          <a:p xmlns:a="http://schemas.openxmlformats.org/drawingml/2006/main">
            <a:r>
              <a:t>检查 nodeLoader、forkDriver 和进程锁，明确进程所有权与关闭责任。</a:t>
            </a:r>
          </a:p>
          <a:p xmlns:a="http://schemas.openxmlformats.org/drawingml/2006/main">
            <a:r>
              <a:t>输入：子进程配置</a:t>
            </a:r>
          </a:p>
          <a:p xmlns:a="http://schemas.openxmlformats.org/drawingml/2006/main">
            <a:r>
              <a:t>输出：受管理的 Host</a:t>
            </a:r>
          </a:p>
          <a:p xmlns:a="http://schemas.openxmlformats.org/drawingml/2006/main">
            <a:r>
              <a:t>入口线索：createHostManager / forkDriver / childControl / processLock / nodeLoader</a:t>
            </a:r>
          </a:p>
          <a:p xmlns:a="http://schemas.openxmlformats.org/drawingml/2006/main">
            <a:r>
              <a:t>职责：Node 专用入口与浏览器可用根入口分离。</a:t>
            </a:r>
          </a:p>
          <a:p xmlns:a="http://schemas.openxmlformats.org/drawingml/2006/main">
            <a:r>
              <a:t>源码：packages/chord/src/loader.ts</a:t>
            </a:r>
          </a:p>
          <a:p xmlns:a="http://schemas.openxmlformats.org/drawingml/2006/main">
            <a:r>
              <a:t>packages/chord/src/manager.ts</a:t>
            </a:r>
          </a:p>
          <a:p xmlns:a="http://schemas.openxmlformats.org/drawingml/2006/main">
            <a:r>
              <a:t>packages/chord/src/node.ts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4. 切换 epoch 并迁移</a:t>
            </a:r>
          </a:p>
          <a:p xmlns:a="http://schemas.openxmlformats.org/drawingml/2006/main">
            <a:r>
              <a:t>沿准备、阻塞进入、迁移与提交，观察在途调用继续使用旧 epoch 的边界。</a:t>
            </a:r>
          </a:p>
          <a:p xmlns:a="http://schemas.openxmlformats.org/drawingml/2006/main">
            <a:r>
              <a:t>输入：新实现和现有状态</a:t>
            </a:r>
          </a:p>
          <a:p xmlns:a="http://schemas.openxmlformats.org/drawingml/2006/main">
            <a:r>
              <a:t>输出：新代码及收尾中的旧代码</a:t>
            </a:r>
          </a:p>
          <a:p xmlns:a="http://schemas.openxmlformats.org/drawingml/2006/main">
            <a:r>
              <a:t>入口线索：host.reload / ReloadOptions / ReloadReport</a:t>
            </a:r>
          </a:p>
          <a:p xmlns:a="http://schemas.openxmlformats.org/drawingml/2006/main">
            <a:r>
              <a:t>职责：在途工作沿原 epoch 收尾；最多保留当前与前一个 epoch，兼容性和迁移需满足契约。</a:t>
            </a:r>
          </a:p>
          <a:p xmlns:a="http://schemas.openxmlformats.org/drawingml/2006/main">
            <a:r>
              <a:t>源码：packages/chord/src/host.ts</a:t>
            </a:r>
          </a:p>
          <a:p xmlns:a="http://schemas.openxmlformats.org/drawingml/2006/main">
            <a:r>
              <a:t>packages/chord/src/reload.ts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失败与恢复：断线拒绝未完成调用且不提供连接恢复保证；断线不证明远端操作未执行。热重载也不是任意不兼容修改都能透明迁移。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练习：找一个 reload 测试，标出旧调用、新调用和状态迁移各自采用哪个 epoch。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参考判断：应区分代码切换和连接状态；在途调用有其原版本生命周期，迁移需满足契约。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功能编号：CHR-10, CHR-14, CHR-19, CHR-20, CHR-21, CHR-22, CHR-23, CHR-24, CHR-25, CHR-26, CHR-27, CHR-28, CHR-29, CHR-30, CHR-31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文档来源：</a:t>
            </a:r>
          </a:p>
          <a:p xmlns:a="http://schemas.openxmlformats.org/drawingml/2006/main">
            <a:r>
              <a:t>packages/chord/README.md</a:t>
            </a:r>
          </a:p>
          <a:p xmlns:a="http://schemas.openxmlformats.org/drawingml/2006/main">
            <a:r>
              <a:t>packages/chord/docs/guide.md</a:t>
            </a:r>
          </a:p>
          <a:p xmlns:a="http://schemas.openxmlformats.org/drawingml/2006/main">
            <a:r>
              <a:t>packages/chord/docs/spec.md</a:t>
            </a:r>
          </a:p>
          <a:p xmlns:a="http://schemas.openxmlformats.org/drawingml/2006/main">
            <a:r>
              <a:t>packages/chord/src/manager.ts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关联测试阅读线索（未在演示文稿中执行）：</a:t>
            </a:r>
          </a:p>
          <a:p xmlns:a="http://schemas.openxmlformats.org/drawingml/2006/main">
            <a:r>
              <a:t>packages/chord/test/eager-reload.test.ts</a:t>
            </a:r>
          </a:p>
          <a:p xmlns:a="http://schemas.openxmlformats.org/drawingml/2006/main">
            <a:r>
              <a:t>packages/chord/test/fixtures/loader.ts</a:t>
            </a:r>
          </a:p>
          <a:p xmlns:a="http://schemas.openxmlformats.org/drawingml/2006/main">
            <a:r>
              <a:t>packages/chord/test/fixtures/worker.ts</a:t>
            </a:r>
          </a:p>
          <a:p xmlns:a="http://schemas.openxmlformats.org/drawingml/2006/main">
            <a:r>
              <a:t>packages/chord/test/manager.test.ts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源码基线：6cd9d957a9fd50bc504d45b72834ed9dd85a20b6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流程为教学阅读顺序，可选分支不表示每次运行必经。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代码变化时，希望对象状态保持，同时已有请求能够收尾。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连通两个 Host</a:t>
            </a:r>
          </a:p>
          <a:p xmlns:a="http://schemas.openxmlformats.org/drawingml/2006/main">
            <a:r>
              <a:t>先用 memoryLinkPair 跟踪 JSON 帧，再比较 IPC/WebSocket 的 accept 与调用。</a:t>
            </a:r>
          </a:p>
          <a:p xmlns:a="http://schemas.openxmlformats.org/drawingml/2006/main">
            <a:r>
              <a:t>输入：两端 Host</a:t>
            </a:r>
          </a:p>
          <a:p xmlns:a="http://schemas.openxmlformats.org/drawingml/2006/main">
            <a:r>
              <a:t>输出：远程句柄与状态连接</a:t>
            </a:r>
          </a:p>
          <a:p xmlns:a="http://schemas.openxmlformats.org/drawingml/2006/main">
            <a:r>
              <a:t>入口线索：memoryLinkPair / ipcLink / webSocketLink / acceptWebSockets</a:t>
            </a:r>
          </a:p>
          <a:p xmlns:a="http://schemas.openxmlformats.org/drawingml/2006/main">
            <a:r>
              <a:t>职责：断线拒绝未完成调用；不支持连接恢复，断线不证明远端操作尚未执行。</a:t>
            </a:r>
          </a:p>
          <a:p xmlns:a="http://schemas.openxmlformats.org/drawingml/2006/main">
            <a:r>
              <a:t>源码：packages/chord/src/cluster.ts</a:t>
            </a:r>
          </a:p>
          <a:p xmlns:a="http://schemas.openxmlformats.org/drawingml/2006/main">
            <a:r>
              <a:t>packages/chord/src/connection.ts</a:t>
            </a:r>
          </a:p>
          <a:p xmlns:a="http://schemas.openxmlformats.org/drawingml/2006/main">
            <a:r>
              <a:t>packages/chord/src/link.ts</a:t>
            </a:r>
          </a:p>
          <a:p xmlns:a="http://schemas.openxmlformats.org/drawingml/2006/main">
            <a:r>
              <a:t>packages/chord/src/remote.ts</a:t>
            </a:r>
          </a:p>
          <a:p xmlns:a="http://schemas.openxmlformats.org/drawingml/2006/main">
            <a:r>
              <a:t>packages/chord/src/websocket.ts</a:t>
            </a:r>
          </a:p>
          <a:p xmlns:a="http://schemas.openxmlformats.org/drawingml/2006/main">
            <a:r>
              <a:t>packages/chord/src/wire.ts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2. 组织 Facet 与注册表</a:t>
            </a:r>
          </a:p>
          <a:p xmlns:a="http://schemas.openxmlformats.org/drawingml/2006/main">
            <a:r>
              <a:t>查看 defineFacet/setup 和 defineRegistry，辨认实现装配与对象契约的关系。</a:t>
            </a:r>
          </a:p>
          <a:p xmlns:a="http://schemas.openxmlformats.org/drawingml/2006/main">
            <a:r>
              <a:t>输入：模块和提供者</a:t>
            </a:r>
          </a:p>
          <a:p xmlns:a="http://schemas.openxmlformats.org/drawingml/2006/main">
            <a:r>
              <a:t>输出：动态可见能力</a:t>
            </a:r>
          </a:p>
          <a:p xmlns:a="http://schemas.openxmlformats.org/drawingml/2006/main">
            <a:r>
              <a:t>入口线索：defineFacet / defineRegistry</a:t>
            </a:r>
          </a:p>
          <a:p xmlns:a="http://schemas.openxmlformats.org/drawingml/2006/main">
            <a:r>
              <a:t>职责：新版 defineFacet 属于对象运行时；旧 createFacetHost、defineService 接口已移除。</a:t>
            </a:r>
          </a:p>
          <a:p xmlns:a="http://schemas.openxmlformats.org/drawingml/2006/main">
            <a:r>
              <a:t>源码：packages/chord/src/host.ts</a:t>
            </a:r>
          </a:p>
          <a:p xmlns:a="http://schemas.openxmlformats.org/drawingml/2006/main">
            <a:r>
              <a:t>packages/chord/src/registry.ts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3. 管理子宿主</a:t>
            </a:r>
          </a:p>
          <a:p xmlns:a="http://schemas.openxmlformats.org/drawingml/2006/main">
            <a:r>
              <a:t>检查 nodeLoader、forkDriver 和进程锁，明确进程所有权与关闭责任。</a:t>
            </a:r>
          </a:p>
          <a:p xmlns:a="http://schemas.openxmlformats.org/drawingml/2006/main">
            <a:r>
              <a:t>输入：子进程配置</a:t>
            </a:r>
          </a:p>
          <a:p xmlns:a="http://schemas.openxmlformats.org/drawingml/2006/main">
            <a:r>
              <a:t>输出：受管理的 Host</a:t>
            </a:r>
          </a:p>
          <a:p xmlns:a="http://schemas.openxmlformats.org/drawingml/2006/main">
            <a:r>
              <a:t>入口线索：createHostManager / forkDriver / childControl / processLock / nodeLoader</a:t>
            </a:r>
          </a:p>
          <a:p xmlns:a="http://schemas.openxmlformats.org/drawingml/2006/main">
            <a:r>
              <a:t>职责：Node 专用入口与浏览器可用根入口分离。</a:t>
            </a:r>
          </a:p>
          <a:p xmlns:a="http://schemas.openxmlformats.org/drawingml/2006/main">
            <a:r>
              <a:t>源码：packages/chord/src/loader.ts</a:t>
            </a:r>
          </a:p>
          <a:p xmlns:a="http://schemas.openxmlformats.org/drawingml/2006/main">
            <a:r>
              <a:t>packages/chord/src/manager.ts</a:t>
            </a:r>
          </a:p>
          <a:p xmlns:a="http://schemas.openxmlformats.org/drawingml/2006/main">
            <a:r>
              <a:t>packages/chord/src/node.ts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4. 切换 epoch 并迁移</a:t>
            </a:r>
          </a:p>
          <a:p xmlns:a="http://schemas.openxmlformats.org/drawingml/2006/main">
            <a:r>
              <a:t>沿准备、阻塞进入、迁移与提交，观察在途调用继续使用旧 epoch 的边界。</a:t>
            </a:r>
          </a:p>
          <a:p xmlns:a="http://schemas.openxmlformats.org/drawingml/2006/main">
            <a:r>
              <a:t>输入：新实现和现有状态</a:t>
            </a:r>
          </a:p>
          <a:p xmlns:a="http://schemas.openxmlformats.org/drawingml/2006/main">
            <a:r>
              <a:t>输出：新代码及收尾中的旧代码</a:t>
            </a:r>
          </a:p>
          <a:p xmlns:a="http://schemas.openxmlformats.org/drawingml/2006/main">
            <a:r>
              <a:t>入口线索：host.reload / ReloadOptions / ReloadReport</a:t>
            </a:r>
          </a:p>
          <a:p xmlns:a="http://schemas.openxmlformats.org/drawingml/2006/main">
            <a:r>
              <a:t>职责：在途工作沿原 epoch 收尾；最多保留当前与前一个 epoch，兼容性和迁移需满足契约。</a:t>
            </a:r>
          </a:p>
          <a:p xmlns:a="http://schemas.openxmlformats.org/drawingml/2006/main">
            <a:r>
              <a:t>源码：packages/chord/src/host.ts</a:t>
            </a:r>
          </a:p>
          <a:p xmlns:a="http://schemas.openxmlformats.org/drawingml/2006/main">
            <a:r>
              <a:t>packages/chord/src/reload.ts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失败与恢复：断线拒绝未完成调用且不提供连接恢复保证；断线不证明远端操作未执行。热重载也不是任意不兼容修改都能透明迁移。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练习：找一个 reload 测试，标出旧调用、新调用和状态迁移各自采用哪个 epoch。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参考判断：应区分代码切换和连接状态；在途调用有其原版本生命周期，迁移需满足契约。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功能编号：CHR-10, CHR-14, CHR-19, CHR-20, CHR-21, CHR-22, CHR-23, CHR-24, CHR-25, CHR-26, CHR-27, CHR-28, CHR-29, CHR-30, CHR-31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文档来源：</a:t>
            </a:r>
          </a:p>
          <a:p xmlns:a="http://schemas.openxmlformats.org/drawingml/2006/main">
            <a:r>
              <a:t>packages/chord/README.md</a:t>
            </a:r>
          </a:p>
          <a:p xmlns:a="http://schemas.openxmlformats.org/drawingml/2006/main">
            <a:r>
              <a:t>packages/chord/docs/guide.md</a:t>
            </a:r>
          </a:p>
          <a:p xmlns:a="http://schemas.openxmlformats.org/drawingml/2006/main">
            <a:r>
              <a:t>packages/chord/docs/spec.md</a:t>
            </a:r>
          </a:p>
          <a:p xmlns:a="http://schemas.openxmlformats.org/drawingml/2006/main">
            <a:r>
              <a:t>packages/chord/src/manager.ts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关联测试阅读线索（未在演示文稿中执行）：</a:t>
            </a:r>
          </a:p>
          <a:p xmlns:a="http://schemas.openxmlformats.org/drawingml/2006/main">
            <a:r>
              <a:t>packages/chord/test/eager-reload.test.ts</a:t>
            </a:r>
          </a:p>
          <a:p xmlns:a="http://schemas.openxmlformats.org/drawingml/2006/main">
            <a:r>
              <a:t>packages/chord/test/fixtures/loader.ts</a:t>
            </a:r>
          </a:p>
          <a:p xmlns:a="http://schemas.openxmlformats.org/drawingml/2006/main">
            <a:r>
              <a:t>packages/chord/test/fixtures/worker.ts</a:t>
            </a:r>
          </a:p>
          <a:p xmlns:a="http://schemas.openxmlformats.org/drawingml/2006/main">
            <a:r>
              <a:t>packages/chord/test/manager.test.ts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源码基线：6cd9d957a9fd50bc504d45b72834ed9dd85a20b6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流程为教学阅读顺序，可选分支不表示每次运行必经。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代码变化时，希望对象状态保持，同时已有请求能够收尾。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连通两个 Host</a:t>
            </a:r>
          </a:p>
          <a:p xmlns:a="http://schemas.openxmlformats.org/drawingml/2006/main">
            <a:r>
              <a:t>先用 memoryLinkPair 跟踪 JSON 帧，再比较 IPC/WebSocket 的 accept 与调用。</a:t>
            </a:r>
          </a:p>
          <a:p xmlns:a="http://schemas.openxmlformats.org/drawingml/2006/main">
            <a:r>
              <a:t>输入：两端 Host</a:t>
            </a:r>
          </a:p>
          <a:p xmlns:a="http://schemas.openxmlformats.org/drawingml/2006/main">
            <a:r>
              <a:t>输出：远程句柄与状态连接</a:t>
            </a:r>
          </a:p>
          <a:p xmlns:a="http://schemas.openxmlformats.org/drawingml/2006/main">
            <a:r>
              <a:t>入口线索：memoryLinkPair / ipcLink / webSocketLink / acceptWebSockets</a:t>
            </a:r>
          </a:p>
          <a:p xmlns:a="http://schemas.openxmlformats.org/drawingml/2006/main">
            <a:r>
              <a:t>职责：断线拒绝未完成调用；不支持连接恢复，断线不证明远端操作尚未执行。</a:t>
            </a:r>
          </a:p>
          <a:p xmlns:a="http://schemas.openxmlformats.org/drawingml/2006/main">
            <a:r>
              <a:t>源码：packages/chord/src/cluster.ts</a:t>
            </a:r>
          </a:p>
          <a:p xmlns:a="http://schemas.openxmlformats.org/drawingml/2006/main">
            <a:r>
              <a:t>packages/chord/src/connection.ts</a:t>
            </a:r>
          </a:p>
          <a:p xmlns:a="http://schemas.openxmlformats.org/drawingml/2006/main">
            <a:r>
              <a:t>packages/chord/src/link.ts</a:t>
            </a:r>
          </a:p>
          <a:p xmlns:a="http://schemas.openxmlformats.org/drawingml/2006/main">
            <a:r>
              <a:t>packages/chord/src/remote.ts</a:t>
            </a:r>
          </a:p>
          <a:p xmlns:a="http://schemas.openxmlformats.org/drawingml/2006/main">
            <a:r>
              <a:t>packages/chord/src/websocket.ts</a:t>
            </a:r>
          </a:p>
          <a:p xmlns:a="http://schemas.openxmlformats.org/drawingml/2006/main">
            <a:r>
              <a:t>packages/chord/src/wire.ts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2. 组织 Facet 与注册表</a:t>
            </a:r>
          </a:p>
          <a:p xmlns:a="http://schemas.openxmlformats.org/drawingml/2006/main">
            <a:r>
              <a:t>查看 defineFacet/setup 和 defineRegistry，辨认实现装配与对象契约的关系。</a:t>
            </a:r>
          </a:p>
          <a:p xmlns:a="http://schemas.openxmlformats.org/drawingml/2006/main">
            <a:r>
              <a:t>输入：模块和提供者</a:t>
            </a:r>
          </a:p>
          <a:p xmlns:a="http://schemas.openxmlformats.org/drawingml/2006/main">
            <a:r>
              <a:t>输出：动态可见能力</a:t>
            </a:r>
          </a:p>
          <a:p xmlns:a="http://schemas.openxmlformats.org/drawingml/2006/main">
            <a:r>
              <a:t>入口线索：defineFacet / defineRegistry</a:t>
            </a:r>
          </a:p>
          <a:p xmlns:a="http://schemas.openxmlformats.org/drawingml/2006/main">
            <a:r>
              <a:t>职责：新版 defineFacet 属于对象运行时；旧 createFacetHost、defineService 接口已移除。</a:t>
            </a:r>
          </a:p>
          <a:p xmlns:a="http://schemas.openxmlformats.org/drawingml/2006/main">
            <a:r>
              <a:t>源码：packages/chord/src/host.ts</a:t>
            </a:r>
          </a:p>
          <a:p xmlns:a="http://schemas.openxmlformats.org/drawingml/2006/main">
            <a:r>
              <a:t>packages/chord/src/registry.ts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3. 管理子宿主</a:t>
            </a:r>
          </a:p>
          <a:p xmlns:a="http://schemas.openxmlformats.org/drawingml/2006/main">
            <a:r>
              <a:t>检查 nodeLoader、forkDriver 和进程锁，明确进程所有权与关闭责任。</a:t>
            </a:r>
          </a:p>
          <a:p xmlns:a="http://schemas.openxmlformats.org/drawingml/2006/main">
            <a:r>
              <a:t>输入：子进程配置</a:t>
            </a:r>
          </a:p>
          <a:p xmlns:a="http://schemas.openxmlformats.org/drawingml/2006/main">
            <a:r>
              <a:t>输出：受管理的 Host</a:t>
            </a:r>
          </a:p>
          <a:p xmlns:a="http://schemas.openxmlformats.org/drawingml/2006/main">
            <a:r>
              <a:t>入口线索：createHostManager / forkDriver / childControl / processLock / nodeLoader</a:t>
            </a:r>
          </a:p>
          <a:p xmlns:a="http://schemas.openxmlformats.org/drawingml/2006/main">
            <a:r>
              <a:t>职责：Node 专用入口与浏览器可用根入口分离。</a:t>
            </a:r>
          </a:p>
          <a:p xmlns:a="http://schemas.openxmlformats.org/drawingml/2006/main">
            <a:r>
              <a:t>源码：packages/chord/src/loader.ts</a:t>
            </a:r>
          </a:p>
          <a:p xmlns:a="http://schemas.openxmlformats.org/drawingml/2006/main">
            <a:r>
              <a:t>packages/chord/src/manager.ts</a:t>
            </a:r>
          </a:p>
          <a:p xmlns:a="http://schemas.openxmlformats.org/drawingml/2006/main">
            <a:r>
              <a:t>packages/chord/src/node.ts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4. 切换 epoch 并迁移</a:t>
            </a:r>
          </a:p>
          <a:p xmlns:a="http://schemas.openxmlformats.org/drawingml/2006/main">
            <a:r>
              <a:t>沿准备、阻塞进入、迁移与提交，观察在途调用继续使用旧 epoch 的边界。</a:t>
            </a:r>
          </a:p>
          <a:p xmlns:a="http://schemas.openxmlformats.org/drawingml/2006/main">
            <a:r>
              <a:t>输入：新实现和现有状态</a:t>
            </a:r>
          </a:p>
          <a:p xmlns:a="http://schemas.openxmlformats.org/drawingml/2006/main">
            <a:r>
              <a:t>输出：新代码及收尾中的旧代码</a:t>
            </a:r>
          </a:p>
          <a:p xmlns:a="http://schemas.openxmlformats.org/drawingml/2006/main">
            <a:r>
              <a:t>入口线索：host.reload / ReloadOptions / ReloadReport</a:t>
            </a:r>
          </a:p>
          <a:p xmlns:a="http://schemas.openxmlformats.org/drawingml/2006/main">
            <a:r>
              <a:t>职责：在途工作沿原 epoch 收尾；最多保留当前与前一个 epoch，兼容性和迁移需满足契约。</a:t>
            </a:r>
          </a:p>
          <a:p xmlns:a="http://schemas.openxmlformats.org/drawingml/2006/main">
            <a:r>
              <a:t>源码：packages/chord/src/host.ts</a:t>
            </a:r>
          </a:p>
          <a:p xmlns:a="http://schemas.openxmlformats.org/drawingml/2006/main">
            <a:r>
              <a:t>packages/chord/src/reload.ts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失败与恢复：断线拒绝未完成调用且不提供连接恢复保证；断线不证明远端操作未执行。热重载也不是任意不兼容修改都能透明迁移。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练习：找一个 reload 测试，标出旧调用、新调用和状态迁移各自采用哪个 epoch。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参考判断：应区分代码切换和连接状态；在途调用有其原版本生命周期，迁移需满足契约。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功能编号：CHR-10, CHR-14, CHR-19, CHR-20, CHR-21, CHR-22, CHR-23, CHR-24, CHR-25, CHR-26, CHR-27, CHR-28, CHR-29, CHR-30, CHR-31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文档来源：</a:t>
            </a:r>
          </a:p>
          <a:p xmlns:a="http://schemas.openxmlformats.org/drawingml/2006/main">
            <a:r>
              <a:t>packages/chord/README.md</a:t>
            </a:r>
          </a:p>
          <a:p xmlns:a="http://schemas.openxmlformats.org/drawingml/2006/main">
            <a:r>
              <a:t>packages/chord/docs/guide.md</a:t>
            </a:r>
          </a:p>
          <a:p xmlns:a="http://schemas.openxmlformats.org/drawingml/2006/main">
            <a:r>
              <a:t>packages/chord/docs/spec.md</a:t>
            </a:r>
          </a:p>
          <a:p xmlns:a="http://schemas.openxmlformats.org/drawingml/2006/main">
            <a:r>
              <a:t>packages/chord/src/manager.ts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关联测试阅读线索（未在演示文稿中执行）：</a:t>
            </a:r>
          </a:p>
          <a:p xmlns:a="http://schemas.openxmlformats.org/drawingml/2006/main">
            <a:r>
              <a:t>packages/chord/test/eager-reload.test.ts</a:t>
            </a:r>
          </a:p>
          <a:p xmlns:a="http://schemas.openxmlformats.org/drawingml/2006/main">
            <a:r>
              <a:t>packages/chord/test/fixtures/loader.ts</a:t>
            </a:r>
          </a:p>
          <a:p xmlns:a="http://schemas.openxmlformats.org/drawingml/2006/main">
            <a:r>
              <a:t>packages/chord/test/fixtures/worker.ts</a:t>
            </a:r>
          </a:p>
          <a:p xmlns:a="http://schemas.openxmlformats.org/drawingml/2006/main">
            <a:r>
              <a:t>packages/chord/test/manager.test.ts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源码基线：6cd9d957a9fd50bc504d45b72834ed9dd85a20b6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流程为教学阅读顺序，可选分支不表示每次运行必经。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模型与会话留在本地，把文件修改和命令运行放到远端。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检查主机与信任</a:t>
            </a:r>
          </a:p>
          <a:p xmlns:a="http://schemas.openxmlformats.org/drawingml/2006/main">
            <a:r>
              <a:t>阅读指纹扫描、acceptHostKey 与严格 known-hosts 校验，检查 daemon 部署的平台条件。</a:t>
            </a:r>
          </a:p>
          <a:p xmlns:a="http://schemas.openxmlformats.org/drawingml/2006/main">
            <a:r>
              <a:t>输入：目标主机和身份</a:t>
            </a:r>
          </a:p>
          <a:p xmlns:a="http://schemas.openxmlformats.org/drawingml/2006/main">
            <a:r>
              <a:t>输出：已确认的 SSH 连接条件</a:t>
            </a:r>
          </a:p>
          <a:p xmlns:a="http://schemas.openxmlformats.org/drawingml/2006/main">
            <a:r>
              <a:t>入口线索：scanHostKey；acceptHostKey；connectSsh；sshConnection</a:t>
            </a:r>
          </a:p>
          <a:p xmlns:a="http://schemas.openxmlformats.org/drawingml/2006/main">
            <a:r>
              <a:t>职责：主机指纹由用户带外确认；严格检查应用独立 known-hosts，禁用转发。首次操作失败后由下一操作重新尝试连接。</a:t>
            </a:r>
          </a:p>
          <a:p xmlns:a="http://schemas.openxmlformats.org/drawingml/2006/main">
            <a:r>
              <a:t>源码：packages/env/src/ssh.ts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2. 建立帧协议会话</a:t>
            </a:r>
          </a:p>
          <a:p xmlns:a="http://schemas.openxmlformats.org/drawingml/2006/main">
            <a:r>
              <a:t>沿 Connection 的 hello、request ID、result/event 与取消查看请求生命周期。</a:t>
            </a:r>
          </a:p>
          <a:p xmlns:a="http://schemas.openxmlformats.org/drawingml/2006/main">
            <a:r>
              <a:t>输入：daemon 进程与协议</a:t>
            </a:r>
          </a:p>
          <a:p xmlns:a="http://schemas.openxmlformats.org/drawingml/2006/main">
            <a:r>
              <a:t>输出：远程会话</a:t>
            </a:r>
          </a:p>
          <a:p xmlns:a="http://schemas.openxmlformats.org/drawingml/2006/main">
            <a:r>
              <a:t>入口线索：RemoteExecutionEnv；Connection</a:t>
            </a:r>
          </a:p>
          <a:p xmlns:a="http://schemas.openxmlformats.org/drawingml/2006/main">
            <a:r>
              <a:t>职责：远端执行文件和命令操作，Durable worker、存储与凭据留在本机；错误文本可能与本地环境不同。</a:t>
            </a:r>
          </a:p>
          <a:p xmlns:a="http://schemas.openxmlformats.org/drawingml/2006/main">
            <a:r>
              <a:t>源码：packages/env/src/connection.ts</a:t>
            </a:r>
          </a:p>
          <a:p xmlns:a="http://schemas.openxmlformats.org/drawingml/2006/main">
            <a:r>
              <a:t>packages/env/src/errors.ts</a:t>
            </a:r>
          </a:p>
          <a:p xmlns:a="http://schemas.openxmlformats.org/drawingml/2006/main">
            <a:r>
              <a:t>packages/env/src/index.ts</a:t>
            </a:r>
          </a:p>
          <a:p xmlns:a="http://schemas.openxmlformats.org/drawingml/2006/main">
            <a:r>
              <a:t>packages/env/src/remote-env.ts</a:t>
            </a:r>
          </a:p>
          <a:p xmlns:a="http://schemas.openxmlformats.org/drawingml/2006/main">
            <a:r>
              <a:t>packages/env/src/watch.ts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3. 注入 ExecutionEnv</a:t>
            </a:r>
          </a:p>
          <a:p xmlns:a="http://schemas.openxmlformats.org/drawingml/2006/main">
            <a:r>
              <a:t>把 RemoteExecutionEnv 接入文件与命令工具，比较本地环境的路径、句柄与输出语义。</a:t>
            </a:r>
          </a:p>
          <a:p xmlns:a="http://schemas.openxmlformats.org/drawingml/2006/main">
            <a:r>
              <a:t>输入：远程 cwd 和环境</a:t>
            </a:r>
          </a:p>
          <a:p xmlns:a="http://schemas.openxmlformats.org/drawingml/2006/main">
            <a:r>
              <a:t>输出：远端执行的工具</a:t>
            </a:r>
          </a:p>
          <a:p xmlns:a="http://schemas.openxmlformats.org/drawingml/2006/main">
            <a:r>
              <a:t>入口线索：env 子路径</a:t>
            </a:r>
          </a:p>
          <a:p xmlns:a="http://schemas.openxmlformats.org/drawingml/2006/main">
            <a:r>
              <a:t>职责：运行环境相关实现与存储契约分别阅读。</a:t>
            </a:r>
          </a:p>
          <a:p xmlns:a="http://schemas.openxmlformats.org/drawingml/2006/main">
            <a:r>
              <a:t>源码：packages/durable/src/env/decode.ts</a:t>
            </a:r>
          </a:p>
          <a:p xmlns:a="http://schemas.openxmlformats.org/drawingml/2006/main">
            <a:r>
              <a:t>packages/durable/src/env/index.ts</a:t>
            </a:r>
          </a:p>
          <a:p xmlns:a="http://schemas.openxmlformats.org/drawingml/2006/main">
            <a:r>
              <a:t>packages/durable/src/env/line-scan.ts</a:t>
            </a:r>
          </a:p>
          <a:p xmlns:a="http://schemas.openxmlformats.org/drawingml/2006/main">
            <a:r>
              <a:t>packages/durable/src/env/node-watch.ts</a:t>
            </a:r>
          </a:p>
          <a:p xmlns:a="http://schemas.openxmlformats.org/drawingml/2006/main">
            <a:r>
              <a:t>packages/durable/src/env/node.ts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4. 单独管理 PTY</a:t>
            </a:r>
          </a:p>
          <a:p xmlns:a="http://schemas.openxmlformats.org/drawingml/2006/main">
            <a:r>
              <a:t>检查终端输入、输出、resize 与关闭；PTY 是独立能力，需要符合当前平台支持范围。</a:t>
            </a:r>
          </a:p>
          <a:p xmlns:a="http://schemas.openxmlformats.org/drawingml/2006/main">
            <a:r>
              <a:t>输入：终端请求</a:t>
            </a:r>
          </a:p>
          <a:p xmlns:a="http://schemas.openxmlformats.org/drawingml/2006/main">
            <a:r>
              <a:t>输出：交互进程与退出状态</a:t>
            </a:r>
          </a:p>
          <a:p xmlns:a="http://schemas.openxmlformats.org/drawingml/2006/main">
            <a:r>
              <a:t>入口线索：openTerminal / localDaemon / RemoteTerminal.foreground</a:t>
            </a:r>
          </a:p>
          <a:p xmlns:a="http://schemas.openxmlformats.org/drawingml/2006/main">
            <a:r>
              <a:t>职责：当前 Windows 不支持 PTY；Linux、macOS、Termux 使用相应平台实现。连接断开或关闭会结束所属程序与会话。</a:t>
            </a:r>
          </a:p>
          <a:p xmlns:a="http://schemas.openxmlformats.org/drawingml/2006/main">
            <a:r>
              <a:t>源码：packages/env/src/connection.ts</a:t>
            </a:r>
          </a:p>
          <a:p xmlns:a="http://schemas.openxmlformats.org/drawingml/2006/main">
            <a:r>
              <a:t>packages/env/src/terminal.ts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失败与恢复：旧文件句柄不能跨 daemon 会话复用；当前 Windows PTY 支持边界以包文档为准。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练习：对照协议测试画出普通 execute 与 terminal 的消息序列，不实际连接用户主机。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参考判断：远程协议不是 MCP；连接、工具操作与 PTY 各有生命周期和取消语义。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功能编号：DUR-12, DUR-13, DUR-60, ENV-01, ENV-02, ENV-03, ENV-04, ENV-05, ENV-06, ENV-07, ENV-08, ENV-09, ENV-10, ENV-11, ENV-12, ENV-13, ENV-14, ENV-15, ENV-16, ENV-17, ENV-18, OTH-06, OTH-07, OTH-17, OTH-78, OTH-79, OTH-80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文档来源：</a:t>
            </a:r>
          </a:p>
          <a:p xmlns:a="http://schemas.openxmlformats.org/drawingml/2006/main">
            <a:r>
              <a:t>packages/env/README.md</a:t>
            </a:r>
          </a:p>
          <a:p xmlns:a="http://schemas.openxmlformats.org/drawingml/2006/main">
            <a:r>
              <a:t>packages/env/docs/protocol.md</a:t>
            </a:r>
          </a:p>
          <a:p xmlns:a="http://schemas.openxmlformats.org/drawingml/2006/main">
            <a:r>
              <a:t>packages/env/docs/semantics.md</a:t>
            </a:r>
          </a:p>
          <a:p xmlns:a="http://schemas.openxmlformats.org/drawingml/2006/main">
            <a:r>
              <a:t>packages/durable/README.md</a:t>
            </a:r>
          </a:p>
          <a:p xmlns:a="http://schemas.openxmlformats.org/drawingml/2006/main">
            <a:r>
              <a:t>packages/durable/CHANGELOG.md</a:t>
            </a:r>
          </a:p>
          <a:p xmlns:a="http://schemas.openxmlformats.org/drawingml/2006/main">
            <a:r>
              <a:t>packages/coding-agent/examples/extensions/README.md</a:t>
            </a:r>
          </a:p>
          <a:p xmlns:a="http://schemas.openxmlformats.org/drawingml/2006/main">
            <a:r>
              <a:t>packages/env/src/index.ts</a:t>
            </a:r>
          </a:p>
          <a:p xmlns:a="http://schemas.openxmlformats.org/drawingml/2006/main">
            <a:r>
              <a:t>packages/env/src/terminal.ts</a:t>
            </a:r>
          </a:p>
          <a:p xmlns:a="http://schemas.openxmlformats.org/drawingml/2006/main">
            <a:r>
              <a:t>packages/coding-agent/docs/containerization.md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关联测试阅读线索（未在演示文稿中执行）：</a:t>
            </a:r>
          </a:p>
          <a:p xmlns:a="http://schemas.openxmlformats.org/drawingml/2006/main">
            <a:r>
              <a:t>packages/env/test/ssh-external.test.ts</a:t>
            </a:r>
          </a:p>
          <a:p xmlns:a="http://schemas.openxmlformats.org/drawingml/2006/main">
            <a:r>
              <a:t>packages/env/test/ssh.test.ts</a:t>
            </a:r>
          </a:p>
          <a:p xmlns:a="http://schemas.openxmlformats.org/drawingml/2006/main">
            <a:r>
              <a:t>packages/env/test/conformance.test.ts</a:t>
            </a:r>
          </a:p>
          <a:p xmlns:a="http://schemas.openxmlformats.org/drawingml/2006/main">
            <a:r>
              <a:t>packages/env/test/differential.test.ts</a:t>
            </a:r>
          </a:p>
          <a:p xmlns:a="http://schemas.openxmlformats.org/drawingml/2006/main">
            <a:r>
              <a:t>packages/env/test/remote.test.ts</a:t>
            </a:r>
          </a:p>
          <a:p xmlns:a="http://schemas.openxmlformats.org/drawingml/2006/main">
            <a:r>
              <a:t>packages/env/test/terminal.test.ts</a:t>
            </a:r>
          </a:p>
          <a:p xmlns:a="http://schemas.openxmlformats.org/drawingml/2006/main">
            <a:r>
              <a:t>packages/durable/test/env-line-scan.test.ts</a:t>
            </a:r>
          </a:p>
          <a:p xmlns:a="http://schemas.openxmlformats.org/drawingml/2006/main">
            <a:r>
              <a:t>packages/durable/test/chat-support.ts</a:t>
            </a:r>
          </a:p>
          <a:p xmlns:a="http://schemas.openxmlformats.org/drawingml/2006/main">
            <a:r>
              <a:t>packages/durable/test/codemode-models.test.ts</a:t>
            </a:r>
          </a:p>
          <a:p xmlns:a="http://schemas.openxmlformats.org/drawingml/2006/main">
            <a:r>
              <a:t>packages/durable/test/env-node-conformance.test.ts</a:t>
            </a:r>
          </a:p>
          <a:p xmlns:a="http://schemas.openxmlformats.org/drawingml/2006/main">
            <a:r>
              <a:t>packages/durable/test/env-node-spill.test.ts</a:t>
            </a:r>
          </a:p>
          <a:p xmlns:a="http://schemas.openxmlformats.org/drawingml/2006/main">
            <a:r>
              <a:t>packages/durable/test/env-node.test.ts</a:t>
            </a:r>
          </a:p>
          <a:p xmlns:a="http://schemas.openxmlformats.org/drawingml/2006/main">
            <a:r>
              <a:t>packages/durable/test/harness-output-skip.test.ts</a:t>
            </a:r>
          </a:p>
          <a:p xmlns:a="http://schemas.openxmlformats.org/drawingml/2006/main">
            <a:r>
              <a:t>packages/durable/test/harness-tools-recovery.test.ts</a:t>
            </a:r>
          </a:p>
          <a:p xmlns:a="http://schemas.openxmlformats.org/drawingml/2006/main">
            <a:r>
              <a:t>packages/durable/test/jsonl-storage.test.ts</a:t>
            </a:r>
          </a:p>
          <a:p xmlns:a="http://schemas.openxmlformats.org/drawingml/2006/main">
            <a:r>
              <a:t>packages/durable/test/spec-usage.test.ts</a:t>
            </a:r>
          </a:p>
          <a:p xmlns:a="http://schemas.openxmlformats.org/drawingml/2006/main">
            <a:r>
              <a:t>packages/durable/test/tools-images.test.ts</a:t>
            </a:r>
          </a:p>
          <a:p xmlns:a="http://schemas.openxmlformats.org/drawingml/2006/main">
            <a:r>
              <a:t>packages/durable/test/tools.test.ts</a:t>
            </a:r>
          </a:p>
          <a:p xmlns:a="http://schemas.openxmlformats.org/drawingml/2006/main">
            <a:r>
              <a:t>packages/durable/test/codemode.test.ts</a:t>
            </a:r>
          </a:p>
          <a:p xmlns:a="http://schemas.openxmlformats.org/drawingml/2006/main">
            <a:r>
              <a:t>packages/durable/test/harness-structured-output.test.ts</a:t>
            </a:r>
          </a:p>
          <a:p xmlns:a="http://schemas.openxmlformats.org/drawingml/2006/main">
            <a:r>
              <a:t>packages/durable/test/harness-tools.test.ts</a:t>
            </a:r>
          </a:p>
          <a:p xmlns:a="http://schemas.openxmlformats.org/drawingml/2006/main">
            <a:r>
              <a:t>packages/durable/test/tool-output-bench.ts</a:t>
            </a:r>
          </a:p>
          <a:p xmlns:a="http://schemas.openxmlformats.org/drawingml/2006/main">
            <a:r>
              <a:t>packages/durable/test/tools-read-differential.test.ts</a:t>
            </a:r>
          </a:p>
          <a:p xmlns:a="http://schemas.openxmlformats.org/drawingml/2006/main">
            <a:r>
              <a:t>packages/durable/test/harness-output.test.ts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源码基线：6cd9d957a9fd50bc504d45b72834ed9dd85a20b6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流程为教学阅读顺序，可选分支不表示每次运行必经。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模型与会话留在本地，把文件修改和命令运行放到远端。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检查主机与信任</a:t>
            </a:r>
          </a:p>
          <a:p xmlns:a="http://schemas.openxmlformats.org/drawingml/2006/main">
            <a:r>
              <a:t>阅读指纹扫描、acceptHostKey 与严格 known-hosts 校验，检查 daemon 部署的平台条件。</a:t>
            </a:r>
          </a:p>
          <a:p xmlns:a="http://schemas.openxmlformats.org/drawingml/2006/main">
            <a:r>
              <a:t>输入：目标主机和身份</a:t>
            </a:r>
          </a:p>
          <a:p xmlns:a="http://schemas.openxmlformats.org/drawingml/2006/main">
            <a:r>
              <a:t>输出：已确认的 SSH 连接条件</a:t>
            </a:r>
          </a:p>
          <a:p xmlns:a="http://schemas.openxmlformats.org/drawingml/2006/main">
            <a:r>
              <a:t>入口线索：scanHostKey；acceptHostKey；connectSsh；sshConnection</a:t>
            </a:r>
          </a:p>
          <a:p xmlns:a="http://schemas.openxmlformats.org/drawingml/2006/main">
            <a:r>
              <a:t>职责：主机指纹由用户带外确认；严格检查应用独立 known-hosts，禁用转发。首次操作失败后由下一操作重新尝试连接。</a:t>
            </a:r>
          </a:p>
          <a:p xmlns:a="http://schemas.openxmlformats.org/drawingml/2006/main">
            <a:r>
              <a:t>源码：packages/env/src/ssh.ts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2. 建立帧协议会话</a:t>
            </a:r>
          </a:p>
          <a:p xmlns:a="http://schemas.openxmlformats.org/drawingml/2006/main">
            <a:r>
              <a:t>沿 Connection 的 hello、request ID、result/event 与取消查看请求生命周期。</a:t>
            </a:r>
          </a:p>
          <a:p xmlns:a="http://schemas.openxmlformats.org/drawingml/2006/main">
            <a:r>
              <a:t>输入：daemon 进程与协议</a:t>
            </a:r>
          </a:p>
          <a:p xmlns:a="http://schemas.openxmlformats.org/drawingml/2006/main">
            <a:r>
              <a:t>输出：远程会话</a:t>
            </a:r>
          </a:p>
          <a:p xmlns:a="http://schemas.openxmlformats.org/drawingml/2006/main">
            <a:r>
              <a:t>入口线索：RemoteExecutionEnv；Connection</a:t>
            </a:r>
          </a:p>
          <a:p xmlns:a="http://schemas.openxmlformats.org/drawingml/2006/main">
            <a:r>
              <a:t>职责：远端执行文件和命令操作，Durable worker、存储与凭据留在本机；错误文本可能与本地环境不同。</a:t>
            </a:r>
          </a:p>
          <a:p xmlns:a="http://schemas.openxmlformats.org/drawingml/2006/main">
            <a:r>
              <a:t>源码：packages/env/src/connection.ts</a:t>
            </a:r>
          </a:p>
          <a:p xmlns:a="http://schemas.openxmlformats.org/drawingml/2006/main">
            <a:r>
              <a:t>packages/env/src/errors.ts</a:t>
            </a:r>
          </a:p>
          <a:p xmlns:a="http://schemas.openxmlformats.org/drawingml/2006/main">
            <a:r>
              <a:t>packages/env/src/index.ts</a:t>
            </a:r>
          </a:p>
          <a:p xmlns:a="http://schemas.openxmlformats.org/drawingml/2006/main">
            <a:r>
              <a:t>packages/env/src/remote-env.ts</a:t>
            </a:r>
          </a:p>
          <a:p xmlns:a="http://schemas.openxmlformats.org/drawingml/2006/main">
            <a:r>
              <a:t>packages/env/src/watch.ts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3. 注入 ExecutionEnv</a:t>
            </a:r>
          </a:p>
          <a:p xmlns:a="http://schemas.openxmlformats.org/drawingml/2006/main">
            <a:r>
              <a:t>把 RemoteExecutionEnv 接入文件与命令工具，比较本地环境的路径、句柄与输出语义。</a:t>
            </a:r>
          </a:p>
          <a:p xmlns:a="http://schemas.openxmlformats.org/drawingml/2006/main">
            <a:r>
              <a:t>输入：远程 cwd 和环境</a:t>
            </a:r>
          </a:p>
          <a:p xmlns:a="http://schemas.openxmlformats.org/drawingml/2006/main">
            <a:r>
              <a:t>输出：远端执行的工具</a:t>
            </a:r>
          </a:p>
          <a:p xmlns:a="http://schemas.openxmlformats.org/drawingml/2006/main">
            <a:r>
              <a:t>入口线索：env 子路径</a:t>
            </a:r>
          </a:p>
          <a:p xmlns:a="http://schemas.openxmlformats.org/drawingml/2006/main">
            <a:r>
              <a:t>职责：运行环境相关实现与存储契约分别阅读。</a:t>
            </a:r>
          </a:p>
          <a:p xmlns:a="http://schemas.openxmlformats.org/drawingml/2006/main">
            <a:r>
              <a:t>源码：packages/durable/src/env/decode.ts</a:t>
            </a:r>
          </a:p>
          <a:p xmlns:a="http://schemas.openxmlformats.org/drawingml/2006/main">
            <a:r>
              <a:t>packages/durable/src/env/index.ts</a:t>
            </a:r>
          </a:p>
          <a:p xmlns:a="http://schemas.openxmlformats.org/drawingml/2006/main">
            <a:r>
              <a:t>packages/durable/src/env/line-scan.ts</a:t>
            </a:r>
          </a:p>
          <a:p xmlns:a="http://schemas.openxmlformats.org/drawingml/2006/main">
            <a:r>
              <a:t>packages/durable/src/env/node-watch.ts</a:t>
            </a:r>
          </a:p>
          <a:p xmlns:a="http://schemas.openxmlformats.org/drawingml/2006/main">
            <a:r>
              <a:t>packages/durable/src/env/node.ts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4. 单独管理 PTY</a:t>
            </a:r>
          </a:p>
          <a:p xmlns:a="http://schemas.openxmlformats.org/drawingml/2006/main">
            <a:r>
              <a:t>检查终端输入、输出、resize 与关闭；PTY 是独立能力，需要符合当前平台支持范围。</a:t>
            </a:r>
          </a:p>
          <a:p xmlns:a="http://schemas.openxmlformats.org/drawingml/2006/main">
            <a:r>
              <a:t>输入：终端请求</a:t>
            </a:r>
          </a:p>
          <a:p xmlns:a="http://schemas.openxmlformats.org/drawingml/2006/main">
            <a:r>
              <a:t>输出：交互进程与退出状态</a:t>
            </a:r>
          </a:p>
          <a:p xmlns:a="http://schemas.openxmlformats.org/drawingml/2006/main">
            <a:r>
              <a:t>入口线索：openTerminal / localDaemon / RemoteTerminal.foreground</a:t>
            </a:r>
          </a:p>
          <a:p xmlns:a="http://schemas.openxmlformats.org/drawingml/2006/main">
            <a:r>
              <a:t>职责：当前 Windows 不支持 PTY；Linux、macOS、Termux 使用相应平台实现。连接断开或关闭会结束所属程序与会话。</a:t>
            </a:r>
          </a:p>
          <a:p xmlns:a="http://schemas.openxmlformats.org/drawingml/2006/main">
            <a:r>
              <a:t>源码：packages/env/src/connection.ts</a:t>
            </a:r>
          </a:p>
          <a:p xmlns:a="http://schemas.openxmlformats.org/drawingml/2006/main">
            <a:r>
              <a:t>packages/env/src/terminal.ts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失败与恢复：旧文件句柄不能跨 daemon 会话复用；当前 Windows PTY 支持边界以包文档为准。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练习：对照协议测试画出普通 execute 与 terminal 的消息序列，不实际连接用户主机。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参考判断：远程协议不是 MCP；连接、工具操作与 PTY 各有生命周期和取消语义。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功能编号：DUR-12, DUR-13, DUR-60, ENV-01, ENV-02, ENV-03, ENV-04, ENV-05, ENV-06, ENV-07, ENV-08, ENV-09, ENV-10, ENV-11, ENV-12, ENV-13, ENV-14, ENV-15, ENV-16, ENV-17, ENV-18, OTH-06, OTH-07, OTH-17, OTH-78, OTH-79, OTH-80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文档来源：</a:t>
            </a:r>
          </a:p>
          <a:p xmlns:a="http://schemas.openxmlformats.org/drawingml/2006/main">
            <a:r>
              <a:t>packages/env/README.md</a:t>
            </a:r>
          </a:p>
          <a:p xmlns:a="http://schemas.openxmlformats.org/drawingml/2006/main">
            <a:r>
              <a:t>packages/env/docs/protocol.md</a:t>
            </a:r>
          </a:p>
          <a:p xmlns:a="http://schemas.openxmlformats.org/drawingml/2006/main">
            <a:r>
              <a:t>packages/env/docs/semantics.md</a:t>
            </a:r>
          </a:p>
          <a:p xmlns:a="http://schemas.openxmlformats.org/drawingml/2006/main">
            <a:r>
              <a:t>packages/durable/README.md</a:t>
            </a:r>
          </a:p>
          <a:p xmlns:a="http://schemas.openxmlformats.org/drawingml/2006/main">
            <a:r>
              <a:t>packages/durable/CHANGELOG.md</a:t>
            </a:r>
          </a:p>
          <a:p xmlns:a="http://schemas.openxmlformats.org/drawingml/2006/main">
            <a:r>
              <a:t>packages/coding-agent/examples/extensions/README.md</a:t>
            </a:r>
          </a:p>
          <a:p xmlns:a="http://schemas.openxmlformats.org/drawingml/2006/main">
            <a:r>
              <a:t>packages/env/src/index.ts</a:t>
            </a:r>
          </a:p>
          <a:p xmlns:a="http://schemas.openxmlformats.org/drawingml/2006/main">
            <a:r>
              <a:t>packages/env/src/terminal.ts</a:t>
            </a:r>
          </a:p>
          <a:p xmlns:a="http://schemas.openxmlformats.org/drawingml/2006/main">
            <a:r>
              <a:t>packages/coding-agent/docs/containerization.md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关联测试阅读线索（未在演示文稿中执行）：</a:t>
            </a:r>
          </a:p>
          <a:p xmlns:a="http://schemas.openxmlformats.org/drawingml/2006/main">
            <a:r>
              <a:t>packages/env/test/ssh-external.test.ts</a:t>
            </a:r>
          </a:p>
          <a:p xmlns:a="http://schemas.openxmlformats.org/drawingml/2006/main">
            <a:r>
              <a:t>packages/env/test/ssh.test.ts</a:t>
            </a:r>
          </a:p>
          <a:p xmlns:a="http://schemas.openxmlformats.org/drawingml/2006/main">
            <a:r>
              <a:t>packages/env/test/conformance.test.ts</a:t>
            </a:r>
          </a:p>
          <a:p xmlns:a="http://schemas.openxmlformats.org/drawingml/2006/main">
            <a:r>
              <a:t>packages/env/test/differential.test.ts</a:t>
            </a:r>
          </a:p>
          <a:p xmlns:a="http://schemas.openxmlformats.org/drawingml/2006/main">
            <a:r>
              <a:t>packages/env/test/remote.test.ts</a:t>
            </a:r>
          </a:p>
          <a:p xmlns:a="http://schemas.openxmlformats.org/drawingml/2006/main">
            <a:r>
              <a:t>packages/env/test/terminal.test.ts</a:t>
            </a:r>
          </a:p>
          <a:p xmlns:a="http://schemas.openxmlformats.org/drawingml/2006/main">
            <a:r>
              <a:t>packages/durable/test/env-line-scan.test.ts</a:t>
            </a:r>
          </a:p>
          <a:p xmlns:a="http://schemas.openxmlformats.org/drawingml/2006/main">
            <a:r>
              <a:t>packages/durable/test/chat-support.ts</a:t>
            </a:r>
          </a:p>
          <a:p xmlns:a="http://schemas.openxmlformats.org/drawingml/2006/main">
            <a:r>
              <a:t>packages/durable/test/codemode-models.test.ts</a:t>
            </a:r>
          </a:p>
          <a:p xmlns:a="http://schemas.openxmlformats.org/drawingml/2006/main">
            <a:r>
              <a:t>packages/durable/test/env-node-conformance.test.ts</a:t>
            </a:r>
          </a:p>
          <a:p xmlns:a="http://schemas.openxmlformats.org/drawingml/2006/main">
            <a:r>
              <a:t>packages/durable/test/env-node-spill.test.ts</a:t>
            </a:r>
          </a:p>
          <a:p xmlns:a="http://schemas.openxmlformats.org/drawingml/2006/main">
            <a:r>
              <a:t>packages/durable/test/env-node.test.ts</a:t>
            </a:r>
          </a:p>
          <a:p xmlns:a="http://schemas.openxmlformats.org/drawingml/2006/main">
            <a:r>
              <a:t>packages/durable/test/harness-output-skip.test.ts</a:t>
            </a:r>
          </a:p>
          <a:p xmlns:a="http://schemas.openxmlformats.org/drawingml/2006/main">
            <a:r>
              <a:t>packages/durable/test/harness-tools-recovery.test.ts</a:t>
            </a:r>
          </a:p>
          <a:p xmlns:a="http://schemas.openxmlformats.org/drawingml/2006/main">
            <a:r>
              <a:t>packages/durable/test/jsonl-storage.test.ts</a:t>
            </a:r>
          </a:p>
          <a:p xmlns:a="http://schemas.openxmlformats.org/drawingml/2006/main">
            <a:r>
              <a:t>packages/durable/test/spec-usage.test.ts</a:t>
            </a:r>
          </a:p>
          <a:p xmlns:a="http://schemas.openxmlformats.org/drawingml/2006/main">
            <a:r>
              <a:t>packages/durable/test/tools-images.test.ts</a:t>
            </a:r>
          </a:p>
          <a:p xmlns:a="http://schemas.openxmlformats.org/drawingml/2006/main">
            <a:r>
              <a:t>packages/durable/test/tools.test.ts</a:t>
            </a:r>
          </a:p>
          <a:p xmlns:a="http://schemas.openxmlformats.org/drawingml/2006/main">
            <a:r>
              <a:t>packages/durable/test/codemode.test.ts</a:t>
            </a:r>
          </a:p>
          <a:p xmlns:a="http://schemas.openxmlformats.org/drawingml/2006/main">
            <a:r>
              <a:t>packages/durable/test/harness-structured-output.test.ts</a:t>
            </a:r>
          </a:p>
          <a:p xmlns:a="http://schemas.openxmlformats.org/drawingml/2006/main">
            <a:r>
              <a:t>packages/durable/test/harness-tools.test.ts</a:t>
            </a:r>
          </a:p>
          <a:p xmlns:a="http://schemas.openxmlformats.org/drawingml/2006/main">
            <a:r>
              <a:t>packages/durable/test/tool-output-bench.ts</a:t>
            </a:r>
          </a:p>
          <a:p xmlns:a="http://schemas.openxmlformats.org/drawingml/2006/main">
            <a:r>
              <a:t>packages/durable/test/tools-read-differential.test.ts</a:t>
            </a:r>
          </a:p>
          <a:p xmlns:a="http://schemas.openxmlformats.org/drawingml/2006/main">
            <a:r>
              <a:t>packages/durable/test/harness-output.test.ts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源码基线：6cd9d957a9fd50bc504d45b72834ed9dd85a20b6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流程为教学阅读顺序，可选分支不表示每次运行必经。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模型与会话留在本地，把文件修改和命令运行放到远端。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检查主机与信任</a:t>
            </a:r>
          </a:p>
          <a:p xmlns:a="http://schemas.openxmlformats.org/drawingml/2006/main">
            <a:r>
              <a:t>阅读指纹扫描、acceptHostKey 与严格 known-hosts 校验，检查 daemon 部署的平台条件。</a:t>
            </a:r>
          </a:p>
          <a:p xmlns:a="http://schemas.openxmlformats.org/drawingml/2006/main">
            <a:r>
              <a:t>输入：目标主机和身份</a:t>
            </a:r>
          </a:p>
          <a:p xmlns:a="http://schemas.openxmlformats.org/drawingml/2006/main">
            <a:r>
              <a:t>输出：已确认的 SSH 连接条件</a:t>
            </a:r>
          </a:p>
          <a:p xmlns:a="http://schemas.openxmlformats.org/drawingml/2006/main">
            <a:r>
              <a:t>入口线索：scanHostKey；acceptHostKey；connectSsh；sshConnection</a:t>
            </a:r>
          </a:p>
          <a:p xmlns:a="http://schemas.openxmlformats.org/drawingml/2006/main">
            <a:r>
              <a:t>职责：主机指纹由用户带外确认；严格检查应用独立 known-hosts，禁用转发。首次操作失败后由下一操作重新尝试连接。</a:t>
            </a:r>
          </a:p>
          <a:p xmlns:a="http://schemas.openxmlformats.org/drawingml/2006/main">
            <a:r>
              <a:t>源码：packages/env/src/ssh.ts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2. 建立帧协议会话</a:t>
            </a:r>
          </a:p>
          <a:p xmlns:a="http://schemas.openxmlformats.org/drawingml/2006/main">
            <a:r>
              <a:t>沿 Connection 的 hello、request ID、result/event 与取消查看请求生命周期。</a:t>
            </a:r>
          </a:p>
          <a:p xmlns:a="http://schemas.openxmlformats.org/drawingml/2006/main">
            <a:r>
              <a:t>输入：daemon 进程与协议</a:t>
            </a:r>
          </a:p>
          <a:p xmlns:a="http://schemas.openxmlformats.org/drawingml/2006/main">
            <a:r>
              <a:t>输出：远程会话</a:t>
            </a:r>
          </a:p>
          <a:p xmlns:a="http://schemas.openxmlformats.org/drawingml/2006/main">
            <a:r>
              <a:t>入口线索：RemoteExecutionEnv；Connection</a:t>
            </a:r>
          </a:p>
          <a:p xmlns:a="http://schemas.openxmlformats.org/drawingml/2006/main">
            <a:r>
              <a:t>职责：远端执行文件和命令操作，Durable worker、存储与凭据留在本机；错误文本可能与本地环境不同。</a:t>
            </a:r>
          </a:p>
          <a:p xmlns:a="http://schemas.openxmlformats.org/drawingml/2006/main">
            <a:r>
              <a:t>源码：packages/env/src/connection.ts</a:t>
            </a:r>
          </a:p>
          <a:p xmlns:a="http://schemas.openxmlformats.org/drawingml/2006/main">
            <a:r>
              <a:t>packages/env/src/errors.ts</a:t>
            </a:r>
          </a:p>
          <a:p xmlns:a="http://schemas.openxmlformats.org/drawingml/2006/main">
            <a:r>
              <a:t>packages/env/src/index.ts</a:t>
            </a:r>
          </a:p>
          <a:p xmlns:a="http://schemas.openxmlformats.org/drawingml/2006/main">
            <a:r>
              <a:t>packages/env/src/remote-env.ts</a:t>
            </a:r>
          </a:p>
          <a:p xmlns:a="http://schemas.openxmlformats.org/drawingml/2006/main">
            <a:r>
              <a:t>packages/env/src/watch.ts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3. 注入 ExecutionEnv</a:t>
            </a:r>
          </a:p>
          <a:p xmlns:a="http://schemas.openxmlformats.org/drawingml/2006/main">
            <a:r>
              <a:t>把 RemoteExecutionEnv 接入文件与命令工具，比较本地环境的路径、句柄与输出语义。</a:t>
            </a:r>
          </a:p>
          <a:p xmlns:a="http://schemas.openxmlformats.org/drawingml/2006/main">
            <a:r>
              <a:t>输入：远程 cwd 和环境</a:t>
            </a:r>
          </a:p>
          <a:p xmlns:a="http://schemas.openxmlformats.org/drawingml/2006/main">
            <a:r>
              <a:t>输出：远端执行的工具</a:t>
            </a:r>
          </a:p>
          <a:p xmlns:a="http://schemas.openxmlformats.org/drawingml/2006/main">
            <a:r>
              <a:t>入口线索：env 子路径</a:t>
            </a:r>
          </a:p>
          <a:p xmlns:a="http://schemas.openxmlformats.org/drawingml/2006/main">
            <a:r>
              <a:t>职责：运行环境相关实现与存储契约分别阅读。</a:t>
            </a:r>
          </a:p>
          <a:p xmlns:a="http://schemas.openxmlformats.org/drawingml/2006/main">
            <a:r>
              <a:t>源码：packages/durable/src/env/decode.ts</a:t>
            </a:r>
          </a:p>
          <a:p xmlns:a="http://schemas.openxmlformats.org/drawingml/2006/main">
            <a:r>
              <a:t>packages/durable/src/env/index.ts</a:t>
            </a:r>
          </a:p>
          <a:p xmlns:a="http://schemas.openxmlformats.org/drawingml/2006/main">
            <a:r>
              <a:t>packages/durable/src/env/line-scan.ts</a:t>
            </a:r>
          </a:p>
          <a:p xmlns:a="http://schemas.openxmlformats.org/drawingml/2006/main">
            <a:r>
              <a:t>packages/durable/src/env/node-watch.ts</a:t>
            </a:r>
          </a:p>
          <a:p xmlns:a="http://schemas.openxmlformats.org/drawingml/2006/main">
            <a:r>
              <a:t>packages/durable/src/env/node.ts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4. 单独管理 PTY</a:t>
            </a:r>
          </a:p>
          <a:p xmlns:a="http://schemas.openxmlformats.org/drawingml/2006/main">
            <a:r>
              <a:t>检查终端输入、输出、resize 与关闭；PTY 是独立能力，需要符合当前平台支持范围。</a:t>
            </a:r>
          </a:p>
          <a:p xmlns:a="http://schemas.openxmlformats.org/drawingml/2006/main">
            <a:r>
              <a:t>输入：终端请求</a:t>
            </a:r>
          </a:p>
          <a:p xmlns:a="http://schemas.openxmlformats.org/drawingml/2006/main">
            <a:r>
              <a:t>输出：交互进程与退出状态</a:t>
            </a:r>
          </a:p>
          <a:p xmlns:a="http://schemas.openxmlformats.org/drawingml/2006/main">
            <a:r>
              <a:t>入口线索：openTerminal / localDaemon / RemoteTerminal.foreground</a:t>
            </a:r>
          </a:p>
          <a:p xmlns:a="http://schemas.openxmlformats.org/drawingml/2006/main">
            <a:r>
              <a:t>职责：当前 Windows 不支持 PTY；Linux、macOS、Termux 使用相应平台实现。连接断开或关闭会结束所属程序与会话。</a:t>
            </a:r>
          </a:p>
          <a:p xmlns:a="http://schemas.openxmlformats.org/drawingml/2006/main">
            <a:r>
              <a:t>源码：packages/env/src/connection.ts</a:t>
            </a:r>
          </a:p>
          <a:p xmlns:a="http://schemas.openxmlformats.org/drawingml/2006/main">
            <a:r>
              <a:t>packages/env/src/terminal.ts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失败与恢复：旧文件句柄不能跨 daemon 会话复用；当前 Windows PTY 支持边界以包文档为准。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练习：对照协议测试画出普通 execute 与 terminal 的消息序列，不实际连接用户主机。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参考判断：远程协议不是 MCP；连接、工具操作与 PTY 各有生命周期和取消语义。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功能编号：DUR-12, DUR-13, DUR-60, ENV-01, ENV-02, ENV-03, ENV-04, ENV-05, ENV-06, ENV-07, ENV-08, ENV-09, ENV-10, ENV-11, ENV-12, ENV-13, ENV-14, ENV-15, ENV-16, ENV-17, ENV-18, OTH-06, OTH-07, OTH-17, OTH-78, OTH-79, OTH-80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文档来源：</a:t>
            </a:r>
          </a:p>
          <a:p xmlns:a="http://schemas.openxmlformats.org/drawingml/2006/main">
            <a:r>
              <a:t>packages/env/README.md</a:t>
            </a:r>
          </a:p>
          <a:p xmlns:a="http://schemas.openxmlformats.org/drawingml/2006/main">
            <a:r>
              <a:t>packages/env/docs/protocol.md</a:t>
            </a:r>
          </a:p>
          <a:p xmlns:a="http://schemas.openxmlformats.org/drawingml/2006/main">
            <a:r>
              <a:t>packages/env/docs/semantics.md</a:t>
            </a:r>
          </a:p>
          <a:p xmlns:a="http://schemas.openxmlformats.org/drawingml/2006/main">
            <a:r>
              <a:t>packages/durable/README.md</a:t>
            </a:r>
          </a:p>
          <a:p xmlns:a="http://schemas.openxmlformats.org/drawingml/2006/main">
            <a:r>
              <a:t>packages/durable/CHANGELOG.md</a:t>
            </a:r>
          </a:p>
          <a:p xmlns:a="http://schemas.openxmlformats.org/drawingml/2006/main">
            <a:r>
              <a:t>packages/coding-agent/examples/extensions/README.md</a:t>
            </a:r>
          </a:p>
          <a:p xmlns:a="http://schemas.openxmlformats.org/drawingml/2006/main">
            <a:r>
              <a:t>packages/env/src/index.ts</a:t>
            </a:r>
          </a:p>
          <a:p xmlns:a="http://schemas.openxmlformats.org/drawingml/2006/main">
            <a:r>
              <a:t>packages/env/src/terminal.ts</a:t>
            </a:r>
          </a:p>
          <a:p xmlns:a="http://schemas.openxmlformats.org/drawingml/2006/main">
            <a:r>
              <a:t>packages/coding-agent/docs/containerization.md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关联测试阅读线索（未在演示文稿中执行）：</a:t>
            </a:r>
          </a:p>
          <a:p xmlns:a="http://schemas.openxmlformats.org/drawingml/2006/main">
            <a:r>
              <a:t>packages/env/test/ssh-external.test.ts</a:t>
            </a:r>
          </a:p>
          <a:p xmlns:a="http://schemas.openxmlformats.org/drawingml/2006/main">
            <a:r>
              <a:t>packages/env/test/ssh.test.ts</a:t>
            </a:r>
          </a:p>
          <a:p xmlns:a="http://schemas.openxmlformats.org/drawingml/2006/main">
            <a:r>
              <a:t>packages/env/test/conformance.test.ts</a:t>
            </a:r>
          </a:p>
          <a:p xmlns:a="http://schemas.openxmlformats.org/drawingml/2006/main">
            <a:r>
              <a:t>packages/env/test/differential.test.ts</a:t>
            </a:r>
          </a:p>
          <a:p xmlns:a="http://schemas.openxmlformats.org/drawingml/2006/main">
            <a:r>
              <a:t>packages/env/test/remote.test.ts</a:t>
            </a:r>
          </a:p>
          <a:p xmlns:a="http://schemas.openxmlformats.org/drawingml/2006/main">
            <a:r>
              <a:t>packages/env/test/terminal.test.ts</a:t>
            </a:r>
          </a:p>
          <a:p xmlns:a="http://schemas.openxmlformats.org/drawingml/2006/main">
            <a:r>
              <a:t>packages/durable/test/env-line-scan.test.ts</a:t>
            </a:r>
          </a:p>
          <a:p xmlns:a="http://schemas.openxmlformats.org/drawingml/2006/main">
            <a:r>
              <a:t>packages/durable/test/chat-support.ts</a:t>
            </a:r>
          </a:p>
          <a:p xmlns:a="http://schemas.openxmlformats.org/drawingml/2006/main">
            <a:r>
              <a:t>packages/durable/test/codemode-models.test.ts</a:t>
            </a:r>
          </a:p>
          <a:p xmlns:a="http://schemas.openxmlformats.org/drawingml/2006/main">
            <a:r>
              <a:t>packages/durable/test/env-node-conformance.test.ts</a:t>
            </a:r>
          </a:p>
          <a:p xmlns:a="http://schemas.openxmlformats.org/drawingml/2006/main">
            <a:r>
              <a:t>packages/durable/test/env-node-spill.test.ts</a:t>
            </a:r>
          </a:p>
          <a:p xmlns:a="http://schemas.openxmlformats.org/drawingml/2006/main">
            <a:r>
              <a:t>packages/durable/test/env-node.test.ts</a:t>
            </a:r>
          </a:p>
          <a:p xmlns:a="http://schemas.openxmlformats.org/drawingml/2006/main">
            <a:r>
              <a:t>packages/durable/test/harness-output-skip.test.ts</a:t>
            </a:r>
          </a:p>
          <a:p xmlns:a="http://schemas.openxmlformats.org/drawingml/2006/main">
            <a:r>
              <a:t>packages/durable/test/harness-tools-recovery.test.ts</a:t>
            </a:r>
          </a:p>
          <a:p xmlns:a="http://schemas.openxmlformats.org/drawingml/2006/main">
            <a:r>
              <a:t>packages/durable/test/jsonl-storage.test.ts</a:t>
            </a:r>
          </a:p>
          <a:p xmlns:a="http://schemas.openxmlformats.org/drawingml/2006/main">
            <a:r>
              <a:t>packages/durable/test/spec-usage.test.ts</a:t>
            </a:r>
          </a:p>
          <a:p xmlns:a="http://schemas.openxmlformats.org/drawingml/2006/main">
            <a:r>
              <a:t>packages/durable/test/tools-images.test.ts</a:t>
            </a:r>
          </a:p>
          <a:p xmlns:a="http://schemas.openxmlformats.org/drawingml/2006/main">
            <a:r>
              <a:t>packages/durable/test/tools.test.ts</a:t>
            </a:r>
          </a:p>
          <a:p xmlns:a="http://schemas.openxmlformats.org/drawingml/2006/main">
            <a:r>
              <a:t>packages/durable/test/codemode.test.ts</a:t>
            </a:r>
          </a:p>
          <a:p xmlns:a="http://schemas.openxmlformats.org/drawingml/2006/main">
            <a:r>
              <a:t>packages/durable/test/harness-structured-output.test.ts</a:t>
            </a:r>
          </a:p>
          <a:p xmlns:a="http://schemas.openxmlformats.org/drawingml/2006/main">
            <a:r>
              <a:t>packages/durable/test/harness-tools.test.ts</a:t>
            </a:r>
          </a:p>
          <a:p xmlns:a="http://schemas.openxmlformats.org/drawingml/2006/main">
            <a:r>
              <a:t>packages/durable/test/tool-output-bench.ts</a:t>
            </a:r>
          </a:p>
          <a:p xmlns:a="http://schemas.openxmlformats.org/drawingml/2006/main">
            <a:r>
              <a:t>packages/durable/test/tools-read-differential.test.ts</a:t>
            </a:r>
          </a:p>
          <a:p xmlns:a="http://schemas.openxmlformats.org/drawingml/2006/main">
            <a:r>
              <a:t>packages/durable/test/harness-output.test.ts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源码基线：6cd9d957a9fd50bc504d45b72834ed9dd85a20b6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流程为教学阅读顺序，可选分支不表示每次运行必经。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34558b49f124ce3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08e7d59515d4073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2e4172ab46d4ad3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9d12bc7379c45a9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879ca0175fe474e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53aaf2130a7476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2152FD7-2D56-4994-8241-3DC71B6A7CC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6684E25C-D002-4B4E-855E-887CC2A8E979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FB6B8F0B-C9AA-472B-A022-88DA35CB1DA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29C5ADE-FBA9-40DA-8D0B-5D03FABEE80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7AAE6C24-666E-4BFD-BAA5-27CBB309B91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DBD1458C-A0E9-47D0-B434-0C87E33E07F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30D389AF-82E9-4578-A3DB-CA4C0454321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28EF1A6F-04F1-4ECC-A2B8-EB6BD1205F3D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F51FB5D-1AC3-4C08-BA15-252B738061A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D04032C2-1CCA-40E8-BFD6-833B891AC9F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1ea9c727df14bcc" /><Relationship Type="http://schemas.openxmlformats.org/officeDocument/2006/relationships/slideLayout" Target="/ppt/slideLayouts/slideLayout1.xml" Id="R76404ed4e6a74fcf" /><Relationship Type="http://schemas.openxmlformats.org/officeDocument/2006/relationships/slideLayout" Target="/ppt/slideLayouts/slideLayout2.xml" Id="R5fd085de165945c1" /><Relationship Type="http://schemas.openxmlformats.org/officeDocument/2006/relationships/slideLayout" Target="/ppt/slideLayouts/slideLayout3.xml" Id="Rbe1222731d064b15" /><Relationship Type="http://schemas.openxmlformats.org/officeDocument/2006/relationships/slideLayout" Target="/ppt/slideLayouts/slideLayout4.xml" Id="Rf5252c7461fa4513" /><Relationship Type="http://schemas.openxmlformats.org/officeDocument/2006/relationships/slideLayout" Target="/ppt/slideLayouts/slideLayout5.xml" Id="R7d1322dc9c8e4c74" /><Relationship Type="http://schemas.openxmlformats.org/officeDocument/2006/relationships/slideLayout" Target="/ppt/slideLayouts/slideLayout6.xml" Id="R36f625684a39462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6404ed4e6a74fcf"/>
    <p:sldLayoutId xmlns:r="http://schemas.openxmlformats.org/officeDocument/2006/relationships" id="2147483650" r:id="R5fd085de165945c1"/>
    <p:sldLayoutId xmlns:r="http://schemas.openxmlformats.org/officeDocument/2006/relationships" id="2147483651" r:id="Rbe1222731d064b15"/>
    <p:sldLayoutId xmlns:r="http://schemas.openxmlformats.org/officeDocument/2006/relationships" id="2147483652" r:id="Rf5252c7461fa4513"/>
    <p:sldLayoutId xmlns:r="http://schemas.openxmlformats.org/officeDocument/2006/relationships" id="2147483653" r:id="R7d1322dc9c8e4c74"/>
    <p:sldLayoutId xmlns:r="http://schemas.openxmlformats.org/officeDocument/2006/relationships" id="2147483654" r:id="R36f625684a39462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5efd20606df4096" /><Relationship Type="http://schemas.openxmlformats.org/officeDocument/2006/relationships/notesSlide" Target="/ppt/notesSlides/notesSlide1.xml" Id="R704d04b9451848d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2f05a44842647b4" /><Relationship Type="http://schemas.openxmlformats.org/officeDocument/2006/relationships/notesSlide" Target="/ppt/notesSlides/notesSlide2.xml" Id="R6b0967eed838488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718fbd1d89c4143" /><Relationship Type="http://schemas.openxmlformats.org/officeDocument/2006/relationships/notesSlide" Target="/ppt/notesSlides/notesSlide3.xml" Id="Rf5547600b83d42f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bde21eff31d43ea" /><Relationship Type="http://schemas.openxmlformats.org/officeDocument/2006/relationships/notesSlide" Target="/ppt/notesSlides/notesSlide4.xml" Id="Rae745a3287ed41b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8ffd4e3c57f4891" /><Relationship Type="http://schemas.openxmlformats.org/officeDocument/2006/relationships/notesSlide" Target="/ppt/notesSlides/notesSlide5.xml" Id="R47e23e7fd1154f0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e93f0ff03904845" /><Relationship Type="http://schemas.openxmlformats.org/officeDocument/2006/relationships/notesSlide" Target="/ppt/notesSlides/notesSlide6.xml" Id="R529df147ef754a3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8359482190343e3" /><Relationship Type="http://schemas.openxmlformats.org/officeDocument/2006/relationships/notesSlide" Target="/ppt/notesSlides/notesSlide7.xml" Id="R2680f1bb4a2f4ce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5c79ad898f645aa" /><Relationship Type="http://schemas.openxmlformats.org/officeDocument/2006/relationships/notesSlide" Target="/ppt/notesSlides/notesSlide8.xml" Id="R3b5dcc90e239407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6e74f2d197640c1" /><Relationship Type="http://schemas.openxmlformats.org/officeDocument/2006/relationships/notesSlide" Target="/ppt/notesSlides/notesSlide9.xml" Id="Rcf1e7904002d4e6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8f098415e9d4632" /><Relationship Type="http://schemas.openxmlformats.org/officeDocument/2006/relationships/notesSlide" Target="/ppt/notesSlides/notesSlide10.xml" Id="Ra43427fd16e54f33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da5f0af541c4644" /><Relationship Type="http://schemas.openxmlformats.org/officeDocument/2006/relationships/notesSlide" Target="/ppt/notesSlides/notesSlide11.xml" Id="R3cfde0767e3748d1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29664c584b7452d" /><Relationship Type="http://schemas.openxmlformats.org/officeDocument/2006/relationships/notesSlide" Target="/ppt/notesSlides/notesSlide12.xml" Id="R9bc81f3d37f84c4e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8d6e287cc5c42b5" /><Relationship Type="http://schemas.openxmlformats.org/officeDocument/2006/relationships/notesSlide" Target="/ppt/notesSlides/notesSlide13.xml" Id="R0d5fe07930704a60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9ce6e72d4c3443c" /><Relationship Type="http://schemas.openxmlformats.org/officeDocument/2006/relationships/notesSlide" Target="/ppt/notesSlides/notesSlide14.xml" Id="R3fd45e007d7345e6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5bcde27129c4a8d" /><Relationship Type="http://schemas.openxmlformats.org/officeDocument/2006/relationships/notesSlide" Target="/ppt/notesSlides/notesSlide15.xml" Id="Reb4f6e25716c4298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e4cfe5994454f47" /><Relationship Type="http://schemas.openxmlformats.org/officeDocument/2006/relationships/notesSlide" Target="/ppt/notesSlides/notesSlide16.xml" Id="Re18ee5738fd84bb5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10685adf1314921" /><Relationship Type="http://schemas.openxmlformats.org/officeDocument/2006/relationships/notesSlide" Target="/ppt/notesSlides/notesSlide17.xml" Id="Re637ea29fac44a5c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c348e8cf886492e" /><Relationship Type="http://schemas.openxmlformats.org/officeDocument/2006/relationships/notesSlide" Target="/ppt/notesSlides/notesSlide18.xml" Id="R50a0342eade84d6b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9ebe708bfae413f" /><Relationship Type="http://schemas.openxmlformats.org/officeDocument/2006/relationships/notesSlide" Target="/ppt/notesSlides/notesSlide19.xml" Id="Re817e8c23048449c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ed27bbf2baa4c90" /><Relationship Type="http://schemas.openxmlformats.org/officeDocument/2006/relationships/notesSlide" Target="/ppt/notesSlides/notesSlide20.xml" Id="R01db5143878a46d6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4ef1821c3e342fe" /><Relationship Type="http://schemas.openxmlformats.org/officeDocument/2006/relationships/notesSlide" Target="/ppt/notesSlides/notesSlide21.xml" Id="R388f8051c49340c8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2c86cd2ec434953" /><Relationship Type="http://schemas.openxmlformats.org/officeDocument/2006/relationships/notesSlide" Target="/ppt/notesSlides/notesSlide22.xml" Id="R5c25ac4c09144491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012ef4443dc40e2" /><Relationship Type="http://schemas.openxmlformats.org/officeDocument/2006/relationships/notesSlide" Target="/ppt/notesSlides/notesSlide23.xml" Id="R115ab6a106164850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80053f15505445d" /><Relationship Type="http://schemas.openxmlformats.org/officeDocument/2006/relationships/notesSlide" Target="/ppt/notesSlides/notesSlide24.xml" Id="R490a8108e4204df0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6d603663a9148e7" /><Relationship Type="http://schemas.openxmlformats.org/officeDocument/2006/relationships/notesSlide" Target="/ppt/notesSlides/notesSlide25.xml" Id="R8b9d638622af4f5d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b991379eb124414" /><Relationship Type="http://schemas.openxmlformats.org/officeDocument/2006/relationships/notesSlide" Target="/ppt/notesSlides/notesSlide26.xml" Id="R6c2d7e36caa0434c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74747a5bf0f4502" /><Relationship Type="http://schemas.openxmlformats.org/officeDocument/2006/relationships/notesSlide" Target="/ppt/notesSlides/notesSlide27.xml" Id="Rf30692fd0cc24562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a8719344f6b4b77" /><Relationship Type="http://schemas.openxmlformats.org/officeDocument/2006/relationships/notesSlide" Target="/ppt/notesSlides/notesSlide28.xml" Id="R5238991060394c7d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a80b01786e14936" /><Relationship Type="http://schemas.openxmlformats.org/officeDocument/2006/relationships/notesSlide" Target="/ppt/notesSlides/notesSlide29.xml" Id="R8ef0f83cc3274d90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57297d097794718" /><Relationship Type="http://schemas.openxmlformats.org/officeDocument/2006/relationships/notesSlide" Target="/ppt/notesSlides/notesSlide30.xml" Id="R8eecd89d18d64b5d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c0d33e058e448fa" /><Relationship Type="http://schemas.openxmlformats.org/officeDocument/2006/relationships/notesSlide" Target="/ppt/notesSlides/notesSlide31.xml" Id="R39aceb2efd1b489a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7f551cb3d7c4171" /><Relationship Type="http://schemas.openxmlformats.org/officeDocument/2006/relationships/notesSlide" Target="/ppt/notesSlides/notesSlide32.xml" Id="R8541d61d599f4bcd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1c711b7e18e410a" /><Relationship Type="http://schemas.openxmlformats.org/officeDocument/2006/relationships/notesSlide" Target="/ppt/notesSlides/notesSlide33.xml" Id="R9bc696f1520a464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eyebrow">
            <a:extLst xmlns:a="http://schemas.openxmlformats.org/drawingml/2006/main">
              <a:ext uri="{FF2B5EF4-FFF2-40B4-BE49-F238E27FC236}">
                <a16:creationId xmlns:a16="http://schemas.microsoft.com/office/drawing/2014/main" id="{6A0FBCE3-8641-42A3-842A-54CC505DE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1093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06 持久化与跨进程   /   场景与职责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3BAD2AAB-8154-4B76-9B5A-5C826130D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6775"/>
            <a:ext cx="109347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持久记录、事务与可恢复会话</a:t>
            </a:r>
          </a:p>
        </p:txBody>
      </p:sp>
      <p:sp>
        <p:nvSpPr>
          <p:cNvPr id="3" name="scenario">
            <a:extLst xmlns:a="http://schemas.openxmlformats.org/drawingml/2006/main">
              <a:ext uri="{FF2B5EF4-FFF2-40B4-BE49-F238E27FC236}">
                <a16:creationId xmlns:a16="http://schemas.microsoft.com/office/drawing/2014/main" id="{20643A7A-1A22-4731-AF8D-0B0DC6057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109347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rPr>
              <a:t>进程退出后，应用仍要知道已接纳输入、文档和任务到了哪一步。</a:t>
            </a:r>
          </a:p>
        </p:txBody>
      </p:sp>
      <p:sp>
        <p:nvSpPr>
          <p:cNvPr id="4" name="section">
            <a:extLst xmlns:a="http://schemas.openxmlformats.org/drawingml/2006/main">
              <a:ext uri="{FF2B5EF4-FFF2-40B4-BE49-F238E27FC236}">
                <a16:creationId xmlns:a16="http://schemas.microsoft.com/office/drawing/2014/main" id="{1D7D17DD-5BA6-4D79-965D-5A6B4ABAC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14650"/>
            <a:ext cx="10934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各层负责什么</a:t>
            </a:r>
          </a:p>
        </p:txBody>
      </p:sp>
      <p:sp>
        <p:nvSpPr>
          <p:cNvPr id="5" name="responsibility-0">
            <a:extLst xmlns:a="http://schemas.openxmlformats.org/drawingml/2006/main">
              <a:ext uri="{FF2B5EF4-FFF2-40B4-BE49-F238E27FC236}">
                <a16:creationId xmlns:a16="http://schemas.microsoft.com/office/drawing/2014/main" id="{50776FC9-69AB-416F-912F-ED3D6DC42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38525"/>
            <a:ext cx="10934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1. 文档、条目、任务与 ID 契约</a:t>
            </a:r>
          </a:p>
        </p:txBody>
      </p:sp>
      <p:sp>
        <p:nvSpPr>
          <p:cNvPr id="6" name="responsibility-1">
            <a:extLst xmlns:a="http://schemas.openxmlformats.org/drawingml/2006/main">
              <a:ext uri="{FF2B5EF4-FFF2-40B4-BE49-F238E27FC236}">
                <a16:creationId xmlns:a16="http://schemas.microsoft.com/office/drawing/2014/main" id="{B73C16E0-B127-4226-BEFA-405E8E00D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95725"/>
            <a:ext cx="10934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2. 会话事务、分叉与观察</a:t>
            </a:r>
          </a:p>
        </p:txBody>
      </p:sp>
      <p:sp>
        <p:nvSpPr>
          <p:cNvPr id="7" name="responsibility-2">
            <a:extLst xmlns:a="http://schemas.openxmlformats.org/drawingml/2006/main">
              <a:ext uri="{FF2B5EF4-FFF2-40B4-BE49-F238E27FC236}">
                <a16:creationId xmlns:a16="http://schemas.microsoft.com/office/drawing/2014/main" id="{DBA0A794-D806-4843-B489-1FBFE1CD5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52925"/>
            <a:ext cx="10934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3. 内存存储</a:t>
            </a:r>
          </a:p>
        </p:txBody>
      </p:sp>
      <p:sp>
        <p:nvSpPr>
          <p:cNvPr id="8" name="responsibility-3">
            <a:extLst xmlns:a="http://schemas.openxmlformats.org/drawingml/2006/main">
              <a:ext uri="{FF2B5EF4-FFF2-40B4-BE49-F238E27FC236}">
                <a16:creationId xmlns:a16="http://schemas.microsoft.com/office/drawing/2014/main" id="{374F594C-2313-48C8-B74A-08FF43F4A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34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4. 文件监视、字节解码与大文件扫描</a:t>
            </a:r>
          </a:p>
        </p:txBody>
      </p:sp>
      <p:sp>
        <p:nvSpPr>
          <p:cNvPr id="9" name="footer">
            <a:extLst xmlns:a="http://schemas.openxmlformats.org/drawingml/2006/main">
              <a:ext uri="{FF2B5EF4-FFF2-40B4-BE49-F238E27FC236}">
                <a16:creationId xmlns:a16="http://schemas.microsoft.com/office/drawing/2014/main" id="{35A646B8-9593-48DD-8603-AB23AD534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109347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rPr>
              <a:t>Pi 源码精通路线   /   durable-basics   /   1      完整步骤、参考答案与源码路径见讲者备注及离线导览</a:t>
            </a:r>
          </a:p>
        </p:txBody>
      </p:sp>
    </p:spTree>
    <p:extLst>
      <p:ext uri="{BB962C8B-B14F-4D97-AF65-F5344CB8AC3E}">
        <p14:creationId xmlns:p14="http://schemas.microsoft.com/office/powerpoint/2010/main" val="26023906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eyebrow">
            <a:extLst xmlns:a="http://schemas.openxmlformats.org/drawingml/2006/main">
              <a:ext uri="{FF2B5EF4-FFF2-40B4-BE49-F238E27FC236}">
                <a16:creationId xmlns:a16="http://schemas.microsoft.com/office/drawing/2014/main" id="{65E8648B-382E-44D0-9516-5B91E6552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1093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06 持久化与跨进程   /   执行顺序与数据变化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01A9DC91-284D-4E99-BA62-9E79D5A9C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6775"/>
            <a:ext cx="109347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持久记录、事务与可恢复会话</a:t>
            </a:r>
          </a:p>
        </p:txBody>
      </p:sp>
      <p:sp>
        <p:nvSpPr>
          <p:cNvPr id="3" name="step-0">
            <a:extLst xmlns:a="http://schemas.openxmlformats.org/drawingml/2006/main">
              <a:ext uri="{FF2B5EF4-FFF2-40B4-BE49-F238E27FC236}">
                <a16:creationId xmlns:a16="http://schemas.microsoft.com/office/drawing/2014/main" id="{3C5A1E21-762A-47A6-8B92-E7E53A86A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47875"/>
            <a:ext cx="1093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1. 认识四类记录</a:t>
            </a:r>
          </a:p>
        </p:txBody>
      </p:sp>
      <p:sp>
        <p:nvSpPr>
          <p:cNvPr id="4" name="data-0">
            <a:extLst xmlns:a="http://schemas.openxmlformats.org/drawingml/2006/main">
              <a:ext uri="{FF2B5EF4-FFF2-40B4-BE49-F238E27FC236}">
                <a16:creationId xmlns:a16="http://schemas.microsoft.com/office/drawing/2014/main" id="{823E3B23-27D9-483B-A873-EA8EDDE0B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09825"/>
            <a:ext cx="10706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rPr>
              <a:t>输入：业务状态和消息    输出：记录类型选择</a:t>
            </a:r>
          </a:p>
        </p:txBody>
      </p:sp>
      <p:sp>
        <p:nvSpPr>
          <p:cNvPr id="5" name="step-1">
            <a:extLst xmlns:a="http://schemas.openxmlformats.org/drawingml/2006/main">
              <a:ext uri="{FF2B5EF4-FFF2-40B4-BE49-F238E27FC236}">
                <a16:creationId xmlns:a16="http://schemas.microsoft.com/office/drawing/2014/main" id="{1B1DC80A-59F4-4D89-984D-AAE4A09FC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19400"/>
            <a:ext cx="1093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2. 创建事务并提交</a:t>
            </a:r>
          </a:p>
        </p:txBody>
      </p:sp>
      <p:sp>
        <p:nvSpPr>
          <p:cNvPr id="6" name="data-1">
            <a:extLst xmlns:a="http://schemas.openxmlformats.org/drawingml/2006/main">
              <a:ext uri="{FF2B5EF4-FFF2-40B4-BE49-F238E27FC236}">
                <a16:creationId xmlns:a16="http://schemas.microsoft.com/office/drawing/2014/main" id="{964EE5BC-32C5-44D1-B440-FDEADB5B0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81350"/>
            <a:ext cx="10706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rPr>
              <a:t>输入：一组关联变更    输出：持久提交</a:t>
            </a:r>
          </a:p>
        </p:txBody>
      </p:sp>
      <p:sp>
        <p:nvSpPr>
          <p:cNvPr id="7" name="step-2">
            <a:extLst xmlns:a="http://schemas.openxmlformats.org/drawingml/2006/main">
              <a:ext uri="{FF2B5EF4-FFF2-40B4-BE49-F238E27FC236}">
                <a16:creationId xmlns:a16="http://schemas.microsoft.com/office/drawing/2014/main" id="{C33438A4-3779-4280-8550-087DD1C90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90925"/>
            <a:ext cx="1093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3. 选择存储实现</a:t>
            </a:r>
          </a:p>
        </p:txBody>
      </p:sp>
      <p:sp>
        <p:nvSpPr>
          <p:cNvPr id="8" name="data-2">
            <a:extLst xmlns:a="http://schemas.openxmlformats.org/drawingml/2006/main">
              <a:ext uri="{FF2B5EF4-FFF2-40B4-BE49-F238E27FC236}">
                <a16:creationId xmlns:a16="http://schemas.microsoft.com/office/drawing/2014/main" id="{08FE8817-0794-4375-BCEB-DF0F28BF7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952875"/>
            <a:ext cx="10706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rPr>
              <a:t>输入：Storage 接口    输出：存储后端</a:t>
            </a:r>
          </a:p>
        </p:txBody>
      </p:sp>
      <p:sp>
        <p:nvSpPr>
          <p:cNvPr id="9" name="step-3">
            <a:extLst xmlns:a="http://schemas.openxmlformats.org/drawingml/2006/main">
              <a:ext uri="{FF2B5EF4-FFF2-40B4-BE49-F238E27FC236}">
                <a16:creationId xmlns:a16="http://schemas.microsoft.com/office/drawing/2014/main" id="{007CA18B-6C70-4CC5-8287-6FEE0EF97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62450"/>
            <a:ext cx="1093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4. 观察提交后的结果</a:t>
            </a:r>
          </a:p>
        </p:txBody>
      </p:sp>
      <p:sp>
        <p:nvSpPr>
          <p:cNvPr id="10" name="data-3">
            <a:extLst xmlns:a="http://schemas.openxmlformats.org/drawingml/2006/main">
              <a:ext uri="{FF2B5EF4-FFF2-40B4-BE49-F238E27FC236}">
                <a16:creationId xmlns:a16="http://schemas.microsoft.com/office/drawing/2014/main" id="{6F856176-789A-4E3E-BD45-69A5331F5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24400"/>
            <a:ext cx="10706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rPr>
              <a:t>输入：提交序列与游标    输出：可消费的变化</a:t>
            </a:r>
          </a:p>
        </p:txBody>
      </p:sp>
      <p:sp>
        <p:nvSpPr>
          <p:cNvPr id="11" name="footer">
            <a:extLst xmlns:a="http://schemas.openxmlformats.org/drawingml/2006/main">
              <a:ext uri="{FF2B5EF4-FFF2-40B4-BE49-F238E27FC236}">
                <a16:creationId xmlns:a16="http://schemas.microsoft.com/office/drawing/2014/main" id="{DC69FE08-028F-43A7-BF6D-3B7F9C580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109347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rPr>
              <a:t>Pi 源码精通路线   /   durable-basics   /   2      完整步骤、参考答案与源码路径见讲者备注及离线导览</a:t>
            </a:r>
          </a:p>
        </p:txBody>
      </p:sp>
    </p:spTree>
    <p:extLst>
      <p:ext uri="{BB962C8B-B14F-4D97-AF65-F5344CB8AC3E}">
        <p14:creationId xmlns:p14="http://schemas.microsoft.com/office/powerpoint/2010/main" val="52800610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eyebrow">
            <a:extLst xmlns:a="http://schemas.openxmlformats.org/drawingml/2006/main">
              <a:ext uri="{FF2B5EF4-FFF2-40B4-BE49-F238E27FC236}">
                <a16:creationId xmlns:a16="http://schemas.microsoft.com/office/drawing/2014/main" id="{504E8807-1411-43AB-BD32-02B1877DD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1093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06 持久化与跨进程   /   失败分支与练习验证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A09E63FE-1B6F-4F47-84E4-49D016218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6775"/>
            <a:ext cx="109347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持久记录、事务与可恢复会话</a:t>
            </a:r>
          </a:p>
        </p:txBody>
      </p:sp>
      <p:sp>
        <p:nvSpPr>
          <p:cNvPr id="3" name="failure-label">
            <a:extLst xmlns:a="http://schemas.openxmlformats.org/drawingml/2006/main">
              <a:ext uri="{FF2B5EF4-FFF2-40B4-BE49-F238E27FC236}">
                <a16:creationId xmlns:a16="http://schemas.microsoft.com/office/drawing/2014/main" id="{9871733A-BE50-460D-B39C-FE5016AE8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9775"/>
            <a:ext cx="10934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失败与恢复边界</a:t>
            </a:r>
          </a:p>
        </p:txBody>
      </p:sp>
      <p:sp>
        <p:nvSpPr>
          <p:cNvPr id="4" name="failure">
            <a:extLst xmlns:a="http://schemas.openxmlformats.org/drawingml/2006/main">
              <a:ext uri="{FF2B5EF4-FFF2-40B4-BE49-F238E27FC236}">
                <a16:creationId xmlns:a16="http://schemas.microsoft.com/office/drawing/2014/main" id="{17F2DE09-A3BE-45B1-BF3F-A8434A887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43175"/>
            <a:ext cx="109347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内存后端不提供进程退出后的恢复；事务也无法自动回滚已经发生的网络或文件副作用。</a:t>
            </a:r>
          </a:p>
        </p:txBody>
      </p:sp>
      <p:sp>
        <p:nvSpPr>
          <p:cNvPr id="5" name="exercise-label">
            <a:extLst xmlns:a="http://schemas.openxmlformats.org/drawingml/2006/main">
              <a:ext uri="{FF2B5EF4-FFF2-40B4-BE49-F238E27FC236}">
                <a16:creationId xmlns:a16="http://schemas.microsoft.com/office/drawing/2014/main" id="{66ED78F3-D4BE-4C7B-9092-7C5910751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86225"/>
            <a:ext cx="10934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动手练习</a:t>
            </a:r>
          </a:p>
        </p:txBody>
      </p:sp>
      <p:sp>
        <p:nvSpPr>
          <p:cNvPr id="6" name="exercise">
            <a:extLst xmlns:a="http://schemas.openxmlformats.org/drawingml/2006/main">
              <a:ext uri="{FF2B5EF4-FFF2-40B4-BE49-F238E27FC236}">
                <a16:creationId xmlns:a16="http://schemas.microsoft.com/office/drawing/2014/main" id="{3F85517A-FC07-4882-9354-86AEDE9CF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19625"/>
            <a:ext cx="109347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构造两个文档同时更新的事务，解释失败时观察者应看到什么。</a:t>
            </a:r>
          </a:p>
        </p:txBody>
      </p:sp>
      <p:sp>
        <p:nvSpPr>
          <p:cNvPr id="7" name="footer">
            <a:extLst xmlns:a="http://schemas.openxmlformats.org/drawingml/2006/main">
              <a:ext uri="{FF2B5EF4-FFF2-40B4-BE49-F238E27FC236}">
                <a16:creationId xmlns:a16="http://schemas.microsoft.com/office/drawing/2014/main" id="{357C457B-DBDC-423D-AE85-8F409D519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109347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rPr>
              <a:t>Pi 源码精通路线   /   durable-basics   /   3      完整步骤、参考答案与源码路径见讲者备注及离线导览</a:t>
            </a:r>
          </a:p>
        </p:txBody>
      </p:sp>
    </p:spTree>
    <p:extLst>
      <p:ext uri="{BB962C8B-B14F-4D97-AF65-F5344CB8AC3E}">
        <p14:creationId xmlns:p14="http://schemas.microsoft.com/office/powerpoint/2010/main" val="20944159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eyebrow">
            <a:extLst xmlns:a="http://schemas.openxmlformats.org/drawingml/2006/main">
              <a:ext uri="{FF2B5EF4-FFF2-40B4-BE49-F238E27FC236}">
                <a16:creationId xmlns:a16="http://schemas.microsoft.com/office/drawing/2014/main" id="{53F6E366-6E18-4D7C-95AD-3B58485FB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1093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06 持久化与跨进程   /   场景与职责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DF5148D5-E51E-4729-9E43-BD5DBBA4A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6775"/>
            <a:ext cx="109347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输入接纳、Inbox 与持久生成</a:t>
            </a:r>
          </a:p>
        </p:txBody>
      </p:sp>
      <p:sp>
        <p:nvSpPr>
          <p:cNvPr id="3" name="scenario">
            <a:extLst xmlns:a="http://schemas.openxmlformats.org/drawingml/2006/main">
              <a:ext uri="{FF2B5EF4-FFF2-40B4-BE49-F238E27FC236}">
                <a16:creationId xmlns:a16="http://schemas.microsoft.com/office/drawing/2014/main" id="{3440CC2D-B332-475D-9D2C-E3454F1F9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109347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rPr>
              <a:t>客户端提交一次输入，连接中断后重试仍不能重复工作。</a:t>
            </a:r>
          </a:p>
        </p:txBody>
      </p:sp>
      <p:sp>
        <p:nvSpPr>
          <p:cNvPr id="4" name="section">
            <a:extLst xmlns:a="http://schemas.openxmlformats.org/drawingml/2006/main">
              <a:ext uri="{FF2B5EF4-FFF2-40B4-BE49-F238E27FC236}">
                <a16:creationId xmlns:a16="http://schemas.microsoft.com/office/drawing/2014/main" id="{891883D3-3369-426B-9440-9D806587E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14650"/>
            <a:ext cx="10934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各层负责什么</a:t>
            </a:r>
          </a:p>
        </p:txBody>
      </p:sp>
      <p:sp>
        <p:nvSpPr>
          <p:cNvPr id="5" name="responsibility-0">
            <a:extLst xmlns:a="http://schemas.openxmlformats.org/drawingml/2006/main">
              <a:ext uri="{FF2B5EF4-FFF2-40B4-BE49-F238E27FC236}">
                <a16:creationId xmlns:a16="http://schemas.microsoft.com/office/drawing/2014/main" id="{50D3DFB1-BEE7-49FD-92A9-19A5C34BF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38525"/>
            <a:ext cx="10934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1. 会话执行、注册表与调度</a:t>
            </a:r>
          </a:p>
        </p:txBody>
      </p:sp>
      <p:sp>
        <p:nvSpPr>
          <p:cNvPr id="6" name="responsibility-1">
            <a:extLst xmlns:a="http://schemas.openxmlformats.org/drawingml/2006/main">
              <a:ext uri="{FF2B5EF4-FFF2-40B4-BE49-F238E27FC236}">
                <a16:creationId xmlns:a16="http://schemas.microsoft.com/office/drawing/2014/main" id="{55360032-4AD6-4022-B390-EEA5C602F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95725"/>
            <a:ext cx="10934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2. 持久输入队列、幂等提交与撤回</a:t>
            </a:r>
          </a:p>
        </p:txBody>
      </p:sp>
      <p:sp>
        <p:nvSpPr>
          <p:cNvPr id="7" name="responsibility-2">
            <a:extLst xmlns:a="http://schemas.openxmlformats.org/drawingml/2006/main">
              <a:ext uri="{FF2B5EF4-FFF2-40B4-BE49-F238E27FC236}">
                <a16:creationId xmlns:a16="http://schemas.microsoft.com/office/drawing/2014/main" id="{C1BE3709-A732-41FE-9DB2-376739A24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52925"/>
            <a:ext cx="10934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3. 提示区块、上下文投影与位置化系统条目</a:t>
            </a:r>
          </a:p>
        </p:txBody>
      </p:sp>
      <p:sp>
        <p:nvSpPr>
          <p:cNvPr id="8" name="responsibility-3">
            <a:extLst xmlns:a="http://schemas.openxmlformats.org/drawingml/2006/main">
              <a:ext uri="{FF2B5EF4-FFF2-40B4-BE49-F238E27FC236}">
                <a16:creationId xmlns:a16="http://schemas.microsoft.com/office/drawing/2014/main" id="{00FAC28F-3B56-4491-8833-F51AEEF33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34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4. 持久模型生成、重试与续轮</a:t>
            </a:r>
          </a:p>
        </p:txBody>
      </p:sp>
      <p:sp>
        <p:nvSpPr>
          <p:cNvPr id="9" name="footer">
            <a:extLst xmlns:a="http://schemas.openxmlformats.org/drawingml/2006/main">
              <a:ext uri="{FF2B5EF4-FFF2-40B4-BE49-F238E27FC236}">
                <a16:creationId xmlns:a16="http://schemas.microsoft.com/office/drawing/2014/main" id="{F1982DA2-BA0F-4646-B18C-94ECF644F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109347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rPr>
              <a:t>Pi 源码精通路线   /   durable-submission   /   4      完整步骤、参考答案与源码路径见讲者备注及离线导览</a:t>
            </a:r>
          </a:p>
        </p:txBody>
      </p:sp>
    </p:spTree>
    <p:extLst>
      <p:ext uri="{BB962C8B-B14F-4D97-AF65-F5344CB8AC3E}">
        <p14:creationId xmlns:p14="http://schemas.microsoft.com/office/powerpoint/2010/main" val="59059926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eyebrow">
            <a:extLst xmlns:a="http://schemas.openxmlformats.org/drawingml/2006/main">
              <a:ext uri="{FF2B5EF4-FFF2-40B4-BE49-F238E27FC236}">
                <a16:creationId xmlns:a16="http://schemas.microsoft.com/office/drawing/2014/main" id="{B52A3593-F49D-4C46-B4F1-9B0C7B6DF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1093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06 持久化与跨进程   /   执行顺序与数据变化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06D56CB5-0BF5-4780-8A10-BBC7BBE06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6775"/>
            <a:ext cx="109347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输入接纳、Inbox 与持久生成</a:t>
            </a:r>
          </a:p>
        </p:txBody>
      </p:sp>
      <p:sp>
        <p:nvSpPr>
          <p:cNvPr id="3" name="step-0">
            <a:extLst xmlns:a="http://schemas.openxmlformats.org/drawingml/2006/main">
              <a:ext uri="{FF2B5EF4-FFF2-40B4-BE49-F238E27FC236}">
                <a16:creationId xmlns:a16="http://schemas.microsoft.com/office/drawing/2014/main" id="{7A6052D4-0DC5-49F1-8772-1A86E3BF7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47875"/>
            <a:ext cx="1093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1. 装配 Harness 与注册表</a:t>
            </a:r>
          </a:p>
        </p:txBody>
      </p:sp>
      <p:sp>
        <p:nvSpPr>
          <p:cNvPr id="4" name="data-0">
            <a:extLst xmlns:a="http://schemas.openxmlformats.org/drawingml/2006/main">
              <a:ext uri="{FF2B5EF4-FFF2-40B4-BE49-F238E27FC236}">
                <a16:creationId xmlns:a16="http://schemas.microsoft.com/office/drawing/2014/main" id="{B786A107-D5B6-483A-B310-993660360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09825"/>
            <a:ext cx="10706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rPr>
              <a:t>输入：宿主配置    输出：Harness 与 Conversation</a:t>
            </a:r>
          </a:p>
        </p:txBody>
      </p:sp>
      <p:sp>
        <p:nvSpPr>
          <p:cNvPr id="5" name="step-1">
            <a:extLst xmlns:a="http://schemas.openxmlformats.org/drawingml/2006/main">
              <a:ext uri="{FF2B5EF4-FFF2-40B4-BE49-F238E27FC236}">
                <a16:creationId xmlns:a16="http://schemas.microsoft.com/office/drawing/2014/main" id="{B67D3114-282F-47FB-A804-E8624B870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19400"/>
            <a:ext cx="1093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2. 接纳输入与去重</a:t>
            </a:r>
          </a:p>
        </p:txBody>
      </p:sp>
      <p:sp>
        <p:nvSpPr>
          <p:cNvPr id="6" name="data-1">
            <a:extLst xmlns:a="http://schemas.openxmlformats.org/drawingml/2006/main">
              <a:ext uri="{FF2B5EF4-FFF2-40B4-BE49-F238E27FC236}">
                <a16:creationId xmlns:a16="http://schemas.microsoft.com/office/drawing/2014/main" id="{C6B6B50A-FA22-4057-9545-D4AE06BBD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81350"/>
            <a:ext cx="10706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rPr>
              <a:t>输入：输入与 requestId    输出：持久接纳结果</a:t>
            </a:r>
          </a:p>
        </p:txBody>
      </p:sp>
      <p:sp>
        <p:nvSpPr>
          <p:cNvPr id="7" name="step-2">
            <a:extLst xmlns:a="http://schemas.openxmlformats.org/drawingml/2006/main">
              <a:ext uri="{FF2B5EF4-FFF2-40B4-BE49-F238E27FC236}">
                <a16:creationId xmlns:a16="http://schemas.microsoft.com/office/drawing/2014/main" id="{A984260C-9999-42E7-BD11-3EDDA8AEB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90925"/>
            <a:ext cx="1093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3. 构造生成上下文</a:t>
            </a:r>
          </a:p>
        </p:txBody>
      </p:sp>
      <p:sp>
        <p:nvSpPr>
          <p:cNvPr id="8" name="data-2">
            <a:extLst xmlns:a="http://schemas.openxmlformats.org/drawingml/2006/main">
              <a:ext uri="{FF2B5EF4-FFF2-40B4-BE49-F238E27FC236}">
                <a16:creationId xmlns:a16="http://schemas.microsoft.com/office/drawing/2014/main" id="{1C1C4809-2E48-4ECF-970B-D3EE43E91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952875"/>
            <a:ext cx="10706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rPr>
              <a:t>输入：当前记录与会话设置    输出：模型请求上下文</a:t>
            </a:r>
          </a:p>
        </p:txBody>
      </p:sp>
      <p:sp>
        <p:nvSpPr>
          <p:cNvPr id="9" name="step-3">
            <a:extLst xmlns:a="http://schemas.openxmlformats.org/drawingml/2006/main">
              <a:ext uri="{FF2B5EF4-FFF2-40B4-BE49-F238E27FC236}">
                <a16:creationId xmlns:a16="http://schemas.microsoft.com/office/drawing/2014/main" id="{D343E3B4-5F3F-45C1-AF7F-00D248419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62450"/>
            <a:ext cx="1093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4. 持久化生成结果</a:t>
            </a:r>
          </a:p>
        </p:txBody>
      </p:sp>
      <p:sp>
        <p:nvSpPr>
          <p:cNvPr id="10" name="data-3">
            <a:extLst xmlns:a="http://schemas.openxmlformats.org/drawingml/2006/main">
              <a:ext uri="{FF2B5EF4-FFF2-40B4-BE49-F238E27FC236}">
                <a16:creationId xmlns:a16="http://schemas.microsoft.com/office/drawing/2014/main" id="{801C68B1-CF58-43E3-BCC8-B5E707708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24400"/>
            <a:ext cx="10706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rPr>
              <a:t>输入：模型输出    输出：已提交响应与后续任务</a:t>
            </a:r>
          </a:p>
        </p:txBody>
      </p:sp>
      <p:sp>
        <p:nvSpPr>
          <p:cNvPr id="11" name="footer">
            <a:extLst xmlns:a="http://schemas.openxmlformats.org/drawingml/2006/main">
              <a:ext uri="{FF2B5EF4-FFF2-40B4-BE49-F238E27FC236}">
                <a16:creationId xmlns:a16="http://schemas.microsoft.com/office/drawing/2014/main" id="{89AFD7CD-B237-45B6-B99B-7D9451A4B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109347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rPr>
              <a:t>Pi 源码精通路线   /   durable-submission   /   5      完整步骤、参考答案与源码路径见讲者备注及离线导览</a:t>
            </a:r>
          </a:p>
        </p:txBody>
      </p:sp>
    </p:spTree>
    <p:extLst>
      <p:ext uri="{BB962C8B-B14F-4D97-AF65-F5344CB8AC3E}">
        <p14:creationId xmlns:p14="http://schemas.microsoft.com/office/powerpoint/2010/main" val="9598062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eyebrow">
            <a:extLst xmlns:a="http://schemas.openxmlformats.org/drawingml/2006/main">
              <a:ext uri="{FF2B5EF4-FFF2-40B4-BE49-F238E27FC236}">
                <a16:creationId xmlns:a16="http://schemas.microsoft.com/office/drawing/2014/main" id="{358FBA4E-7831-4844-B8F0-9F487EF0B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1093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06 持久化与跨进程   /   失败分支与练习验证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624A5A80-BB19-49BE-B095-DC691B896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6775"/>
            <a:ext cx="109347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输入接纳、Inbox 与持久生成</a:t>
            </a:r>
          </a:p>
        </p:txBody>
      </p:sp>
      <p:sp>
        <p:nvSpPr>
          <p:cNvPr id="3" name="failure-label">
            <a:extLst xmlns:a="http://schemas.openxmlformats.org/drawingml/2006/main">
              <a:ext uri="{FF2B5EF4-FFF2-40B4-BE49-F238E27FC236}">
                <a16:creationId xmlns:a16="http://schemas.microsoft.com/office/drawing/2014/main" id="{751AEEC4-20A0-4BDE-BBE1-B17816C58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9775"/>
            <a:ext cx="10934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失败与恢复边界</a:t>
            </a:r>
          </a:p>
        </p:txBody>
      </p:sp>
      <p:sp>
        <p:nvSpPr>
          <p:cNvPr id="4" name="failure">
            <a:extLst xmlns:a="http://schemas.openxmlformats.org/drawingml/2006/main">
              <a:ext uri="{FF2B5EF4-FFF2-40B4-BE49-F238E27FC236}">
                <a16:creationId xmlns:a16="http://schemas.microsoft.com/office/drawing/2014/main" id="{FC6590BE-424F-428A-854E-EF38D9650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43175"/>
            <a:ext cx="109347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取消等待不会自动取消已经接纳的输入。重连后重新提交不同 requestId 可能产生新的工作。</a:t>
            </a:r>
          </a:p>
        </p:txBody>
      </p:sp>
      <p:sp>
        <p:nvSpPr>
          <p:cNvPr id="5" name="exercise-label">
            <a:extLst xmlns:a="http://schemas.openxmlformats.org/drawingml/2006/main">
              <a:ext uri="{FF2B5EF4-FFF2-40B4-BE49-F238E27FC236}">
                <a16:creationId xmlns:a16="http://schemas.microsoft.com/office/drawing/2014/main" id="{705538D9-B8BB-4BA7-9DF8-664114935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86225"/>
            <a:ext cx="10934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动手练习</a:t>
            </a:r>
          </a:p>
        </p:txBody>
      </p:sp>
      <p:sp>
        <p:nvSpPr>
          <p:cNvPr id="6" name="exercise">
            <a:extLst xmlns:a="http://schemas.openxmlformats.org/drawingml/2006/main">
              <a:ext uri="{FF2B5EF4-FFF2-40B4-BE49-F238E27FC236}">
                <a16:creationId xmlns:a16="http://schemas.microsoft.com/office/drawing/2014/main" id="{70041AA3-BD66-443F-8A39-44C636977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19625"/>
            <a:ext cx="109347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对照 20-inbox 和恢复示例，画出提交、断连、相同 requestId 重试、wait 的过程。</a:t>
            </a:r>
          </a:p>
        </p:txBody>
      </p:sp>
      <p:sp>
        <p:nvSpPr>
          <p:cNvPr id="7" name="footer">
            <a:extLst xmlns:a="http://schemas.openxmlformats.org/drawingml/2006/main">
              <a:ext uri="{FF2B5EF4-FFF2-40B4-BE49-F238E27FC236}">
                <a16:creationId xmlns:a16="http://schemas.microsoft.com/office/drawing/2014/main" id="{2D51D463-D882-4C75-AD42-0DFE64E0B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109347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rPr>
              <a:t>Pi 源码精通路线   /   durable-submission   /   6      完整步骤、参考答案与源码路径见讲者备注及离线导览</a:t>
            </a:r>
          </a:p>
        </p:txBody>
      </p:sp>
    </p:spTree>
    <p:extLst>
      <p:ext uri="{BB962C8B-B14F-4D97-AF65-F5344CB8AC3E}">
        <p14:creationId xmlns:p14="http://schemas.microsoft.com/office/powerpoint/2010/main" val="58854989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eyebrow">
            <a:extLst xmlns:a="http://schemas.openxmlformats.org/drawingml/2006/main">
              <a:ext uri="{FF2B5EF4-FFF2-40B4-BE49-F238E27FC236}">
                <a16:creationId xmlns:a16="http://schemas.microsoft.com/office/drawing/2014/main" id="{7C054C68-D86F-45DA-941E-F9798D154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1093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06 持久化与跨进程   /   场景与职责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45DA5017-0961-4904-93D7-7058FB774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6775"/>
            <a:ext cx="109347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工具意图、检查点与崩溃恢复</a:t>
            </a:r>
          </a:p>
        </p:txBody>
      </p:sp>
      <p:sp>
        <p:nvSpPr>
          <p:cNvPr id="3" name="scenario">
            <a:extLst xmlns:a="http://schemas.openxmlformats.org/drawingml/2006/main">
              <a:ext uri="{FF2B5EF4-FFF2-40B4-BE49-F238E27FC236}">
                <a16:creationId xmlns:a16="http://schemas.microsoft.com/office/drawing/2014/main" id="{1663AECE-57F2-44CC-B297-EB60A3005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109347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rPr>
              <a:t>工具执行到一半时进程退出，重启后必须避免重复危险副作用。</a:t>
            </a:r>
          </a:p>
        </p:txBody>
      </p:sp>
      <p:sp>
        <p:nvSpPr>
          <p:cNvPr id="4" name="section">
            <a:extLst xmlns:a="http://schemas.openxmlformats.org/drawingml/2006/main">
              <a:ext uri="{FF2B5EF4-FFF2-40B4-BE49-F238E27FC236}">
                <a16:creationId xmlns:a16="http://schemas.microsoft.com/office/drawing/2014/main" id="{C1A33325-D93F-476B-AE9F-B9033F9CE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14650"/>
            <a:ext cx="10934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各层负责什么</a:t>
            </a:r>
          </a:p>
        </p:txBody>
      </p:sp>
      <p:sp>
        <p:nvSpPr>
          <p:cNvPr id="5" name="responsibility-0">
            <a:extLst xmlns:a="http://schemas.openxmlformats.org/drawingml/2006/main">
              <a:ext uri="{FF2B5EF4-FFF2-40B4-BE49-F238E27FC236}">
                <a16:creationId xmlns:a16="http://schemas.microsoft.com/office/drawing/2014/main" id="{3BC9F28D-FE55-49D6-B93D-B16F54143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38525"/>
            <a:ext cx="10934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1. 扩展注册、工具覆写与在线替换</a:t>
            </a:r>
          </a:p>
        </p:txBody>
      </p:sp>
      <p:sp>
        <p:nvSpPr>
          <p:cNvPr id="6" name="responsibility-1">
            <a:extLst xmlns:a="http://schemas.openxmlformats.org/drawingml/2006/main">
              <a:ext uri="{FF2B5EF4-FFF2-40B4-BE49-F238E27FC236}">
                <a16:creationId xmlns:a16="http://schemas.microsoft.com/office/drawing/2014/main" id="{24B0ED35-C617-47E7-9D27-C1DDC87C2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95725"/>
            <a:ext cx="10934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2. 工具任务、重放安全与结果控制</a:t>
            </a:r>
          </a:p>
        </p:txBody>
      </p:sp>
      <p:sp>
        <p:nvSpPr>
          <p:cNvPr id="7" name="responsibility-2">
            <a:extLst xmlns:a="http://schemas.openxmlformats.org/drawingml/2006/main">
              <a:ext uri="{FF2B5EF4-FFF2-40B4-BE49-F238E27FC236}">
                <a16:creationId xmlns:a16="http://schemas.microsoft.com/office/drawing/2014/main" id="{86A2D825-5D4E-4818-9111-90D41739F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52925"/>
            <a:ext cx="10934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3. 存储故障与有界缓存</a:t>
            </a:r>
          </a:p>
        </p:txBody>
      </p:sp>
      <p:sp>
        <p:nvSpPr>
          <p:cNvPr id="8" name="responsibility-3">
            <a:extLst xmlns:a="http://schemas.openxmlformats.org/drawingml/2006/main">
              <a:ext uri="{FF2B5EF4-FFF2-40B4-BE49-F238E27FC236}">
                <a16:creationId xmlns:a16="http://schemas.microsoft.com/office/drawing/2014/main" id="{9545E800-087F-4AAA-ADC3-BC44DD164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34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4. Durable 编码工具与环境隔离</a:t>
            </a:r>
          </a:p>
        </p:txBody>
      </p:sp>
      <p:sp>
        <p:nvSpPr>
          <p:cNvPr id="9" name="footer">
            <a:extLst xmlns:a="http://schemas.openxmlformats.org/drawingml/2006/main">
              <a:ext uri="{FF2B5EF4-FFF2-40B4-BE49-F238E27FC236}">
                <a16:creationId xmlns:a16="http://schemas.microsoft.com/office/drawing/2014/main" id="{CFE100AF-0D48-4E8F-9F27-CD7AB4DB4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109347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rPr>
              <a:t>Pi 源码精通路线   /   durable-tool-recovery   /   7      完整步骤、参考答案与源码路径见讲者备注及离线导览</a:t>
            </a:r>
          </a:p>
        </p:txBody>
      </p:sp>
    </p:spTree>
    <p:extLst>
      <p:ext uri="{BB962C8B-B14F-4D97-AF65-F5344CB8AC3E}">
        <p14:creationId xmlns:p14="http://schemas.microsoft.com/office/powerpoint/2010/main" val="96454073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eyebrow">
            <a:extLst xmlns:a="http://schemas.openxmlformats.org/drawingml/2006/main">
              <a:ext uri="{FF2B5EF4-FFF2-40B4-BE49-F238E27FC236}">
                <a16:creationId xmlns:a16="http://schemas.microsoft.com/office/drawing/2014/main" id="{B9B05457-A541-45DC-AA0A-37FFD9624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1093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06 持久化与跨进程   /   执行顺序与数据变化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6CF16BBB-9823-48D9-AA50-432F29400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6775"/>
            <a:ext cx="109347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工具意图、检查点与崩溃恢复</a:t>
            </a:r>
          </a:p>
        </p:txBody>
      </p:sp>
      <p:sp>
        <p:nvSpPr>
          <p:cNvPr id="3" name="step-0">
            <a:extLst xmlns:a="http://schemas.openxmlformats.org/drawingml/2006/main">
              <a:ext uri="{FF2B5EF4-FFF2-40B4-BE49-F238E27FC236}">
                <a16:creationId xmlns:a16="http://schemas.microsoft.com/office/drawing/2014/main" id="{02592B42-01BC-47C6-B5E7-0E93976EA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47875"/>
            <a:ext cx="1093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1. 登记工具契约</a:t>
            </a:r>
          </a:p>
        </p:txBody>
      </p:sp>
      <p:sp>
        <p:nvSpPr>
          <p:cNvPr id="4" name="data-0">
            <a:extLst xmlns:a="http://schemas.openxmlformats.org/drawingml/2006/main">
              <a:ext uri="{FF2B5EF4-FFF2-40B4-BE49-F238E27FC236}">
                <a16:creationId xmlns:a16="http://schemas.microsoft.com/office/drawing/2014/main" id="{17D078D0-E40A-4FD0-B196-C10DB33DB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09825"/>
            <a:ext cx="10706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rPr>
              <a:t>输入：工具定义    输出：可调度工具</a:t>
            </a:r>
          </a:p>
        </p:txBody>
      </p:sp>
      <p:sp>
        <p:nvSpPr>
          <p:cNvPr id="5" name="step-1">
            <a:extLst xmlns:a="http://schemas.openxmlformats.org/drawingml/2006/main">
              <a:ext uri="{FF2B5EF4-FFF2-40B4-BE49-F238E27FC236}">
                <a16:creationId xmlns:a16="http://schemas.microsoft.com/office/drawing/2014/main" id="{33CA74C2-A89E-43A4-8BF7-91DC6BEB9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19400"/>
            <a:ext cx="1093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2. 先提交执行意图</a:t>
            </a:r>
          </a:p>
        </p:txBody>
      </p:sp>
      <p:sp>
        <p:nvSpPr>
          <p:cNvPr id="6" name="data-1">
            <a:extLst xmlns:a="http://schemas.openxmlformats.org/drawingml/2006/main">
              <a:ext uri="{FF2B5EF4-FFF2-40B4-BE49-F238E27FC236}">
                <a16:creationId xmlns:a16="http://schemas.microsoft.com/office/drawing/2014/main" id="{EE84D681-23AF-4A90-ABA8-AE071DC1B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81350"/>
            <a:ext cx="10706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rPr>
              <a:t>输入：模型 toolCall    输出：工具任务与执行状态</a:t>
            </a:r>
          </a:p>
        </p:txBody>
      </p:sp>
      <p:sp>
        <p:nvSpPr>
          <p:cNvPr id="7" name="step-2">
            <a:extLst xmlns:a="http://schemas.openxmlformats.org/drawingml/2006/main">
              <a:ext uri="{FF2B5EF4-FFF2-40B4-BE49-F238E27FC236}">
                <a16:creationId xmlns:a16="http://schemas.microsoft.com/office/drawing/2014/main" id="{51CC2157-8436-4455-B450-A255EE6FC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90925"/>
            <a:ext cx="1093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3. 恢复中断任务</a:t>
            </a:r>
          </a:p>
        </p:txBody>
      </p:sp>
      <p:sp>
        <p:nvSpPr>
          <p:cNvPr id="8" name="data-2">
            <a:extLst xmlns:a="http://schemas.openxmlformats.org/drawingml/2006/main">
              <a:ext uri="{FF2B5EF4-FFF2-40B4-BE49-F238E27FC236}">
                <a16:creationId xmlns:a16="http://schemas.microsoft.com/office/drawing/2014/main" id="{6082611E-13B6-4BAC-BD36-1CF6EBBCF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952875"/>
            <a:ext cx="10706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rPr>
              <a:t>输入：未完成检查点    输出：重跑、失败或人工处理分支</a:t>
            </a:r>
          </a:p>
        </p:txBody>
      </p:sp>
      <p:sp>
        <p:nvSpPr>
          <p:cNvPr id="9" name="step-3">
            <a:extLst xmlns:a="http://schemas.openxmlformats.org/drawingml/2006/main">
              <a:ext uri="{FF2B5EF4-FFF2-40B4-BE49-F238E27FC236}">
                <a16:creationId xmlns:a16="http://schemas.microsoft.com/office/drawing/2014/main" id="{303DF78B-97F1-473F-AFC7-28431651C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62450"/>
            <a:ext cx="1093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4. 验证真实副作用</a:t>
            </a:r>
          </a:p>
        </p:txBody>
      </p:sp>
      <p:sp>
        <p:nvSpPr>
          <p:cNvPr id="10" name="data-3">
            <a:extLst xmlns:a="http://schemas.openxmlformats.org/drawingml/2006/main">
              <a:ext uri="{FF2B5EF4-FFF2-40B4-BE49-F238E27FC236}">
                <a16:creationId xmlns:a16="http://schemas.microsoft.com/office/drawing/2014/main" id="{82D968A5-B465-46E3-B84F-0717C7C0F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24400"/>
            <a:ext cx="10706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rPr>
              <a:t>输入：执行环境和持久记录    输出：可解释的恢复结果</a:t>
            </a:r>
          </a:p>
        </p:txBody>
      </p:sp>
      <p:sp>
        <p:nvSpPr>
          <p:cNvPr id="11" name="footer">
            <a:extLst xmlns:a="http://schemas.openxmlformats.org/drawingml/2006/main">
              <a:ext uri="{FF2B5EF4-FFF2-40B4-BE49-F238E27FC236}">
                <a16:creationId xmlns:a16="http://schemas.microsoft.com/office/drawing/2014/main" id="{3E3E45C3-65FF-4028-B639-7CD1745AF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109347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rPr>
              <a:t>Pi 源码精通路线   /   durable-tool-recovery   /   8      完整步骤、参考答案与源码路径见讲者备注及离线导览</a:t>
            </a:r>
          </a:p>
        </p:txBody>
      </p:sp>
    </p:spTree>
    <p:extLst>
      <p:ext uri="{BB962C8B-B14F-4D97-AF65-F5344CB8AC3E}">
        <p14:creationId xmlns:p14="http://schemas.microsoft.com/office/powerpoint/2010/main" val="173802367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eyebrow">
            <a:extLst xmlns:a="http://schemas.openxmlformats.org/drawingml/2006/main">
              <a:ext uri="{FF2B5EF4-FFF2-40B4-BE49-F238E27FC236}">
                <a16:creationId xmlns:a16="http://schemas.microsoft.com/office/drawing/2014/main" id="{07A693A7-BBDD-40C3-9EC4-8E396B5AB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1093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06 持久化与跨进程   /   失败分支与练习验证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A7DAF22E-5CB8-420D-A544-75E2DEE34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6775"/>
            <a:ext cx="109347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工具意图、检查点与崩溃恢复</a:t>
            </a:r>
          </a:p>
        </p:txBody>
      </p:sp>
      <p:sp>
        <p:nvSpPr>
          <p:cNvPr id="3" name="failure-label">
            <a:extLst xmlns:a="http://schemas.openxmlformats.org/drawingml/2006/main">
              <a:ext uri="{FF2B5EF4-FFF2-40B4-BE49-F238E27FC236}">
                <a16:creationId xmlns:a16="http://schemas.microsoft.com/office/drawing/2014/main" id="{668D790E-4DCF-4FA1-8CC5-F0361BFBF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9775"/>
            <a:ext cx="10934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失败与恢复边界</a:t>
            </a:r>
          </a:p>
        </p:txBody>
      </p:sp>
      <p:sp>
        <p:nvSpPr>
          <p:cNvPr id="4" name="failure">
            <a:extLst xmlns:a="http://schemas.openxmlformats.org/drawingml/2006/main">
              <a:ext uri="{FF2B5EF4-FFF2-40B4-BE49-F238E27FC236}">
                <a16:creationId xmlns:a16="http://schemas.microsoft.com/office/drawing/2014/main" id="{F28E1A29-E2FC-46AF-82CD-E4079FF8C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43175"/>
            <a:ext cx="109347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只有声明 replay: safe 的中断工具可走自动重放路径；该声明本身不能让非幂等操作变安全。</a:t>
            </a:r>
          </a:p>
        </p:txBody>
      </p:sp>
      <p:sp>
        <p:nvSpPr>
          <p:cNvPr id="5" name="exercise-label">
            <a:extLst xmlns:a="http://schemas.openxmlformats.org/drawingml/2006/main">
              <a:ext uri="{FF2B5EF4-FFF2-40B4-BE49-F238E27FC236}">
                <a16:creationId xmlns:a16="http://schemas.microsoft.com/office/drawing/2014/main" id="{EE8D07A9-4C35-4003-91D9-AF0B8A784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86225"/>
            <a:ext cx="10934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动手练习</a:t>
            </a:r>
          </a:p>
        </p:txBody>
      </p:sp>
      <p:sp>
        <p:nvSpPr>
          <p:cNvPr id="6" name="exercise">
            <a:extLst xmlns:a="http://schemas.openxmlformats.org/drawingml/2006/main">
              <a:ext uri="{FF2B5EF4-FFF2-40B4-BE49-F238E27FC236}">
                <a16:creationId xmlns:a16="http://schemas.microsoft.com/office/drawing/2014/main" id="{759FD627-A032-48F4-9A59-3DE24847D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19625"/>
            <a:ext cx="109347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设计一个计数器工具，分别在意图前、执行后和结果后模拟退出，写出允许的计数结果。</a:t>
            </a:r>
          </a:p>
        </p:txBody>
      </p:sp>
      <p:sp>
        <p:nvSpPr>
          <p:cNvPr id="7" name="footer">
            <a:extLst xmlns:a="http://schemas.openxmlformats.org/drawingml/2006/main">
              <a:ext uri="{FF2B5EF4-FFF2-40B4-BE49-F238E27FC236}">
                <a16:creationId xmlns:a16="http://schemas.microsoft.com/office/drawing/2014/main" id="{5C934D7A-DC6E-4396-9E86-37DA5B0AC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109347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rPr>
              <a:t>Pi 源码精通路线   /   durable-tool-recovery   /   9      完整步骤、参考答案与源码路径见讲者备注及离线导览</a:t>
            </a:r>
          </a:p>
        </p:txBody>
      </p:sp>
    </p:spTree>
    <p:extLst>
      <p:ext uri="{BB962C8B-B14F-4D97-AF65-F5344CB8AC3E}">
        <p14:creationId xmlns:p14="http://schemas.microsoft.com/office/powerpoint/2010/main" val="74269795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eyebrow">
            <a:extLst xmlns:a="http://schemas.openxmlformats.org/drawingml/2006/main">
              <a:ext uri="{FF2B5EF4-FFF2-40B4-BE49-F238E27FC236}">
                <a16:creationId xmlns:a16="http://schemas.microsoft.com/office/drawing/2014/main" id="{F7A43318-71F1-4C12-BE27-C6D8CB4BF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1093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06 持久化与跨进程   /   场景与职责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E2092F86-7BCD-4181-8E7D-27058D149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6775"/>
            <a:ext cx="109347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JSONL、SQLite、事务与一致性验证</a:t>
            </a:r>
          </a:p>
        </p:txBody>
      </p:sp>
      <p:sp>
        <p:nvSpPr>
          <p:cNvPr id="3" name="scenario">
            <a:extLst xmlns:a="http://schemas.openxmlformats.org/drawingml/2006/main">
              <a:ext uri="{FF2B5EF4-FFF2-40B4-BE49-F238E27FC236}">
                <a16:creationId xmlns:a16="http://schemas.microsoft.com/office/drawing/2014/main" id="{922A14DA-75EA-4587-9339-CDBF33D53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109347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rPr>
              <a:t>把内存教程改成真正可关闭后重开的应用。</a:t>
            </a:r>
          </a:p>
        </p:txBody>
      </p:sp>
      <p:sp>
        <p:nvSpPr>
          <p:cNvPr id="4" name="section">
            <a:extLst xmlns:a="http://schemas.openxmlformats.org/drawingml/2006/main">
              <a:ext uri="{FF2B5EF4-FFF2-40B4-BE49-F238E27FC236}">
                <a16:creationId xmlns:a16="http://schemas.microsoft.com/office/drawing/2014/main" id="{9F7607D9-2556-4D96-9C1E-32662E2A8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14650"/>
            <a:ext cx="10934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各层负责什么</a:t>
            </a:r>
          </a:p>
        </p:txBody>
      </p:sp>
      <p:sp>
        <p:nvSpPr>
          <p:cNvPr id="5" name="responsibility-0">
            <a:extLst xmlns:a="http://schemas.openxmlformats.org/drawingml/2006/main">
              <a:ext uri="{FF2B5EF4-FFF2-40B4-BE49-F238E27FC236}">
                <a16:creationId xmlns:a16="http://schemas.microsoft.com/office/drawing/2014/main" id="{CC6D31AE-B7C2-4B92-A8F8-EB9A41628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38525"/>
            <a:ext cx="10934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1. 存储一致性用例与基准</a:t>
            </a:r>
          </a:p>
        </p:txBody>
      </p:sp>
      <p:sp>
        <p:nvSpPr>
          <p:cNvPr id="6" name="responsibility-1">
            <a:extLst xmlns:a="http://schemas.openxmlformats.org/drawingml/2006/main">
              <a:ext uri="{FF2B5EF4-FFF2-40B4-BE49-F238E27FC236}">
                <a16:creationId xmlns:a16="http://schemas.microsoft.com/office/drawing/2014/main" id="{BB447931-AB25-4114-91A1-FA8FA4CB0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95725"/>
            <a:ext cx="10934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2. JSONL 存储与 Node 文件适配</a:t>
            </a:r>
          </a:p>
        </p:txBody>
      </p:sp>
      <p:sp>
        <p:nvSpPr>
          <p:cNvPr id="7" name="responsibility-2">
            <a:extLst xmlns:a="http://schemas.openxmlformats.org/drawingml/2006/main">
              <a:ext uri="{FF2B5EF4-FFF2-40B4-BE49-F238E27FC236}">
                <a16:creationId xmlns:a16="http://schemas.microsoft.com/office/drawing/2014/main" id="{C67CA293-636D-416C-84FF-C827CF709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52925"/>
            <a:ext cx="10934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3. SQLite 存储、迁移与 Node 适配</a:t>
            </a:r>
          </a:p>
        </p:txBody>
      </p:sp>
      <p:sp>
        <p:nvSpPr>
          <p:cNvPr id="8" name="footer">
            <a:extLst xmlns:a="http://schemas.openxmlformats.org/drawingml/2006/main">
              <a:ext uri="{FF2B5EF4-FFF2-40B4-BE49-F238E27FC236}">
                <a16:creationId xmlns:a16="http://schemas.microsoft.com/office/drawing/2014/main" id="{4DAF8B83-BCC2-43C9-A738-BD17E69F1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109347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rPr>
              <a:t>Pi 源码精通路线   /   durable-storage   /   10      完整步骤、参考答案与源码路径见讲者备注及离线导览</a:t>
            </a:r>
          </a:p>
        </p:txBody>
      </p:sp>
    </p:spTree>
    <p:extLst>
      <p:ext uri="{BB962C8B-B14F-4D97-AF65-F5344CB8AC3E}">
        <p14:creationId xmlns:p14="http://schemas.microsoft.com/office/powerpoint/2010/main" val="72678649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eyebrow">
            <a:extLst xmlns:a="http://schemas.openxmlformats.org/drawingml/2006/main">
              <a:ext uri="{FF2B5EF4-FFF2-40B4-BE49-F238E27FC236}">
                <a16:creationId xmlns:a16="http://schemas.microsoft.com/office/drawing/2014/main" id="{7305828B-61C8-4A39-8FDF-C6B5FE04A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1093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06 持久化与跨进程   /   执行顺序与数据变化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AA3FC671-8005-4F88-9FCB-E73F59A05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6775"/>
            <a:ext cx="109347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JSONL、SQLite、事务与一致性验证</a:t>
            </a:r>
          </a:p>
        </p:txBody>
      </p:sp>
      <p:sp>
        <p:nvSpPr>
          <p:cNvPr id="3" name="step-0">
            <a:extLst xmlns:a="http://schemas.openxmlformats.org/drawingml/2006/main">
              <a:ext uri="{FF2B5EF4-FFF2-40B4-BE49-F238E27FC236}">
                <a16:creationId xmlns:a16="http://schemas.microsoft.com/office/drawing/2014/main" id="{932E5609-E2BE-426F-BB85-07F1D90E8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47875"/>
            <a:ext cx="1093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1. 明确 Storage 契约</a:t>
            </a:r>
          </a:p>
        </p:txBody>
      </p:sp>
      <p:sp>
        <p:nvSpPr>
          <p:cNvPr id="4" name="data-0">
            <a:extLst xmlns:a="http://schemas.openxmlformats.org/drawingml/2006/main">
              <a:ext uri="{FF2B5EF4-FFF2-40B4-BE49-F238E27FC236}">
                <a16:creationId xmlns:a16="http://schemas.microsoft.com/office/drawing/2014/main" id="{CD3C61F6-0812-4C81-8DB5-836D420E0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09825"/>
            <a:ext cx="10706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rPr>
              <a:t>输入：存储使用场景    输出：必须满足的契约</a:t>
            </a:r>
          </a:p>
        </p:txBody>
      </p:sp>
      <p:sp>
        <p:nvSpPr>
          <p:cNvPr id="5" name="step-1">
            <a:extLst xmlns:a="http://schemas.openxmlformats.org/drawingml/2006/main">
              <a:ext uri="{FF2B5EF4-FFF2-40B4-BE49-F238E27FC236}">
                <a16:creationId xmlns:a16="http://schemas.microsoft.com/office/drawing/2014/main" id="{BDC0DEAB-0A29-405E-9BC6-6D30615E3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19400"/>
            <a:ext cx="1093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2. 跟踪 JSONL 提交</a:t>
            </a:r>
          </a:p>
        </p:txBody>
      </p:sp>
      <p:sp>
        <p:nvSpPr>
          <p:cNvPr id="6" name="data-1">
            <a:extLst xmlns:a="http://schemas.openxmlformats.org/drawingml/2006/main">
              <a:ext uri="{FF2B5EF4-FFF2-40B4-BE49-F238E27FC236}">
                <a16:creationId xmlns:a16="http://schemas.microsoft.com/office/drawing/2014/main" id="{76448875-8BEF-41AA-B318-6853EB810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81350"/>
            <a:ext cx="10706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rPr>
              <a:t>输入：持久提交    输出：文件记录</a:t>
            </a:r>
          </a:p>
        </p:txBody>
      </p:sp>
      <p:sp>
        <p:nvSpPr>
          <p:cNvPr id="7" name="step-2">
            <a:extLst xmlns:a="http://schemas.openxmlformats.org/drawingml/2006/main">
              <a:ext uri="{FF2B5EF4-FFF2-40B4-BE49-F238E27FC236}">
                <a16:creationId xmlns:a16="http://schemas.microsoft.com/office/drawing/2014/main" id="{29A46D69-7061-4DD2-A7F9-4EC84BDDB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90925"/>
            <a:ext cx="1093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3. 跟踪 SQLite 事务</a:t>
            </a:r>
          </a:p>
        </p:txBody>
      </p:sp>
      <p:sp>
        <p:nvSpPr>
          <p:cNvPr id="8" name="data-2">
            <a:extLst xmlns:a="http://schemas.openxmlformats.org/drawingml/2006/main">
              <a:ext uri="{FF2B5EF4-FFF2-40B4-BE49-F238E27FC236}">
                <a16:creationId xmlns:a16="http://schemas.microsoft.com/office/drawing/2014/main" id="{832861BF-1501-4766-B7AA-4B7DEA1A0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952875"/>
            <a:ext cx="10706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rPr>
              <a:t>输入：数据库与 schema 版本    输出：原子提交或回滚</a:t>
            </a:r>
          </a:p>
        </p:txBody>
      </p:sp>
      <p:sp>
        <p:nvSpPr>
          <p:cNvPr id="9" name="step-3">
            <a:extLst xmlns:a="http://schemas.openxmlformats.org/drawingml/2006/main">
              <a:ext uri="{FF2B5EF4-FFF2-40B4-BE49-F238E27FC236}">
                <a16:creationId xmlns:a16="http://schemas.microsoft.com/office/drawing/2014/main" id="{B512359B-14EE-475D-A77B-7E8B33908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62450"/>
            <a:ext cx="1093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4. 关闭后重开验证</a:t>
            </a:r>
          </a:p>
        </p:txBody>
      </p:sp>
      <p:sp>
        <p:nvSpPr>
          <p:cNvPr id="10" name="data-3">
            <a:extLst xmlns:a="http://schemas.openxmlformats.org/drawingml/2006/main">
              <a:ext uri="{FF2B5EF4-FFF2-40B4-BE49-F238E27FC236}">
                <a16:creationId xmlns:a16="http://schemas.microsoft.com/office/drawing/2014/main" id="{CF77A833-06D0-498E-A74B-E169833FD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24400"/>
            <a:ext cx="10706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rPr>
              <a:t>输入：已关闭存储    输出：相同的已提交状态</a:t>
            </a:r>
          </a:p>
        </p:txBody>
      </p:sp>
      <p:sp>
        <p:nvSpPr>
          <p:cNvPr id="11" name="footer">
            <a:extLst xmlns:a="http://schemas.openxmlformats.org/drawingml/2006/main">
              <a:ext uri="{FF2B5EF4-FFF2-40B4-BE49-F238E27FC236}">
                <a16:creationId xmlns:a16="http://schemas.microsoft.com/office/drawing/2014/main" id="{58CC175E-F483-4523-9A40-02A7F6035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109347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rPr>
              <a:t>Pi 源码精通路线   /   durable-storage   /   11      完整步骤、参考答案与源码路径见讲者备注及离线导览</a:t>
            </a:r>
          </a:p>
        </p:txBody>
      </p:sp>
    </p:spTree>
    <p:extLst>
      <p:ext uri="{BB962C8B-B14F-4D97-AF65-F5344CB8AC3E}">
        <p14:creationId xmlns:p14="http://schemas.microsoft.com/office/powerpoint/2010/main" val="195351728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eyebrow">
            <a:extLst xmlns:a="http://schemas.openxmlformats.org/drawingml/2006/main">
              <a:ext uri="{FF2B5EF4-FFF2-40B4-BE49-F238E27FC236}">
                <a16:creationId xmlns:a16="http://schemas.microsoft.com/office/drawing/2014/main" id="{40FA9B03-A4ED-42B5-9302-3626C9555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1093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06 持久化与跨进程   /   失败分支与练习验证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AED2D04C-E9F0-4183-97C6-62E2B5307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6775"/>
            <a:ext cx="109347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JSONL、SQLite、事务与一致性验证</a:t>
            </a:r>
          </a:p>
        </p:txBody>
      </p:sp>
      <p:sp>
        <p:nvSpPr>
          <p:cNvPr id="3" name="failure-label">
            <a:extLst xmlns:a="http://schemas.openxmlformats.org/drawingml/2006/main">
              <a:ext uri="{FF2B5EF4-FFF2-40B4-BE49-F238E27FC236}">
                <a16:creationId xmlns:a16="http://schemas.microsoft.com/office/drawing/2014/main" id="{15981120-6B5B-4C57-BE59-2B5AE1E13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9775"/>
            <a:ext cx="10934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失败与恢复边界</a:t>
            </a:r>
          </a:p>
        </p:txBody>
      </p:sp>
      <p:sp>
        <p:nvSpPr>
          <p:cNvPr id="4" name="failure">
            <a:extLst xmlns:a="http://schemas.openxmlformats.org/drawingml/2006/main">
              <a:ext uri="{FF2B5EF4-FFF2-40B4-BE49-F238E27FC236}">
                <a16:creationId xmlns:a16="http://schemas.microsoft.com/office/drawing/2014/main" id="{00452A00-2EA1-4DAE-89AE-AC3BCA82F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43175"/>
            <a:ext cx="109347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多写入者、未完成迁移或错误事务句柄会破坏假设；必须按后端规定配置所有权。</a:t>
            </a:r>
          </a:p>
        </p:txBody>
      </p:sp>
      <p:sp>
        <p:nvSpPr>
          <p:cNvPr id="5" name="exercise-label">
            <a:extLst xmlns:a="http://schemas.openxmlformats.org/drawingml/2006/main">
              <a:ext uri="{FF2B5EF4-FFF2-40B4-BE49-F238E27FC236}">
                <a16:creationId xmlns:a16="http://schemas.microsoft.com/office/drawing/2014/main" id="{89DA3A09-D277-460A-AA12-7C314EE1B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86225"/>
            <a:ext cx="10934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动手练习</a:t>
            </a:r>
          </a:p>
        </p:txBody>
      </p:sp>
      <p:sp>
        <p:nvSpPr>
          <p:cNvPr id="6" name="exercise">
            <a:extLst xmlns:a="http://schemas.openxmlformats.org/drawingml/2006/main">
              <a:ext uri="{FF2B5EF4-FFF2-40B4-BE49-F238E27FC236}">
                <a16:creationId xmlns:a16="http://schemas.microsoft.com/office/drawing/2014/main" id="{C84E4502-0D7D-474F-A4F9-409D6195C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19625"/>
            <a:ext cx="109347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对照内存和一个磁盘后端，写出重开后应保持的记录、版本与任务状态。</a:t>
            </a:r>
          </a:p>
        </p:txBody>
      </p:sp>
      <p:sp>
        <p:nvSpPr>
          <p:cNvPr id="7" name="footer">
            <a:extLst xmlns:a="http://schemas.openxmlformats.org/drawingml/2006/main">
              <a:ext uri="{FF2B5EF4-FFF2-40B4-BE49-F238E27FC236}">
                <a16:creationId xmlns:a16="http://schemas.microsoft.com/office/drawing/2014/main" id="{FC1949F5-C486-4491-B3B9-3872B005F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109347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rPr>
              <a:t>Pi 源码精通路线   /   durable-storage   /   12      完整步骤、参考答案与源码路径见讲者备注及离线导览</a:t>
            </a:r>
          </a:p>
        </p:txBody>
      </p:sp>
    </p:spTree>
    <p:extLst>
      <p:ext uri="{BB962C8B-B14F-4D97-AF65-F5344CB8AC3E}">
        <p14:creationId xmlns:p14="http://schemas.microsoft.com/office/powerpoint/2010/main" val="434039181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eyebrow">
            <a:extLst xmlns:a="http://schemas.openxmlformats.org/drawingml/2006/main">
              <a:ext uri="{FF2B5EF4-FFF2-40B4-BE49-F238E27FC236}">
                <a16:creationId xmlns:a16="http://schemas.microsoft.com/office/drawing/2014/main" id="{75C6FB8D-1B15-4C8A-A149-6AB8B9735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1093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06 持久化与跨进程   /   场景与职责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D8E43E43-8F2C-4338-AECC-E9C240799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6775"/>
            <a:ext cx="109347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子会话、子任务与任务图</a:t>
            </a:r>
          </a:p>
        </p:txBody>
      </p:sp>
      <p:sp>
        <p:nvSpPr>
          <p:cNvPr id="3" name="scenario">
            <a:extLst xmlns:a="http://schemas.openxmlformats.org/drawingml/2006/main">
              <a:ext uri="{FF2B5EF4-FFF2-40B4-BE49-F238E27FC236}">
                <a16:creationId xmlns:a16="http://schemas.microsoft.com/office/drawing/2014/main" id="{C1C6F0B9-6D75-488C-84B7-BD4CD662B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109347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rPr>
              <a:t>主任务分出审查或检索子任务，并在重启后继续观察它们。</a:t>
            </a:r>
          </a:p>
        </p:txBody>
      </p:sp>
      <p:sp>
        <p:nvSpPr>
          <p:cNvPr id="4" name="section">
            <a:extLst xmlns:a="http://schemas.openxmlformats.org/drawingml/2006/main">
              <a:ext uri="{FF2B5EF4-FFF2-40B4-BE49-F238E27FC236}">
                <a16:creationId xmlns:a16="http://schemas.microsoft.com/office/drawing/2014/main" id="{B70F0DFE-6C0F-40E0-9E96-7AC67F9D2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14650"/>
            <a:ext cx="10934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各层负责什么</a:t>
            </a:r>
          </a:p>
        </p:txBody>
      </p:sp>
      <p:sp>
        <p:nvSpPr>
          <p:cNvPr id="5" name="responsibility-0">
            <a:extLst xmlns:a="http://schemas.openxmlformats.org/drawingml/2006/main">
              <a:ext uri="{FF2B5EF4-FFF2-40B4-BE49-F238E27FC236}">
                <a16:creationId xmlns:a16="http://schemas.microsoft.com/office/drawing/2014/main" id="{918AAF9C-BFB7-4EB0-91E2-AAECAFB35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38525"/>
            <a:ext cx="10934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1. 持久子会话、背景任务与取消传播</a:t>
            </a:r>
          </a:p>
        </p:txBody>
      </p:sp>
      <p:sp>
        <p:nvSpPr>
          <p:cNvPr id="6" name="responsibility-1">
            <a:extLst xmlns:a="http://schemas.openxmlformats.org/drawingml/2006/main">
              <a:ext uri="{FF2B5EF4-FFF2-40B4-BE49-F238E27FC236}">
                <a16:creationId xmlns:a16="http://schemas.microsoft.com/office/drawing/2014/main" id="{FC9AB142-1BCA-4AB3-A956-6F4E62BF5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95725"/>
            <a:ext cx="10934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2. 任务所有权、子任务等待与实时任务图</a:t>
            </a:r>
          </a:p>
        </p:txBody>
      </p:sp>
      <p:sp>
        <p:nvSpPr>
          <p:cNvPr id="7" name="responsibility-2">
            <a:extLst xmlns:a="http://schemas.openxmlformats.org/drawingml/2006/main">
              <a:ext uri="{FF2B5EF4-FFF2-40B4-BE49-F238E27FC236}">
                <a16:creationId xmlns:a16="http://schemas.microsoft.com/office/drawing/2014/main" id="{CCB24CB2-896D-4652-BE7C-56EA0D4E8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52925"/>
            <a:ext cx="10934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3. 提交后结构视图、Watch 与背压</a:t>
            </a:r>
          </a:p>
        </p:txBody>
      </p:sp>
      <p:sp>
        <p:nvSpPr>
          <p:cNvPr id="8" name="responsibility-3">
            <a:extLst xmlns:a="http://schemas.openxmlformats.org/drawingml/2006/main">
              <a:ext uri="{FF2B5EF4-FFF2-40B4-BE49-F238E27FC236}">
                <a16:creationId xmlns:a16="http://schemas.microsoft.com/office/drawing/2014/main" id="{F5F5FD42-0BB3-463D-8D6E-DA42353CB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34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4. 按模型、工具与会话累计用量</a:t>
            </a:r>
          </a:p>
        </p:txBody>
      </p:sp>
      <p:sp>
        <p:nvSpPr>
          <p:cNvPr id="9" name="footer">
            <a:extLst xmlns:a="http://schemas.openxmlformats.org/drawingml/2006/main">
              <a:ext uri="{FF2B5EF4-FFF2-40B4-BE49-F238E27FC236}">
                <a16:creationId xmlns:a16="http://schemas.microsoft.com/office/drawing/2014/main" id="{0D51C19C-7C20-4905-9E4F-8AC996566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109347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rPr>
              <a:t>Pi 源码精通路线   /   durable-subagents   /   13      完整步骤、参考答案与源码路径见讲者备注及离线导览</a:t>
            </a:r>
          </a:p>
        </p:txBody>
      </p:sp>
    </p:spTree>
    <p:extLst>
      <p:ext uri="{BB962C8B-B14F-4D97-AF65-F5344CB8AC3E}">
        <p14:creationId xmlns:p14="http://schemas.microsoft.com/office/powerpoint/2010/main" val="1535888491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eyebrow">
            <a:extLst xmlns:a="http://schemas.openxmlformats.org/drawingml/2006/main">
              <a:ext uri="{FF2B5EF4-FFF2-40B4-BE49-F238E27FC236}">
                <a16:creationId xmlns:a16="http://schemas.microsoft.com/office/drawing/2014/main" id="{88C5AF8E-9BCA-442C-A1F1-FA67AEBF0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1093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06 持久化与跨进程   /   执行顺序与数据变化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D22DAE73-A22D-4D9D-AABC-FE1B106F7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6775"/>
            <a:ext cx="109347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子会话、子任务与任务图</a:t>
            </a:r>
          </a:p>
        </p:txBody>
      </p:sp>
      <p:sp>
        <p:nvSpPr>
          <p:cNvPr id="3" name="step-0">
            <a:extLst xmlns:a="http://schemas.openxmlformats.org/drawingml/2006/main">
              <a:ext uri="{FF2B5EF4-FFF2-40B4-BE49-F238E27FC236}">
                <a16:creationId xmlns:a16="http://schemas.microsoft.com/office/drawing/2014/main" id="{3CBEDF89-2D09-42ED-BFEA-B9A4ABD16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47875"/>
            <a:ext cx="1093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1. 确定会话所有权</a:t>
            </a:r>
          </a:p>
        </p:txBody>
      </p:sp>
      <p:sp>
        <p:nvSpPr>
          <p:cNvPr id="4" name="data-0">
            <a:extLst xmlns:a="http://schemas.openxmlformats.org/drawingml/2006/main">
              <a:ext uri="{FF2B5EF4-FFF2-40B4-BE49-F238E27FC236}">
                <a16:creationId xmlns:a16="http://schemas.microsoft.com/office/drawing/2014/main" id="{B87BA1CA-9D8D-4CEF-AA14-61C8D0123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09825"/>
            <a:ext cx="10706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rPr>
              <a:t>输入：父任务与子输入    输出：子会话和归属关系</a:t>
            </a:r>
          </a:p>
        </p:txBody>
      </p:sp>
      <p:sp>
        <p:nvSpPr>
          <p:cNvPr id="5" name="step-1">
            <a:extLst xmlns:a="http://schemas.openxmlformats.org/drawingml/2006/main">
              <a:ext uri="{FF2B5EF4-FFF2-40B4-BE49-F238E27FC236}">
                <a16:creationId xmlns:a16="http://schemas.microsoft.com/office/drawing/2014/main" id="{B400C19C-9241-4310-AAED-67213360D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19400"/>
            <a:ext cx="1093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2. 建立子任务</a:t>
            </a:r>
          </a:p>
        </p:txBody>
      </p:sp>
      <p:sp>
        <p:nvSpPr>
          <p:cNvPr id="6" name="data-1">
            <a:extLst xmlns:a="http://schemas.openxmlformats.org/drawingml/2006/main">
              <a:ext uri="{FF2B5EF4-FFF2-40B4-BE49-F238E27FC236}">
                <a16:creationId xmlns:a16="http://schemas.microsoft.com/office/drawing/2014/main" id="{3FC66B3A-9E71-4750-ABA4-F701F54C3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81350"/>
            <a:ext cx="10706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rPr>
              <a:t>输入：持久任务检查点    输出：父子任务图</a:t>
            </a:r>
          </a:p>
        </p:txBody>
      </p:sp>
      <p:sp>
        <p:nvSpPr>
          <p:cNvPr id="7" name="step-2">
            <a:extLst xmlns:a="http://schemas.openxmlformats.org/drawingml/2006/main">
              <a:ext uri="{FF2B5EF4-FFF2-40B4-BE49-F238E27FC236}">
                <a16:creationId xmlns:a16="http://schemas.microsoft.com/office/drawing/2014/main" id="{8C458A05-CCBF-4A46-B23B-5BC6AE169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90925"/>
            <a:ext cx="1093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3. 重开并继续观察</a:t>
            </a:r>
          </a:p>
        </p:txBody>
      </p:sp>
      <p:sp>
        <p:nvSpPr>
          <p:cNvPr id="8" name="data-2">
            <a:extLst xmlns:a="http://schemas.openxmlformats.org/drawingml/2006/main">
              <a:ext uri="{FF2B5EF4-FFF2-40B4-BE49-F238E27FC236}">
                <a16:creationId xmlns:a16="http://schemas.microsoft.com/office/drawing/2014/main" id="{1437B9E9-A8CC-49C9-A42F-7E3E3C815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952875"/>
            <a:ext cx="10706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rPr>
              <a:t>输入：恢复后的存储    输出：当前任务与会话视图</a:t>
            </a:r>
          </a:p>
        </p:txBody>
      </p:sp>
      <p:sp>
        <p:nvSpPr>
          <p:cNvPr id="9" name="step-3">
            <a:extLst xmlns:a="http://schemas.openxmlformats.org/drawingml/2006/main">
              <a:ext uri="{FF2B5EF4-FFF2-40B4-BE49-F238E27FC236}">
                <a16:creationId xmlns:a16="http://schemas.microsoft.com/office/drawing/2014/main" id="{A84626DA-ED87-4F1F-BC64-AF1B6BD71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62450"/>
            <a:ext cx="1093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4. 汇总结果与用量</a:t>
            </a:r>
          </a:p>
        </p:txBody>
      </p:sp>
      <p:sp>
        <p:nvSpPr>
          <p:cNvPr id="10" name="data-3">
            <a:extLst xmlns:a="http://schemas.openxmlformats.org/drawingml/2006/main">
              <a:ext uri="{FF2B5EF4-FFF2-40B4-BE49-F238E27FC236}">
                <a16:creationId xmlns:a16="http://schemas.microsoft.com/office/drawing/2014/main" id="{222FFF38-97B9-40A7-B95A-FE4698EF0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24400"/>
            <a:ext cx="10706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rPr>
              <a:t>输入：已提交的子任务结果    输出：父流程可消费的结果</a:t>
            </a:r>
          </a:p>
        </p:txBody>
      </p:sp>
      <p:sp>
        <p:nvSpPr>
          <p:cNvPr id="11" name="footer">
            <a:extLst xmlns:a="http://schemas.openxmlformats.org/drawingml/2006/main">
              <a:ext uri="{FF2B5EF4-FFF2-40B4-BE49-F238E27FC236}">
                <a16:creationId xmlns:a16="http://schemas.microsoft.com/office/drawing/2014/main" id="{6EFB3760-4DC0-480A-BB70-67543099B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109347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rPr>
              <a:t>Pi 源码精通路线   /   durable-subagents   /   14      完整步骤、参考答案与源码路径见讲者备注及离线导览</a:t>
            </a:r>
          </a:p>
        </p:txBody>
      </p:sp>
    </p:spTree>
    <p:extLst>
      <p:ext uri="{BB962C8B-B14F-4D97-AF65-F5344CB8AC3E}">
        <p14:creationId xmlns:p14="http://schemas.microsoft.com/office/powerpoint/2010/main" val="675077844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eyebrow">
            <a:extLst xmlns:a="http://schemas.openxmlformats.org/drawingml/2006/main">
              <a:ext uri="{FF2B5EF4-FFF2-40B4-BE49-F238E27FC236}">
                <a16:creationId xmlns:a16="http://schemas.microsoft.com/office/drawing/2014/main" id="{6401A403-962A-4DC8-B296-EB3657CE6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1093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06 持久化与跨进程   /   失败分支与练习验证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02A0A559-BE76-4C6B-9059-79B83558B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6775"/>
            <a:ext cx="109347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子会话、子任务与任务图</a:t>
            </a:r>
          </a:p>
        </p:txBody>
      </p:sp>
      <p:sp>
        <p:nvSpPr>
          <p:cNvPr id="3" name="failure-label">
            <a:extLst xmlns:a="http://schemas.openxmlformats.org/drawingml/2006/main">
              <a:ext uri="{FF2B5EF4-FFF2-40B4-BE49-F238E27FC236}">
                <a16:creationId xmlns:a16="http://schemas.microsoft.com/office/drawing/2014/main" id="{C2E3A513-B5B5-498F-AFF4-62848B479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9775"/>
            <a:ext cx="10934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失败与恢复边界</a:t>
            </a:r>
          </a:p>
        </p:txBody>
      </p:sp>
      <p:sp>
        <p:nvSpPr>
          <p:cNvPr id="4" name="failure">
            <a:extLst xmlns:a="http://schemas.openxmlformats.org/drawingml/2006/main">
              <a:ext uri="{FF2B5EF4-FFF2-40B4-BE49-F238E27FC236}">
                <a16:creationId xmlns:a16="http://schemas.microsoft.com/office/drawing/2014/main" id="{58D883EC-86CC-42E9-8C49-103DEF170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43175"/>
            <a:ext cx="109347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父等待取消与子任务取消有不同语义；重启后需要从持久状态恢复关系。</a:t>
            </a:r>
          </a:p>
        </p:txBody>
      </p:sp>
      <p:sp>
        <p:nvSpPr>
          <p:cNvPr id="5" name="exercise-label">
            <a:extLst xmlns:a="http://schemas.openxmlformats.org/drawingml/2006/main">
              <a:ext uri="{FF2B5EF4-FFF2-40B4-BE49-F238E27FC236}">
                <a16:creationId xmlns:a16="http://schemas.microsoft.com/office/drawing/2014/main" id="{A796D170-13AB-4300-A293-27353B7EC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86225"/>
            <a:ext cx="10934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动手练习</a:t>
            </a:r>
          </a:p>
        </p:txBody>
      </p:sp>
      <p:sp>
        <p:nvSpPr>
          <p:cNvPr id="6" name="exercise">
            <a:extLst xmlns:a="http://schemas.openxmlformats.org/drawingml/2006/main">
              <a:ext uri="{FF2B5EF4-FFF2-40B4-BE49-F238E27FC236}">
                <a16:creationId xmlns:a16="http://schemas.microsoft.com/office/drawing/2014/main" id="{A273CAA3-E4B8-4239-98C2-D05DC42ED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19625"/>
            <a:ext cx="109347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阅读 22、23、24 三个示例，比较前台、后台与普通子任务如何让父流程继续。</a:t>
            </a:r>
          </a:p>
        </p:txBody>
      </p:sp>
      <p:sp>
        <p:nvSpPr>
          <p:cNvPr id="7" name="footer">
            <a:extLst xmlns:a="http://schemas.openxmlformats.org/drawingml/2006/main">
              <a:ext uri="{FF2B5EF4-FFF2-40B4-BE49-F238E27FC236}">
                <a16:creationId xmlns:a16="http://schemas.microsoft.com/office/drawing/2014/main" id="{B1CA249D-3728-4DBD-AD7C-B96E3875B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109347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rPr>
              <a:t>Pi 源码精通路线   /   durable-subagents   /   15      完整步骤、参考答案与源码路径见讲者备注及离线导览</a:t>
            </a:r>
          </a:p>
        </p:txBody>
      </p:sp>
    </p:spTree>
    <p:extLst>
      <p:ext uri="{BB962C8B-B14F-4D97-AF65-F5344CB8AC3E}">
        <p14:creationId xmlns:p14="http://schemas.microsoft.com/office/powerpoint/2010/main" val="1705602347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eyebrow">
            <a:extLst xmlns:a="http://schemas.openxmlformats.org/drawingml/2006/main">
              <a:ext uri="{FF2B5EF4-FFF2-40B4-BE49-F238E27FC236}">
                <a16:creationId xmlns:a16="http://schemas.microsoft.com/office/drawing/2014/main" id="{FE703D13-63DA-40EC-8C88-F0577222F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1093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06 持久化与跨进程   /   场景与职责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28B7EFFC-C4B3-4F87-975C-75728D9E2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6775"/>
            <a:ext cx="109347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持久压缩、阻塞恢复与上下文观察</a:t>
            </a:r>
          </a:p>
        </p:txBody>
      </p:sp>
      <p:sp>
        <p:nvSpPr>
          <p:cNvPr id="3" name="scenario">
            <a:extLst xmlns:a="http://schemas.openxmlformats.org/drawingml/2006/main">
              <a:ext uri="{FF2B5EF4-FFF2-40B4-BE49-F238E27FC236}">
                <a16:creationId xmlns:a16="http://schemas.microsoft.com/office/drawing/2014/main" id="{29B25C15-15DA-46BC-A7DC-F7E8D0238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109347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rPr>
              <a:t>长时间运行的持久会话需要缩减上下文，并在重启后保持相同边界。</a:t>
            </a:r>
          </a:p>
        </p:txBody>
      </p:sp>
      <p:sp>
        <p:nvSpPr>
          <p:cNvPr id="4" name="section">
            <a:extLst xmlns:a="http://schemas.openxmlformats.org/drawingml/2006/main">
              <a:ext uri="{FF2B5EF4-FFF2-40B4-BE49-F238E27FC236}">
                <a16:creationId xmlns:a16="http://schemas.microsoft.com/office/drawing/2014/main" id="{9D08A4BE-C582-4893-9BF1-86AA5B9ED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14650"/>
            <a:ext cx="10934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各层负责什么</a:t>
            </a:r>
          </a:p>
        </p:txBody>
      </p:sp>
      <p:sp>
        <p:nvSpPr>
          <p:cNvPr id="5" name="responsibility-0">
            <a:extLst xmlns:a="http://schemas.openxmlformats.org/drawingml/2006/main">
              <a:ext uri="{FF2B5EF4-FFF2-40B4-BE49-F238E27FC236}">
                <a16:creationId xmlns:a16="http://schemas.microsoft.com/office/drawing/2014/main" id="{6849EEBA-1EC4-45CB-A4E7-B369B030A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38525"/>
            <a:ext cx="10934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1. 后台压缩、溢出恢复与陈旧摘要处理</a:t>
            </a:r>
          </a:p>
        </p:txBody>
      </p:sp>
      <p:sp>
        <p:nvSpPr>
          <p:cNvPr id="6" name="responsibility-1">
            <a:extLst xmlns:a="http://schemas.openxmlformats.org/drawingml/2006/main">
              <a:ext uri="{FF2B5EF4-FFF2-40B4-BE49-F238E27FC236}">
                <a16:creationId xmlns:a16="http://schemas.microsoft.com/office/drawing/2014/main" id="{7698F130-26B2-48AE-AB9C-EF1F13C91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95725"/>
            <a:ext cx="10934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2. 阻塞压缩失败与等待环检测</a:t>
            </a:r>
          </a:p>
        </p:txBody>
      </p:sp>
      <p:sp>
        <p:nvSpPr>
          <p:cNvPr id="7" name="responsibility-2">
            <a:extLst xmlns:a="http://schemas.openxmlformats.org/drawingml/2006/main">
              <a:ext uri="{FF2B5EF4-FFF2-40B4-BE49-F238E27FC236}">
                <a16:creationId xmlns:a16="http://schemas.microsoft.com/office/drawing/2014/main" id="{D87ECC4C-8D17-4851-877B-3DFCD4498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52925"/>
            <a:ext cx="10934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3. 提交后结构视图、Watch 与背压</a:t>
            </a:r>
          </a:p>
        </p:txBody>
      </p:sp>
      <p:sp>
        <p:nvSpPr>
          <p:cNvPr id="8" name="responsibility-3">
            <a:extLst xmlns:a="http://schemas.openxmlformats.org/drawingml/2006/main">
              <a:ext uri="{FF2B5EF4-FFF2-40B4-BE49-F238E27FC236}">
                <a16:creationId xmlns:a16="http://schemas.microsoft.com/office/drawing/2014/main" id="{7C751A15-135A-4D29-A91B-E2FB59864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34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4. 图像读取与可选 WASM 处理器</a:t>
            </a:r>
          </a:p>
        </p:txBody>
      </p:sp>
      <p:sp>
        <p:nvSpPr>
          <p:cNvPr id="9" name="footer">
            <a:extLst xmlns:a="http://schemas.openxmlformats.org/drawingml/2006/main">
              <a:ext uri="{FF2B5EF4-FFF2-40B4-BE49-F238E27FC236}">
                <a16:creationId xmlns:a16="http://schemas.microsoft.com/office/drawing/2014/main" id="{34C74EB6-EF64-4F51-A90D-B55A1A22D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109347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rPr>
              <a:t>Pi 源码精通路线   /   durable-context   /   16      完整步骤、参考答案与源码路径见讲者备注及离线导览</a:t>
            </a:r>
          </a:p>
        </p:txBody>
      </p:sp>
    </p:spTree>
    <p:extLst>
      <p:ext uri="{BB962C8B-B14F-4D97-AF65-F5344CB8AC3E}">
        <p14:creationId xmlns:p14="http://schemas.microsoft.com/office/powerpoint/2010/main" val="504401097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eyebrow">
            <a:extLst xmlns:a="http://schemas.openxmlformats.org/drawingml/2006/main">
              <a:ext uri="{FF2B5EF4-FFF2-40B4-BE49-F238E27FC236}">
                <a16:creationId xmlns:a16="http://schemas.microsoft.com/office/drawing/2014/main" id="{9971AB22-04B2-4D11-B833-E2A3FC5D9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1093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06 持久化与跨进程   /   执行顺序与数据变化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DEC5C114-DA1E-43CD-82A4-4AE7D18C0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6775"/>
            <a:ext cx="109347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持久压缩、阻塞恢复与上下文观察</a:t>
            </a:r>
          </a:p>
        </p:txBody>
      </p:sp>
      <p:sp>
        <p:nvSpPr>
          <p:cNvPr id="3" name="step-0">
            <a:extLst xmlns:a="http://schemas.openxmlformats.org/drawingml/2006/main">
              <a:ext uri="{FF2B5EF4-FFF2-40B4-BE49-F238E27FC236}">
                <a16:creationId xmlns:a16="http://schemas.microsoft.com/office/drawing/2014/main" id="{C8801176-EAC7-41D2-9893-6CC33BF56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47875"/>
            <a:ext cx="1093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1. 决定压缩任务</a:t>
            </a:r>
          </a:p>
        </p:txBody>
      </p:sp>
      <p:sp>
        <p:nvSpPr>
          <p:cNvPr id="4" name="data-0">
            <a:extLst xmlns:a="http://schemas.openxmlformats.org/drawingml/2006/main">
              <a:ext uri="{FF2B5EF4-FFF2-40B4-BE49-F238E27FC236}">
                <a16:creationId xmlns:a16="http://schemas.microsoft.com/office/drawing/2014/main" id="{D7309F58-6222-4B48-B6A5-0B21C6273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09825"/>
            <a:ext cx="10706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rPr>
              <a:t>输入：长会话与限制    输出：压缩计划</a:t>
            </a:r>
          </a:p>
        </p:txBody>
      </p:sp>
      <p:sp>
        <p:nvSpPr>
          <p:cNvPr id="5" name="step-1">
            <a:extLst xmlns:a="http://schemas.openxmlformats.org/drawingml/2006/main">
              <a:ext uri="{FF2B5EF4-FFF2-40B4-BE49-F238E27FC236}">
                <a16:creationId xmlns:a16="http://schemas.microsoft.com/office/drawing/2014/main" id="{25D1A146-BEA6-40F3-A31D-A20D10D69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19400"/>
            <a:ext cx="1093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2. 处理阻塞与失败</a:t>
            </a:r>
          </a:p>
        </p:txBody>
      </p:sp>
      <p:sp>
        <p:nvSpPr>
          <p:cNvPr id="6" name="data-1">
            <a:extLst xmlns:a="http://schemas.openxmlformats.org/drawingml/2006/main">
              <a:ext uri="{FF2B5EF4-FFF2-40B4-BE49-F238E27FC236}">
                <a16:creationId xmlns:a16="http://schemas.microsoft.com/office/drawing/2014/main" id="{8C0608B2-BFDB-4AD4-AC36-71D5C7D61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81350"/>
            <a:ext cx="10706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rPr>
              <a:t>输入：压缩进行中或失败    输出：可解释的等待/失败状态</a:t>
            </a:r>
          </a:p>
        </p:txBody>
      </p:sp>
      <p:sp>
        <p:nvSpPr>
          <p:cNvPr id="7" name="step-2">
            <a:extLst xmlns:a="http://schemas.openxmlformats.org/drawingml/2006/main">
              <a:ext uri="{FF2B5EF4-FFF2-40B4-BE49-F238E27FC236}">
                <a16:creationId xmlns:a16="http://schemas.microsoft.com/office/drawing/2014/main" id="{4397B028-568B-4D77-A327-9494D4408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90925"/>
            <a:ext cx="1093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3. 提交摘要与视图</a:t>
            </a:r>
          </a:p>
        </p:txBody>
      </p:sp>
      <p:sp>
        <p:nvSpPr>
          <p:cNvPr id="8" name="data-2">
            <a:extLst xmlns:a="http://schemas.openxmlformats.org/drawingml/2006/main">
              <a:ext uri="{FF2B5EF4-FFF2-40B4-BE49-F238E27FC236}">
                <a16:creationId xmlns:a16="http://schemas.microsoft.com/office/drawing/2014/main" id="{39498719-B170-49ED-B0F5-207826A5D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952875"/>
            <a:ext cx="10706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rPr>
              <a:t>输入：摘要和保留记录    输出：新的模型上下文</a:t>
            </a:r>
          </a:p>
        </p:txBody>
      </p:sp>
      <p:sp>
        <p:nvSpPr>
          <p:cNvPr id="9" name="step-3">
            <a:extLst xmlns:a="http://schemas.openxmlformats.org/drawingml/2006/main">
              <a:ext uri="{FF2B5EF4-FFF2-40B4-BE49-F238E27FC236}">
                <a16:creationId xmlns:a16="http://schemas.microsoft.com/office/drawing/2014/main" id="{86632EE5-F014-47EC-A288-D65486329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62450"/>
            <a:ext cx="1093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4. 核对图像预算</a:t>
            </a:r>
          </a:p>
        </p:txBody>
      </p:sp>
      <p:sp>
        <p:nvSpPr>
          <p:cNvPr id="10" name="data-3">
            <a:extLst xmlns:a="http://schemas.openxmlformats.org/drawingml/2006/main">
              <a:ext uri="{FF2B5EF4-FFF2-40B4-BE49-F238E27FC236}">
                <a16:creationId xmlns:a16="http://schemas.microsoft.com/office/drawing/2014/main" id="{C81CC6A7-2B31-4C98-86B5-58E7BC4B6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24400"/>
            <a:ext cx="10706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rPr>
              <a:t>输入：图像消息与模型能力    输出：符合当前请求条件的输入</a:t>
            </a:r>
          </a:p>
        </p:txBody>
      </p:sp>
      <p:sp>
        <p:nvSpPr>
          <p:cNvPr id="11" name="footer">
            <a:extLst xmlns:a="http://schemas.openxmlformats.org/drawingml/2006/main">
              <a:ext uri="{FF2B5EF4-FFF2-40B4-BE49-F238E27FC236}">
                <a16:creationId xmlns:a16="http://schemas.microsoft.com/office/drawing/2014/main" id="{82B456D8-C9E9-4F70-9A0E-D68F7C018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109347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rPr>
              <a:t>Pi 源码精通路线   /   durable-context   /   17      完整步骤、参考答案与源码路径见讲者备注及离线导览</a:t>
            </a:r>
          </a:p>
        </p:txBody>
      </p:sp>
    </p:spTree>
    <p:extLst>
      <p:ext uri="{BB962C8B-B14F-4D97-AF65-F5344CB8AC3E}">
        <p14:creationId xmlns:p14="http://schemas.microsoft.com/office/powerpoint/2010/main" val="360868500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eyebrow">
            <a:extLst xmlns:a="http://schemas.openxmlformats.org/drawingml/2006/main">
              <a:ext uri="{FF2B5EF4-FFF2-40B4-BE49-F238E27FC236}">
                <a16:creationId xmlns:a16="http://schemas.microsoft.com/office/drawing/2014/main" id="{810F855B-CD9B-4A43-82D4-1AAC1246D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1093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06 持久化与跨进程   /   失败分支与练习验证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1C696DB3-1A1E-4C3D-8427-C486EA2C0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6775"/>
            <a:ext cx="109347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持久压缩、阻塞恢复与上下文观察</a:t>
            </a:r>
          </a:p>
        </p:txBody>
      </p:sp>
      <p:sp>
        <p:nvSpPr>
          <p:cNvPr id="3" name="failure-label">
            <a:extLst xmlns:a="http://schemas.openxmlformats.org/drawingml/2006/main">
              <a:ext uri="{FF2B5EF4-FFF2-40B4-BE49-F238E27FC236}">
                <a16:creationId xmlns:a16="http://schemas.microsoft.com/office/drawing/2014/main" id="{7D364D8E-B997-42C3-AC80-DD2DBC050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9775"/>
            <a:ext cx="10934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失败与恢复边界</a:t>
            </a:r>
          </a:p>
        </p:txBody>
      </p:sp>
      <p:sp>
        <p:nvSpPr>
          <p:cNvPr id="4" name="failure">
            <a:extLst xmlns:a="http://schemas.openxmlformats.org/drawingml/2006/main">
              <a:ext uri="{FF2B5EF4-FFF2-40B4-BE49-F238E27FC236}">
                <a16:creationId xmlns:a16="http://schemas.microsoft.com/office/drawing/2014/main" id="{6FCB6A1E-8B52-4C2E-A5DC-1DF212FA9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43175"/>
            <a:ext cx="109347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摘要失败不能直接伪装为压缩成功；取消与任务恢复需要保留清晰状态。</a:t>
            </a:r>
          </a:p>
        </p:txBody>
      </p:sp>
      <p:sp>
        <p:nvSpPr>
          <p:cNvPr id="5" name="exercise-label">
            <a:extLst xmlns:a="http://schemas.openxmlformats.org/drawingml/2006/main">
              <a:ext uri="{FF2B5EF4-FFF2-40B4-BE49-F238E27FC236}">
                <a16:creationId xmlns:a16="http://schemas.microsoft.com/office/drawing/2014/main" id="{473D1092-AB7B-4812-93AE-8FAB799E8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86225"/>
            <a:ext cx="10934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动手练习</a:t>
            </a:r>
          </a:p>
        </p:txBody>
      </p:sp>
      <p:sp>
        <p:nvSpPr>
          <p:cNvPr id="6" name="exercise">
            <a:extLst xmlns:a="http://schemas.openxmlformats.org/drawingml/2006/main">
              <a:ext uri="{FF2B5EF4-FFF2-40B4-BE49-F238E27FC236}">
                <a16:creationId xmlns:a16="http://schemas.microsoft.com/office/drawing/2014/main" id="{92773A14-475D-4557-9A1B-0A3C3FFFC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19625"/>
            <a:ext cx="109347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找出一项压缩测试，写出压缩前后仍应保留的信息及应变化的上下文内容。</a:t>
            </a:r>
          </a:p>
        </p:txBody>
      </p:sp>
      <p:sp>
        <p:nvSpPr>
          <p:cNvPr id="7" name="footer">
            <a:extLst xmlns:a="http://schemas.openxmlformats.org/drawingml/2006/main">
              <a:ext uri="{FF2B5EF4-FFF2-40B4-BE49-F238E27FC236}">
                <a16:creationId xmlns:a16="http://schemas.microsoft.com/office/drawing/2014/main" id="{E29FB51F-E26F-4295-8FCD-2A29AB242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109347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rPr>
              <a:t>Pi 源码精通路线   /   durable-context   /   18      完整步骤、参考答案与源码路径见讲者备注及离线导览</a:t>
            </a:r>
          </a:p>
        </p:txBody>
      </p:sp>
    </p:spTree>
    <p:extLst>
      <p:ext uri="{BB962C8B-B14F-4D97-AF65-F5344CB8AC3E}">
        <p14:creationId xmlns:p14="http://schemas.microsoft.com/office/powerpoint/2010/main" val="2120641002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eyebrow">
            <a:extLst xmlns:a="http://schemas.openxmlformats.org/drawingml/2006/main">
              <a:ext uri="{FF2B5EF4-FFF2-40B4-BE49-F238E27FC236}">
                <a16:creationId xmlns:a16="http://schemas.microsoft.com/office/drawing/2014/main" id="{3FE3E255-C832-4886-A265-646DB165E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1093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06 持久化与跨进程   /   场景与职责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0E26C324-6643-4BB5-AA74-EE01E5099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6775"/>
            <a:ext cx="109347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持久脚本、工具发现与模型子操作</a:t>
            </a:r>
          </a:p>
        </p:txBody>
      </p:sp>
      <p:sp>
        <p:nvSpPr>
          <p:cNvPr id="3" name="scenario">
            <a:extLst xmlns:a="http://schemas.openxmlformats.org/drawingml/2006/main">
              <a:ext uri="{FF2B5EF4-FFF2-40B4-BE49-F238E27FC236}">
                <a16:creationId xmlns:a16="http://schemas.microsoft.com/office/drawing/2014/main" id="{97340274-E27F-45EF-8BD8-B233CD201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109347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rPr>
              <a:t>在可恢复任务里执行脚本，同时允许按需工具发现与分类/图像调用。</a:t>
            </a:r>
          </a:p>
        </p:txBody>
      </p:sp>
      <p:sp>
        <p:nvSpPr>
          <p:cNvPr id="4" name="section">
            <a:extLst xmlns:a="http://schemas.openxmlformats.org/drawingml/2006/main">
              <a:ext uri="{FF2B5EF4-FFF2-40B4-BE49-F238E27FC236}">
                <a16:creationId xmlns:a16="http://schemas.microsoft.com/office/drawing/2014/main" id="{53A8A79A-D642-4D84-AC8F-D1C89CA32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14650"/>
            <a:ext cx="10934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各层负责什么</a:t>
            </a:r>
          </a:p>
        </p:txBody>
      </p:sp>
      <p:sp>
        <p:nvSpPr>
          <p:cNvPr id="5" name="responsibility-0">
            <a:extLst xmlns:a="http://schemas.openxmlformats.org/drawingml/2006/main">
              <a:ext uri="{FF2B5EF4-FFF2-40B4-BE49-F238E27FC236}">
                <a16:creationId xmlns:a16="http://schemas.microsoft.com/office/drawing/2014/main" id="{40CFC705-CDBF-41F1-BC50-FD45140F3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38525"/>
            <a:ext cx="10934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1. 持久脚本、日志重放与嵌套工具</a:t>
            </a:r>
          </a:p>
        </p:txBody>
      </p:sp>
      <p:sp>
        <p:nvSpPr>
          <p:cNvPr id="6" name="responsibility-1">
            <a:extLst xmlns:a="http://schemas.openxmlformats.org/drawingml/2006/main">
              <a:ext uri="{FF2B5EF4-FFF2-40B4-BE49-F238E27FC236}">
                <a16:creationId xmlns:a16="http://schemas.microsoft.com/office/drawing/2014/main" id="{7CD89EF3-3D27-4023-88F4-AA43B1594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95725"/>
            <a:ext cx="10934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2. 脚本工具声明、按需发现与命名空间</a:t>
            </a:r>
          </a:p>
        </p:txBody>
      </p:sp>
      <p:sp>
        <p:nvSpPr>
          <p:cNvPr id="7" name="responsibility-2">
            <a:extLst xmlns:a="http://schemas.openxmlformats.org/drawingml/2006/main">
              <a:ext uri="{FF2B5EF4-FFF2-40B4-BE49-F238E27FC236}">
                <a16:creationId xmlns:a16="http://schemas.microsoft.com/office/drawing/2014/main" id="{5D68B452-EFEA-4295-AF03-A6C0EDE97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52925"/>
            <a:ext cx="10934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3. 持久脚本分类与图像模型</a:t>
            </a:r>
          </a:p>
        </p:txBody>
      </p:sp>
      <p:sp>
        <p:nvSpPr>
          <p:cNvPr id="8" name="responsibility-3">
            <a:extLst xmlns:a="http://schemas.openxmlformats.org/drawingml/2006/main">
              <a:ext uri="{FF2B5EF4-FFF2-40B4-BE49-F238E27FC236}">
                <a16:creationId xmlns:a16="http://schemas.microsoft.com/office/drawing/2014/main" id="{1FBD948E-2C2B-4521-BEB0-8E1249C0B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34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4. 脚本结果、调用清单与跨轮存储</a:t>
            </a:r>
          </a:p>
        </p:txBody>
      </p:sp>
      <p:sp>
        <p:nvSpPr>
          <p:cNvPr id="9" name="footer">
            <a:extLst xmlns:a="http://schemas.openxmlformats.org/drawingml/2006/main">
              <a:ext uri="{FF2B5EF4-FFF2-40B4-BE49-F238E27FC236}">
                <a16:creationId xmlns:a16="http://schemas.microsoft.com/office/drawing/2014/main" id="{7507CD49-8751-40D0-86B2-1E947E0ED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109347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rPr>
              <a:t>Pi 源码精通路线   /   durable-codemode   /   19      完整步骤、参考答案与源码路径见讲者备注及离线导览</a:t>
            </a:r>
          </a:p>
        </p:txBody>
      </p:sp>
    </p:spTree>
    <p:extLst>
      <p:ext uri="{BB962C8B-B14F-4D97-AF65-F5344CB8AC3E}">
        <p14:creationId xmlns:p14="http://schemas.microsoft.com/office/powerpoint/2010/main" val="1148267358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eyebrow">
            <a:extLst xmlns:a="http://schemas.openxmlformats.org/drawingml/2006/main">
              <a:ext uri="{FF2B5EF4-FFF2-40B4-BE49-F238E27FC236}">
                <a16:creationId xmlns:a16="http://schemas.microsoft.com/office/drawing/2014/main" id="{DC713317-1B0D-416D-BEFB-D1D14E17B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1093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06 持久化与跨进程   /   执行顺序与数据变化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534F2720-BACA-4927-B437-CE5CBA188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6775"/>
            <a:ext cx="109347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持久脚本、工具发现与模型子操作</a:t>
            </a:r>
          </a:p>
        </p:txBody>
      </p:sp>
      <p:sp>
        <p:nvSpPr>
          <p:cNvPr id="3" name="step-0">
            <a:extLst xmlns:a="http://schemas.openxmlformats.org/drawingml/2006/main">
              <a:ext uri="{FF2B5EF4-FFF2-40B4-BE49-F238E27FC236}">
                <a16:creationId xmlns:a16="http://schemas.microsoft.com/office/drawing/2014/main" id="{D1828D5E-6364-4B89-8C8D-0FA6AA2F4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47875"/>
            <a:ext cx="1093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1. 配置脚本能力</a:t>
            </a:r>
          </a:p>
        </p:txBody>
      </p:sp>
      <p:sp>
        <p:nvSpPr>
          <p:cNvPr id="4" name="data-0">
            <a:extLst xmlns:a="http://schemas.openxmlformats.org/drawingml/2006/main">
              <a:ext uri="{FF2B5EF4-FFF2-40B4-BE49-F238E27FC236}">
                <a16:creationId xmlns:a16="http://schemas.microsoft.com/office/drawing/2014/main" id="{91D98966-29E1-4A54-B9DF-7C2559A69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09825"/>
            <a:ext cx="10706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rPr>
              <a:t>输入：会话设置和 registry    输出：可恢复脚本任务</a:t>
            </a:r>
          </a:p>
        </p:txBody>
      </p:sp>
      <p:sp>
        <p:nvSpPr>
          <p:cNvPr id="5" name="step-1">
            <a:extLst xmlns:a="http://schemas.openxmlformats.org/drawingml/2006/main">
              <a:ext uri="{FF2B5EF4-FFF2-40B4-BE49-F238E27FC236}">
                <a16:creationId xmlns:a16="http://schemas.microsoft.com/office/drawing/2014/main" id="{FF33CF82-FB87-4D2A-9A8D-721D20014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19400"/>
            <a:ext cx="1093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2. 发现并调用工具</a:t>
            </a:r>
          </a:p>
        </p:txBody>
      </p:sp>
      <p:sp>
        <p:nvSpPr>
          <p:cNvPr id="6" name="data-1">
            <a:extLst xmlns:a="http://schemas.openxmlformats.org/drawingml/2006/main">
              <a:ext uri="{FF2B5EF4-FFF2-40B4-BE49-F238E27FC236}">
                <a16:creationId xmlns:a16="http://schemas.microsoft.com/office/drawing/2014/main" id="{B22DF8CE-592E-4F94-9B1D-6506B1956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81350"/>
            <a:ext cx="10706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rPr>
              <a:t>输入：查询与工具目录    输出：可执行工具引用</a:t>
            </a:r>
          </a:p>
        </p:txBody>
      </p:sp>
      <p:sp>
        <p:nvSpPr>
          <p:cNvPr id="7" name="step-2">
            <a:extLst xmlns:a="http://schemas.openxmlformats.org/drawingml/2006/main">
              <a:ext uri="{FF2B5EF4-FFF2-40B4-BE49-F238E27FC236}">
                <a16:creationId xmlns:a16="http://schemas.microsoft.com/office/drawing/2014/main" id="{859965EC-5431-4547-ABDF-200C1C60F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90925"/>
            <a:ext cx="1093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3. 执行模型子操作</a:t>
            </a:r>
          </a:p>
        </p:txBody>
      </p:sp>
      <p:sp>
        <p:nvSpPr>
          <p:cNvPr id="8" name="data-2">
            <a:extLst xmlns:a="http://schemas.openxmlformats.org/drawingml/2006/main">
              <a:ext uri="{FF2B5EF4-FFF2-40B4-BE49-F238E27FC236}">
                <a16:creationId xmlns:a16="http://schemas.microsoft.com/office/drawing/2014/main" id="{4AAD1DB9-8DF6-4495-AA3E-75B9F26F2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952875"/>
            <a:ext cx="10706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rPr>
              <a:t>输入：脚本模型调用    输出：分类/图像结果与用量</a:t>
            </a:r>
          </a:p>
        </p:txBody>
      </p:sp>
      <p:sp>
        <p:nvSpPr>
          <p:cNvPr id="9" name="step-3">
            <a:extLst xmlns:a="http://schemas.openxmlformats.org/drawingml/2006/main">
              <a:ext uri="{FF2B5EF4-FFF2-40B4-BE49-F238E27FC236}">
                <a16:creationId xmlns:a16="http://schemas.microsoft.com/office/drawing/2014/main" id="{57CAB329-4B0C-4253-B5C3-8545048B4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62450"/>
            <a:ext cx="1093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4. 提交状态和输出</a:t>
            </a:r>
          </a:p>
        </p:txBody>
      </p:sp>
      <p:sp>
        <p:nvSpPr>
          <p:cNvPr id="10" name="data-3">
            <a:extLst xmlns:a="http://schemas.openxmlformats.org/drawingml/2006/main">
              <a:ext uri="{FF2B5EF4-FFF2-40B4-BE49-F238E27FC236}">
                <a16:creationId xmlns:a16="http://schemas.microsoft.com/office/drawing/2014/main" id="{F1505CBC-2356-4EF7-8384-E90F7A18C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24400"/>
            <a:ext cx="10706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rPr>
              <a:t>输入：执行结果与 storeWrites    输出：可恢复的脚本状态</a:t>
            </a:r>
          </a:p>
        </p:txBody>
      </p:sp>
      <p:sp>
        <p:nvSpPr>
          <p:cNvPr id="11" name="footer">
            <a:extLst xmlns:a="http://schemas.openxmlformats.org/drawingml/2006/main">
              <a:ext uri="{FF2B5EF4-FFF2-40B4-BE49-F238E27FC236}">
                <a16:creationId xmlns:a16="http://schemas.microsoft.com/office/drawing/2014/main" id="{71829AE7-02F1-46CC-8138-3730A0811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109347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rPr>
              <a:t>Pi 源码精通路线   /   durable-codemode   /   20      完整步骤、参考答案与源码路径见讲者备注及离线导览</a:t>
            </a:r>
          </a:p>
        </p:txBody>
      </p:sp>
    </p:spTree>
    <p:extLst>
      <p:ext uri="{BB962C8B-B14F-4D97-AF65-F5344CB8AC3E}">
        <p14:creationId xmlns:p14="http://schemas.microsoft.com/office/powerpoint/2010/main" val="1298237166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eyebrow">
            <a:extLst xmlns:a="http://schemas.openxmlformats.org/drawingml/2006/main">
              <a:ext uri="{FF2B5EF4-FFF2-40B4-BE49-F238E27FC236}">
                <a16:creationId xmlns:a16="http://schemas.microsoft.com/office/drawing/2014/main" id="{C4C98C63-8844-464B-82B0-B66C9C9F4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1093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06 持久化与跨进程   /   失败分支与练习验证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D6912931-DA21-4873-91AE-C74A686E1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6775"/>
            <a:ext cx="109347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持久脚本、工具发现与模型子操作</a:t>
            </a:r>
          </a:p>
        </p:txBody>
      </p:sp>
      <p:sp>
        <p:nvSpPr>
          <p:cNvPr id="3" name="failure-label">
            <a:extLst xmlns:a="http://schemas.openxmlformats.org/drawingml/2006/main">
              <a:ext uri="{FF2B5EF4-FFF2-40B4-BE49-F238E27FC236}">
                <a16:creationId xmlns:a16="http://schemas.microsoft.com/office/drawing/2014/main" id="{E928275D-9AC4-4198-B6E8-20C297FED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9775"/>
            <a:ext cx="10934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失败与恢复边界</a:t>
            </a:r>
          </a:p>
        </p:txBody>
      </p:sp>
      <p:sp>
        <p:nvSpPr>
          <p:cNvPr id="4" name="failure">
            <a:extLst xmlns:a="http://schemas.openxmlformats.org/drawingml/2006/main">
              <a:ext uri="{FF2B5EF4-FFF2-40B4-BE49-F238E27FC236}">
                <a16:creationId xmlns:a16="http://schemas.microsoft.com/office/drawing/2014/main" id="{3242946C-0998-4B79-A524-70013038E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43175"/>
            <a:ext cx="109347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脚本可恢复不等于宿主副作用可随意重跑；工具发现结果也不能绕过授权或校验。</a:t>
            </a:r>
          </a:p>
        </p:txBody>
      </p:sp>
      <p:sp>
        <p:nvSpPr>
          <p:cNvPr id="5" name="exercise-label">
            <a:extLst xmlns:a="http://schemas.openxmlformats.org/drawingml/2006/main">
              <a:ext uri="{FF2B5EF4-FFF2-40B4-BE49-F238E27FC236}">
                <a16:creationId xmlns:a16="http://schemas.microsoft.com/office/drawing/2014/main" id="{09105DA5-EA60-450E-A365-3E777A1B7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86225"/>
            <a:ext cx="10934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动手练习</a:t>
            </a:r>
          </a:p>
        </p:txBody>
      </p:sp>
      <p:sp>
        <p:nvSpPr>
          <p:cNvPr id="6" name="exercise">
            <a:extLst xmlns:a="http://schemas.openxmlformats.org/drawingml/2006/main">
              <a:ext uri="{FF2B5EF4-FFF2-40B4-BE49-F238E27FC236}">
                <a16:creationId xmlns:a16="http://schemas.microsoft.com/office/drawing/2014/main" id="{D075989B-C546-4021-99BE-F071984BC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19625"/>
            <a:ext cx="109347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对照持久 codemode 测试，追踪一个嵌套调用从脚本到工具任务再回到结果。</a:t>
            </a:r>
          </a:p>
        </p:txBody>
      </p:sp>
      <p:sp>
        <p:nvSpPr>
          <p:cNvPr id="7" name="footer">
            <a:extLst xmlns:a="http://schemas.openxmlformats.org/drawingml/2006/main">
              <a:ext uri="{FF2B5EF4-FFF2-40B4-BE49-F238E27FC236}">
                <a16:creationId xmlns:a16="http://schemas.microsoft.com/office/drawing/2014/main" id="{8F0DB48C-3350-4B45-85CF-5E93D0B97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109347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rPr>
              <a:t>Pi 源码精通路线   /   durable-codemode   /   21      完整步骤、参考答案与源码路径见讲者备注及离线导览</a:t>
            </a:r>
          </a:p>
        </p:txBody>
      </p:sp>
    </p:spTree>
    <p:extLst>
      <p:ext uri="{BB962C8B-B14F-4D97-AF65-F5344CB8AC3E}">
        <p14:creationId xmlns:p14="http://schemas.microsoft.com/office/powerpoint/2010/main" val="1837717448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eyebrow">
            <a:extLst xmlns:a="http://schemas.openxmlformats.org/drawingml/2006/main">
              <a:ext uri="{FF2B5EF4-FFF2-40B4-BE49-F238E27FC236}">
                <a16:creationId xmlns:a16="http://schemas.microsoft.com/office/drawing/2014/main" id="{E4D55A35-522F-4414-81C8-002DFC340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1093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06 持久化与跨进程   /   场景与职责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211AC9DC-C3B7-46EA-A08C-B16FA41F1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6775"/>
            <a:ext cx="109347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Chord 契约、Host、句柄与生命周期</a:t>
            </a:r>
          </a:p>
        </p:txBody>
      </p:sp>
      <p:sp>
        <p:nvSpPr>
          <p:cNvPr id="3" name="scenario">
            <a:extLst xmlns:a="http://schemas.openxmlformats.org/drawingml/2006/main">
              <a:ext uri="{FF2B5EF4-FFF2-40B4-BE49-F238E27FC236}">
                <a16:creationId xmlns:a16="http://schemas.microsoft.com/office/drawing/2014/main" id="{93AE77E4-5564-40A9-825C-5ED7753BB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109347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rPr>
              <a:t>让多个调用者访问同一对象，并在作用域结束时释放资源。</a:t>
            </a:r>
          </a:p>
        </p:txBody>
      </p:sp>
      <p:sp>
        <p:nvSpPr>
          <p:cNvPr id="4" name="section">
            <a:extLst xmlns:a="http://schemas.openxmlformats.org/drawingml/2006/main">
              <a:ext uri="{FF2B5EF4-FFF2-40B4-BE49-F238E27FC236}">
                <a16:creationId xmlns:a16="http://schemas.microsoft.com/office/drawing/2014/main" id="{58A9A5E6-E066-44FA-82F7-E79F6B8CC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14650"/>
            <a:ext cx="10934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各层负责什么</a:t>
            </a:r>
          </a:p>
        </p:txBody>
      </p:sp>
      <p:sp>
        <p:nvSpPr>
          <p:cNvPr id="5" name="responsibility-0">
            <a:extLst xmlns:a="http://schemas.openxmlformats.org/drawingml/2006/main">
              <a:ext uri="{FF2B5EF4-FFF2-40B4-BE49-F238E27FC236}">
                <a16:creationId xmlns:a16="http://schemas.microsoft.com/office/drawing/2014/main" id="{56422C37-C28D-422A-98A9-A67BBAFA3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38525"/>
            <a:ext cx="10934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1. 契约、变体与方法声明</a:t>
            </a:r>
          </a:p>
        </p:txBody>
      </p:sp>
      <p:sp>
        <p:nvSpPr>
          <p:cNvPr id="6" name="responsibility-1">
            <a:extLst xmlns:a="http://schemas.openxmlformats.org/drawingml/2006/main">
              <a:ext uri="{FF2B5EF4-FFF2-40B4-BE49-F238E27FC236}">
                <a16:creationId xmlns:a16="http://schemas.microsoft.com/office/drawing/2014/main" id="{15F39EF8-184B-4582-8F0F-9B3614956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95725"/>
            <a:ext cx="10934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2. 宿主、对象创建与根调用</a:t>
            </a:r>
          </a:p>
        </p:txBody>
      </p:sp>
      <p:sp>
        <p:nvSpPr>
          <p:cNvPr id="7" name="responsibility-2">
            <a:extLst xmlns:a="http://schemas.openxmlformats.org/drawingml/2006/main">
              <a:ext uri="{FF2B5EF4-FFF2-40B4-BE49-F238E27FC236}">
                <a16:creationId xmlns:a16="http://schemas.microsoft.com/office/drawing/2014/main" id="{084B669E-5FC7-44F1-9D3E-3A27ACA9A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52925"/>
            <a:ext cx="10934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3. 取消上下文与调用数据</a:t>
            </a:r>
          </a:p>
        </p:txBody>
      </p:sp>
      <p:sp>
        <p:nvSpPr>
          <p:cNvPr id="8" name="responsibility-3">
            <a:extLst xmlns:a="http://schemas.openxmlformats.org/drawingml/2006/main">
              <a:ext uri="{FF2B5EF4-FFF2-40B4-BE49-F238E27FC236}">
                <a16:creationId xmlns:a16="http://schemas.microsoft.com/office/drawing/2014/main" id="{EDBD46B6-4322-402B-8EA6-CE7FC48C8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34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4. 状态单元、派生与资源声明</a:t>
            </a:r>
          </a:p>
        </p:txBody>
      </p:sp>
      <p:sp>
        <p:nvSpPr>
          <p:cNvPr id="9" name="footer">
            <a:extLst xmlns:a="http://schemas.openxmlformats.org/drawingml/2006/main">
              <a:ext uri="{FF2B5EF4-FFF2-40B4-BE49-F238E27FC236}">
                <a16:creationId xmlns:a16="http://schemas.microsoft.com/office/drawing/2014/main" id="{B61C999D-C910-4543-B1DF-D01344897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109347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rPr>
              <a:t>Pi 源码精通路线   /   chord-objects   /   22      完整步骤、参考答案与源码路径见讲者备注及离线导览</a:t>
            </a:r>
          </a:p>
        </p:txBody>
      </p:sp>
    </p:spTree>
    <p:extLst>
      <p:ext uri="{BB962C8B-B14F-4D97-AF65-F5344CB8AC3E}">
        <p14:creationId xmlns:p14="http://schemas.microsoft.com/office/powerpoint/2010/main" val="842055205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eyebrow">
            <a:extLst xmlns:a="http://schemas.openxmlformats.org/drawingml/2006/main">
              <a:ext uri="{FF2B5EF4-FFF2-40B4-BE49-F238E27FC236}">
                <a16:creationId xmlns:a16="http://schemas.microsoft.com/office/drawing/2014/main" id="{251690FD-1B30-4617-83D2-8B690F9F1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1093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06 持久化与跨进程   /   执行顺序与数据变化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DA3EF2DE-88F3-46E0-90AD-ACBD4FB68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6775"/>
            <a:ext cx="109347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Chord 契约、Host、句柄与生命周期</a:t>
            </a:r>
          </a:p>
        </p:txBody>
      </p:sp>
      <p:sp>
        <p:nvSpPr>
          <p:cNvPr id="3" name="step-0">
            <a:extLst xmlns:a="http://schemas.openxmlformats.org/drawingml/2006/main">
              <a:ext uri="{FF2B5EF4-FFF2-40B4-BE49-F238E27FC236}">
                <a16:creationId xmlns:a16="http://schemas.microsoft.com/office/drawing/2014/main" id="{A047CDF9-9502-4085-97BF-8B2ED8986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47875"/>
            <a:ext cx="1093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1. 定义契约和变体</a:t>
            </a:r>
          </a:p>
        </p:txBody>
      </p:sp>
      <p:sp>
        <p:nvSpPr>
          <p:cNvPr id="4" name="data-0">
            <a:extLst xmlns:a="http://schemas.openxmlformats.org/drawingml/2006/main">
              <a:ext uri="{FF2B5EF4-FFF2-40B4-BE49-F238E27FC236}">
                <a16:creationId xmlns:a16="http://schemas.microsoft.com/office/drawing/2014/main" id="{94B17295-DD5D-4371-8E17-9B9419D2B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09825"/>
            <a:ext cx="10706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rPr>
              <a:t>输入：对象能力要求    输出：契约和允许的方法</a:t>
            </a:r>
          </a:p>
        </p:txBody>
      </p:sp>
      <p:sp>
        <p:nvSpPr>
          <p:cNvPr id="5" name="step-1">
            <a:extLst xmlns:a="http://schemas.openxmlformats.org/drawingml/2006/main">
              <a:ext uri="{FF2B5EF4-FFF2-40B4-BE49-F238E27FC236}">
                <a16:creationId xmlns:a16="http://schemas.microsoft.com/office/drawing/2014/main" id="{BB7E765A-E700-4989-B659-CC6ED3661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19400"/>
            <a:ext cx="1093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2. 提供对象实现</a:t>
            </a:r>
          </a:p>
        </p:txBody>
      </p:sp>
      <p:sp>
        <p:nvSpPr>
          <p:cNvPr id="6" name="data-1">
            <a:extLst xmlns:a="http://schemas.openxmlformats.org/drawingml/2006/main">
              <a:ext uri="{FF2B5EF4-FFF2-40B4-BE49-F238E27FC236}">
                <a16:creationId xmlns:a16="http://schemas.microsoft.com/office/drawing/2014/main" id="{C92DD69F-7628-4D6D-8182-E6C4063E8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81350"/>
            <a:ext cx="10706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rPr>
              <a:t>输入：对象类型与输入    输出：可用 Handle</a:t>
            </a:r>
          </a:p>
        </p:txBody>
      </p:sp>
      <p:sp>
        <p:nvSpPr>
          <p:cNvPr id="7" name="step-2">
            <a:extLst xmlns:a="http://schemas.openxmlformats.org/drawingml/2006/main">
              <a:ext uri="{FF2B5EF4-FFF2-40B4-BE49-F238E27FC236}">
                <a16:creationId xmlns:a16="http://schemas.microsoft.com/office/drawing/2014/main" id="{0C6BC035-6DFC-4497-862F-37D23CB23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90925"/>
            <a:ext cx="1093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3. 传递调用上下文</a:t>
            </a:r>
          </a:p>
        </p:txBody>
      </p:sp>
      <p:sp>
        <p:nvSpPr>
          <p:cNvPr id="8" name="data-2">
            <a:extLst xmlns:a="http://schemas.openxmlformats.org/drawingml/2006/main">
              <a:ext uri="{FF2B5EF4-FFF2-40B4-BE49-F238E27FC236}">
                <a16:creationId xmlns:a16="http://schemas.microsoft.com/office/drawing/2014/main" id="{1625E7F9-8DAA-41F9-A0E9-03E26C3B0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952875"/>
            <a:ext cx="10706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rPr>
              <a:t>输入：调用上下文    输出：受范围约束的执行</a:t>
            </a:r>
          </a:p>
        </p:txBody>
      </p:sp>
      <p:sp>
        <p:nvSpPr>
          <p:cNvPr id="9" name="step-3">
            <a:extLst xmlns:a="http://schemas.openxmlformats.org/drawingml/2006/main">
              <a:ext uri="{FF2B5EF4-FFF2-40B4-BE49-F238E27FC236}">
                <a16:creationId xmlns:a16="http://schemas.microsoft.com/office/drawing/2014/main" id="{2C176DB3-8D3D-41E7-BBEE-1D72836F3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62450"/>
            <a:ext cx="1093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4. 释放持有与资源</a:t>
            </a:r>
          </a:p>
        </p:txBody>
      </p:sp>
      <p:sp>
        <p:nvSpPr>
          <p:cNvPr id="10" name="data-3">
            <a:extLst xmlns:a="http://schemas.openxmlformats.org/drawingml/2006/main">
              <a:ext uri="{FF2B5EF4-FFF2-40B4-BE49-F238E27FC236}">
                <a16:creationId xmlns:a16="http://schemas.microsoft.com/office/drawing/2014/main" id="{633E0831-1980-47CC-8817-C92CC3BE8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24400"/>
            <a:ext cx="10706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rPr>
              <a:t>输入：作用域结束    输出：资源释放或剩余持有</a:t>
            </a:r>
          </a:p>
        </p:txBody>
      </p:sp>
      <p:sp>
        <p:nvSpPr>
          <p:cNvPr id="11" name="footer">
            <a:extLst xmlns:a="http://schemas.openxmlformats.org/drawingml/2006/main">
              <a:ext uri="{FF2B5EF4-FFF2-40B4-BE49-F238E27FC236}">
                <a16:creationId xmlns:a16="http://schemas.microsoft.com/office/drawing/2014/main" id="{30B67C0F-0AB8-4852-8E0C-D575CFC27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109347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rPr>
              <a:t>Pi 源码精通路线   /   chord-objects   /   23      完整步骤、参考答案与源码路径见讲者备注及离线导览</a:t>
            </a:r>
          </a:p>
        </p:txBody>
      </p:sp>
    </p:spTree>
    <p:extLst>
      <p:ext uri="{BB962C8B-B14F-4D97-AF65-F5344CB8AC3E}">
        <p14:creationId xmlns:p14="http://schemas.microsoft.com/office/powerpoint/2010/main" val="2035875660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eyebrow">
            <a:extLst xmlns:a="http://schemas.openxmlformats.org/drawingml/2006/main">
              <a:ext uri="{FF2B5EF4-FFF2-40B4-BE49-F238E27FC236}">
                <a16:creationId xmlns:a16="http://schemas.microsoft.com/office/drawing/2014/main" id="{9DE5473C-0798-449C-88B5-F4054E67F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1093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06 持久化与跨进程   /   失败分支与练习验证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4BBAB587-4507-46C2-B731-45641EFE3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6775"/>
            <a:ext cx="109347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Chord 契约、Host、句柄与生命周期</a:t>
            </a:r>
          </a:p>
        </p:txBody>
      </p:sp>
      <p:sp>
        <p:nvSpPr>
          <p:cNvPr id="3" name="failure-label">
            <a:extLst xmlns:a="http://schemas.openxmlformats.org/drawingml/2006/main">
              <a:ext uri="{FF2B5EF4-FFF2-40B4-BE49-F238E27FC236}">
                <a16:creationId xmlns:a16="http://schemas.microsoft.com/office/drawing/2014/main" id="{5D6064CD-FC3E-4BE0-A7BC-C04C4D4E2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9775"/>
            <a:ext cx="10934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失败与恢复边界</a:t>
            </a:r>
          </a:p>
        </p:txBody>
      </p:sp>
      <p:sp>
        <p:nvSpPr>
          <p:cNvPr id="4" name="failure">
            <a:extLst xmlns:a="http://schemas.openxmlformats.org/drawingml/2006/main">
              <a:ext uri="{FF2B5EF4-FFF2-40B4-BE49-F238E27FC236}">
                <a16:creationId xmlns:a16="http://schemas.microsoft.com/office/drawing/2014/main" id="{D16BC427-C466-4536-9CDF-778801445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43175"/>
            <a:ext cx="109347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不同 principal 的句柄和状态不能任意共享；调用返回不总意味着所有对象立即销毁。</a:t>
            </a:r>
          </a:p>
        </p:txBody>
      </p:sp>
      <p:sp>
        <p:nvSpPr>
          <p:cNvPr id="5" name="exercise-label">
            <a:extLst xmlns:a="http://schemas.openxmlformats.org/drawingml/2006/main">
              <a:ext uri="{FF2B5EF4-FFF2-40B4-BE49-F238E27FC236}">
                <a16:creationId xmlns:a16="http://schemas.microsoft.com/office/drawing/2014/main" id="{8AB321DA-9F10-4131-BDF9-E21090CBD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86225"/>
            <a:ext cx="10934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动手练习</a:t>
            </a:r>
          </a:p>
        </p:txBody>
      </p:sp>
      <p:sp>
        <p:nvSpPr>
          <p:cNvPr id="6" name="exercise">
            <a:extLst xmlns:a="http://schemas.openxmlformats.org/drawingml/2006/main">
              <a:ext uri="{FF2B5EF4-FFF2-40B4-BE49-F238E27FC236}">
                <a16:creationId xmlns:a16="http://schemas.microsoft.com/office/drawing/2014/main" id="{ECAEF996-000A-44B8-857A-164C10E62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19625"/>
            <a:ext cx="109347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从 Counter 教程追踪两个 root 获取同一对象，再逐个结束，说明资源何时释放。</a:t>
            </a:r>
          </a:p>
        </p:txBody>
      </p:sp>
      <p:sp>
        <p:nvSpPr>
          <p:cNvPr id="7" name="footer">
            <a:extLst xmlns:a="http://schemas.openxmlformats.org/drawingml/2006/main">
              <a:ext uri="{FF2B5EF4-FFF2-40B4-BE49-F238E27FC236}">
                <a16:creationId xmlns:a16="http://schemas.microsoft.com/office/drawing/2014/main" id="{F6CF36D7-5A02-463E-9275-094B559DE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109347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rPr>
              <a:t>Pi 源码精通路线   /   chord-objects   /   24      完整步骤、参考答案与源码路径见讲者备注及离线导览</a:t>
            </a:r>
          </a:p>
        </p:txBody>
      </p:sp>
    </p:spTree>
    <p:extLst>
      <p:ext uri="{BB962C8B-B14F-4D97-AF65-F5344CB8AC3E}">
        <p14:creationId xmlns:p14="http://schemas.microsoft.com/office/powerpoint/2010/main" val="306474418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eyebrow">
            <a:extLst xmlns:a="http://schemas.openxmlformats.org/drawingml/2006/main">
              <a:ext uri="{FF2B5EF4-FFF2-40B4-BE49-F238E27FC236}">
                <a16:creationId xmlns:a16="http://schemas.microsoft.com/office/drawing/2014/main" id="{54ABDF1C-1A68-4A82-A5ED-8F1FE058F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1093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06 持久化与跨进程   /   场景与职责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A620FC4F-1BED-48C8-971F-991481D3E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6775"/>
            <a:ext cx="109347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JSON 所有权、delta 与复制状态</a:t>
            </a:r>
          </a:p>
        </p:txBody>
      </p:sp>
      <p:sp>
        <p:nvSpPr>
          <p:cNvPr id="3" name="scenario">
            <a:extLst xmlns:a="http://schemas.openxmlformats.org/drawingml/2006/main">
              <a:ext uri="{FF2B5EF4-FFF2-40B4-BE49-F238E27FC236}">
                <a16:creationId xmlns:a16="http://schemas.microsoft.com/office/drawing/2014/main" id="{F56B7FFC-FD84-4D56-9AE5-5CA261637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109347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rPr>
              <a:t>订阅者要看到一致状态，而更新计算可能失败。</a:t>
            </a:r>
          </a:p>
        </p:txBody>
      </p:sp>
      <p:sp>
        <p:nvSpPr>
          <p:cNvPr id="4" name="section">
            <a:extLst xmlns:a="http://schemas.openxmlformats.org/drawingml/2006/main">
              <a:ext uri="{FF2B5EF4-FFF2-40B4-BE49-F238E27FC236}">
                <a16:creationId xmlns:a16="http://schemas.microsoft.com/office/drawing/2014/main" id="{D6DD7B85-812C-4263-BECD-B6272204A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14650"/>
            <a:ext cx="10934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各层负责什么</a:t>
            </a:r>
          </a:p>
        </p:txBody>
      </p:sp>
      <p:sp>
        <p:nvSpPr>
          <p:cNvPr id="5" name="responsibility-0">
            <a:extLst xmlns:a="http://schemas.openxmlformats.org/drawingml/2006/main">
              <a:ext uri="{FF2B5EF4-FFF2-40B4-BE49-F238E27FC236}">
                <a16:creationId xmlns:a16="http://schemas.microsoft.com/office/drawing/2014/main" id="{F6F9C838-1408-4EF1-B761-FE73AC6FB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38525"/>
            <a:ext cx="10934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1. 严格 JSON 边界与错误契约</a:t>
            </a:r>
          </a:p>
        </p:txBody>
      </p:sp>
      <p:sp>
        <p:nvSpPr>
          <p:cNvPr id="6" name="responsibility-1">
            <a:extLst xmlns:a="http://schemas.openxmlformats.org/drawingml/2006/main">
              <a:ext uri="{FF2B5EF4-FFF2-40B4-BE49-F238E27FC236}">
                <a16:creationId xmlns:a16="http://schemas.microsoft.com/office/drawing/2014/main" id="{FAC79201-A19F-471F-AC77-AF42107C0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95725"/>
            <a:ext cx="10934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2. 不可变 delta 与复制状态</a:t>
            </a:r>
          </a:p>
        </p:txBody>
      </p:sp>
      <p:sp>
        <p:nvSpPr>
          <p:cNvPr id="7" name="responsibility-2">
            <a:extLst xmlns:a="http://schemas.openxmlformats.org/drawingml/2006/main">
              <a:ext uri="{FF2B5EF4-FFF2-40B4-BE49-F238E27FC236}">
                <a16:creationId xmlns:a16="http://schemas.microsoft.com/office/drawing/2014/main" id="{AB89DBB5-40F1-4C2B-90C0-6E5B63512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52925"/>
            <a:ext cx="10934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3. 状态单元、派生与资源声明</a:t>
            </a:r>
          </a:p>
        </p:txBody>
      </p:sp>
      <p:sp>
        <p:nvSpPr>
          <p:cNvPr id="8" name="footer">
            <a:extLst xmlns:a="http://schemas.openxmlformats.org/drawingml/2006/main">
              <a:ext uri="{FF2B5EF4-FFF2-40B4-BE49-F238E27FC236}">
                <a16:creationId xmlns:a16="http://schemas.microsoft.com/office/drawing/2014/main" id="{B223FBEE-1A3C-41B0-8639-698C2599C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109347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rPr>
              <a:t>Pi 源码精通路线   /   chord-state   /   25      完整步骤、参考答案与源码路径见讲者备注及离线导览</a:t>
            </a:r>
          </a:p>
        </p:txBody>
      </p:sp>
    </p:spTree>
    <p:extLst>
      <p:ext uri="{BB962C8B-B14F-4D97-AF65-F5344CB8AC3E}">
        <p14:creationId xmlns:p14="http://schemas.microsoft.com/office/powerpoint/2010/main" val="557655956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eyebrow">
            <a:extLst xmlns:a="http://schemas.openxmlformats.org/drawingml/2006/main">
              <a:ext uri="{FF2B5EF4-FFF2-40B4-BE49-F238E27FC236}">
                <a16:creationId xmlns:a16="http://schemas.microsoft.com/office/drawing/2014/main" id="{E5E85538-5584-4D2C-9D10-352F493C8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1093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06 持久化与跨进程   /   执行顺序与数据变化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B889D96F-A412-4E4A-81DF-D9ED0A0C7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6775"/>
            <a:ext cx="109347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JSON 所有权、delta 与复制状态</a:t>
            </a:r>
          </a:p>
        </p:txBody>
      </p:sp>
      <p:sp>
        <p:nvSpPr>
          <p:cNvPr id="3" name="step-0">
            <a:extLst xmlns:a="http://schemas.openxmlformats.org/drawingml/2006/main">
              <a:ext uri="{FF2B5EF4-FFF2-40B4-BE49-F238E27FC236}">
                <a16:creationId xmlns:a16="http://schemas.microsoft.com/office/drawing/2014/main" id="{A2D0D0ED-D129-45BB-B333-AB0BFB24E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47875"/>
            <a:ext cx="1093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1. 明确 JSON 边界</a:t>
            </a:r>
          </a:p>
        </p:txBody>
      </p:sp>
      <p:sp>
        <p:nvSpPr>
          <p:cNvPr id="4" name="data-0">
            <a:extLst xmlns:a="http://schemas.openxmlformats.org/drawingml/2006/main">
              <a:ext uri="{FF2B5EF4-FFF2-40B4-BE49-F238E27FC236}">
                <a16:creationId xmlns:a16="http://schemas.microsoft.com/office/drawing/2014/main" id="{941FF925-1A1C-4BB5-ACA0-6EE9B10FB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09825"/>
            <a:ext cx="10706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rPr>
              <a:t>输入：调用者持有的 JSON    输出：可安全交给运行时的值</a:t>
            </a:r>
          </a:p>
        </p:txBody>
      </p:sp>
      <p:sp>
        <p:nvSpPr>
          <p:cNvPr id="5" name="step-1">
            <a:extLst xmlns:a="http://schemas.openxmlformats.org/drawingml/2006/main">
              <a:ext uri="{FF2B5EF4-FFF2-40B4-BE49-F238E27FC236}">
                <a16:creationId xmlns:a16="http://schemas.microsoft.com/office/drawing/2014/main" id="{365AA601-6BF8-44F7-BF92-CF2B2037C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19400"/>
            <a:ext cx="1093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2. 准备增量</a:t>
            </a:r>
          </a:p>
        </p:txBody>
      </p:sp>
      <p:sp>
        <p:nvSpPr>
          <p:cNvPr id="6" name="data-1">
            <a:extLst xmlns:a="http://schemas.openxmlformats.org/drawingml/2006/main">
              <a:ext uri="{FF2B5EF4-FFF2-40B4-BE49-F238E27FC236}">
                <a16:creationId xmlns:a16="http://schemas.microsoft.com/office/drawing/2014/main" id="{775A71AE-FB31-42B2-A04C-0A2D0FD3B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81350"/>
            <a:ext cx="10706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rPr>
              <a:t>输入：旧版本和修改    输出：候选 delta</a:t>
            </a:r>
          </a:p>
        </p:txBody>
      </p:sp>
      <p:sp>
        <p:nvSpPr>
          <p:cNvPr id="7" name="step-2">
            <a:extLst xmlns:a="http://schemas.openxmlformats.org/drawingml/2006/main">
              <a:ext uri="{FF2B5EF4-FFF2-40B4-BE49-F238E27FC236}">
                <a16:creationId xmlns:a16="http://schemas.microsoft.com/office/drawing/2014/main" id="{F447E273-A6F0-4B17-AEB5-E0F16C131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90925"/>
            <a:ext cx="1093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3. 提交并发布</a:t>
            </a:r>
          </a:p>
        </p:txBody>
      </p:sp>
      <p:sp>
        <p:nvSpPr>
          <p:cNvPr id="8" name="data-2">
            <a:extLst xmlns:a="http://schemas.openxmlformats.org/drawingml/2006/main">
              <a:ext uri="{FF2B5EF4-FFF2-40B4-BE49-F238E27FC236}">
                <a16:creationId xmlns:a16="http://schemas.microsoft.com/office/drawing/2014/main" id="{CD9C59FE-5919-4BF1-BE8D-E60D153F4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952875"/>
            <a:ext cx="10706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rPr>
              <a:t>输入：已验证候选变更    输出：新权威状态</a:t>
            </a:r>
          </a:p>
        </p:txBody>
      </p:sp>
      <p:sp>
        <p:nvSpPr>
          <p:cNvPr id="9" name="step-3">
            <a:extLst xmlns:a="http://schemas.openxmlformats.org/drawingml/2006/main">
              <a:ext uri="{FF2B5EF4-FFF2-40B4-BE49-F238E27FC236}">
                <a16:creationId xmlns:a16="http://schemas.microsoft.com/office/drawing/2014/main" id="{5D9C5FEA-4605-40C0-8508-0F6E017A6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62450"/>
            <a:ext cx="1093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4. 观察积压行为</a:t>
            </a:r>
          </a:p>
        </p:txBody>
      </p:sp>
      <p:sp>
        <p:nvSpPr>
          <p:cNvPr id="10" name="data-3">
            <a:extLst xmlns:a="http://schemas.openxmlformats.org/drawingml/2006/main">
              <a:ext uri="{FF2B5EF4-FFF2-40B4-BE49-F238E27FC236}">
                <a16:creationId xmlns:a16="http://schemas.microsoft.com/office/drawing/2014/main" id="{1342E51C-E034-4FC6-A517-317B85612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24400"/>
            <a:ext cx="10706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rPr>
              <a:t>输入：连续状态更新    输出：订阅者得到的状态</a:t>
            </a:r>
          </a:p>
        </p:txBody>
      </p:sp>
      <p:sp>
        <p:nvSpPr>
          <p:cNvPr id="11" name="footer">
            <a:extLst xmlns:a="http://schemas.openxmlformats.org/drawingml/2006/main">
              <a:ext uri="{FF2B5EF4-FFF2-40B4-BE49-F238E27FC236}">
                <a16:creationId xmlns:a16="http://schemas.microsoft.com/office/drawing/2014/main" id="{51923A92-78B3-4603-A85D-AEE6794D6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109347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rPr>
              <a:t>Pi 源码精通路线   /   chord-state   /   26      完整步骤、参考答案与源码路径见讲者备注及离线导览</a:t>
            </a:r>
          </a:p>
        </p:txBody>
      </p:sp>
    </p:spTree>
    <p:extLst>
      <p:ext uri="{BB962C8B-B14F-4D97-AF65-F5344CB8AC3E}">
        <p14:creationId xmlns:p14="http://schemas.microsoft.com/office/powerpoint/2010/main" val="341531214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eyebrow">
            <a:extLst xmlns:a="http://schemas.openxmlformats.org/drawingml/2006/main">
              <a:ext uri="{FF2B5EF4-FFF2-40B4-BE49-F238E27FC236}">
                <a16:creationId xmlns:a16="http://schemas.microsoft.com/office/drawing/2014/main" id="{02D483EE-89C5-43BA-A62A-98D386C49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1093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06 持久化与跨进程   /   失败分支与练习验证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07529C46-4A61-462E-9C9F-71E9F7ADD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6775"/>
            <a:ext cx="109347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JSON 所有权、delta 与复制状态</a:t>
            </a:r>
          </a:p>
        </p:txBody>
      </p:sp>
      <p:sp>
        <p:nvSpPr>
          <p:cNvPr id="3" name="failure-label">
            <a:extLst xmlns:a="http://schemas.openxmlformats.org/drawingml/2006/main">
              <a:ext uri="{FF2B5EF4-FFF2-40B4-BE49-F238E27FC236}">
                <a16:creationId xmlns:a16="http://schemas.microsoft.com/office/drawing/2014/main" id="{51DA0BC1-E04C-4D66-8752-590E4EB83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9775"/>
            <a:ext cx="10934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失败与恢复边界</a:t>
            </a:r>
          </a:p>
        </p:txBody>
      </p:sp>
      <p:sp>
        <p:nvSpPr>
          <p:cNvPr id="4" name="failure">
            <a:extLst xmlns:a="http://schemas.openxmlformats.org/drawingml/2006/main">
              <a:ext uri="{FF2B5EF4-FFF2-40B4-BE49-F238E27FC236}">
                <a16:creationId xmlns:a16="http://schemas.microsoft.com/office/drawing/2014/main" id="{68132595-39D6-4C95-87CF-624141583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43175"/>
            <a:ext cx="109347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replicatedState 的完整值积压会合并为最新值，不能当作无损审计事件流；需要审计时保存事件记录。</a:t>
            </a:r>
          </a:p>
        </p:txBody>
      </p:sp>
      <p:sp>
        <p:nvSpPr>
          <p:cNvPr id="5" name="exercise-label">
            <a:extLst xmlns:a="http://schemas.openxmlformats.org/drawingml/2006/main">
              <a:ext uri="{FF2B5EF4-FFF2-40B4-BE49-F238E27FC236}">
                <a16:creationId xmlns:a16="http://schemas.microsoft.com/office/drawing/2014/main" id="{683656A1-3A31-4089-A80A-D182EFE44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86225"/>
            <a:ext cx="10934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动手练习</a:t>
            </a:r>
          </a:p>
        </p:txBody>
      </p:sp>
      <p:sp>
        <p:nvSpPr>
          <p:cNvPr id="6" name="exercise">
            <a:extLst xmlns:a="http://schemas.openxmlformats.org/drawingml/2006/main">
              <a:ext uri="{FF2B5EF4-FFF2-40B4-BE49-F238E27FC236}">
                <a16:creationId xmlns:a16="http://schemas.microsoft.com/office/drawing/2014/main" id="{8ED7E660-36B6-4212-8E6E-CC5F64625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19625"/>
            <a:ext cx="109347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设计 prepare 后抛错而不 adopt 的测试，证明权威版本不改变。</a:t>
            </a:r>
          </a:p>
        </p:txBody>
      </p:sp>
      <p:sp>
        <p:nvSpPr>
          <p:cNvPr id="7" name="footer">
            <a:extLst xmlns:a="http://schemas.openxmlformats.org/drawingml/2006/main">
              <a:ext uri="{FF2B5EF4-FFF2-40B4-BE49-F238E27FC236}">
                <a16:creationId xmlns:a16="http://schemas.microsoft.com/office/drawing/2014/main" id="{50577782-80C7-436C-BC5A-F55BC9A5F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109347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rPr>
              <a:t>Pi 源码精通路线   /   chord-state   /   27      完整步骤、参考答案与源码路径见讲者备注及离线导览</a:t>
            </a:r>
          </a:p>
        </p:txBody>
      </p:sp>
    </p:spTree>
    <p:extLst>
      <p:ext uri="{BB962C8B-B14F-4D97-AF65-F5344CB8AC3E}">
        <p14:creationId xmlns:p14="http://schemas.microsoft.com/office/powerpoint/2010/main" val="1024228880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eyebrow">
            <a:extLst xmlns:a="http://schemas.openxmlformats.org/drawingml/2006/main">
              <a:ext uri="{FF2B5EF4-FFF2-40B4-BE49-F238E27FC236}">
                <a16:creationId xmlns:a16="http://schemas.microsoft.com/office/drawing/2014/main" id="{770A001A-6EFF-4F19-9723-70B7C891D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1093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06 持久化与跨进程   /   场景与职责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0EC08766-63A1-44E0-B485-2F945E4DC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6775"/>
            <a:ext cx="109347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跨进程连接、动态注册与热重载</a:t>
            </a:r>
          </a:p>
        </p:txBody>
      </p:sp>
      <p:sp>
        <p:nvSpPr>
          <p:cNvPr id="3" name="scenario">
            <a:extLst xmlns:a="http://schemas.openxmlformats.org/drawingml/2006/main">
              <a:ext uri="{FF2B5EF4-FFF2-40B4-BE49-F238E27FC236}">
                <a16:creationId xmlns:a16="http://schemas.microsoft.com/office/drawing/2014/main" id="{F8EDD049-0D61-41D9-A785-76FB80D83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109347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rPr>
              <a:t>代码变化时，希望对象状态保持，同时已有请求能够收尾。</a:t>
            </a:r>
          </a:p>
        </p:txBody>
      </p:sp>
      <p:sp>
        <p:nvSpPr>
          <p:cNvPr id="4" name="section">
            <a:extLst xmlns:a="http://schemas.openxmlformats.org/drawingml/2006/main">
              <a:ext uri="{FF2B5EF4-FFF2-40B4-BE49-F238E27FC236}">
                <a16:creationId xmlns:a16="http://schemas.microsoft.com/office/drawing/2014/main" id="{9B522A22-1A64-44C1-A164-643E7E39E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14650"/>
            <a:ext cx="10934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各层负责什么</a:t>
            </a:r>
          </a:p>
        </p:txBody>
      </p:sp>
      <p:sp>
        <p:nvSpPr>
          <p:cNvPr id="5" name="responsibility-0">
            <a:extLst xmlns:a="http://schemas.openxmlformats.org/drawingml/2006/main">
              <a:ext uri="{FF2B5EF4-FFF2-40B4-BE49-F238E27FC236}">
                <a16:creationId xmlns:a16="http://schemas.microsoft.com/office/drawing/2014/main" id="{339E7D42-3A29-4605-9DBE-F357B1842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38525"/>
            <a:ext cx="10934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1. 跨进程句柄、连接与 JSON 帧</a:t>
            </a:r>
          </a:p>
        </p:txBody>
      </p:sp>
      <p:sp>
        <p:nvSpPr>
          <p:cNvPr id="6" name="responsibility-1">
            <a:extLst xmlns:a="http://schemas.openxmlformats.org/drawingml/2006/main">
              <a:ext uri="{FF2B5EF4-FFF2-40B4-BE49-F238E27FC236}">
                <a16:creationId xmlns:a16="http://schemas.microsoft.com/office/drawing/2014/main" id="{F8AD1B7C-721A-45A6-B05A-04D98EFF4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95725"/>
            <a:ext cx="10934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2. 动态注册表与 Facet 装配</a:t>
            </a:r>
          </a:p>
        </p:txBody>
      </p:sp>
      <p:sp>
        <p:nvSpPr>
          <p:cNvPr id="7" name="responsibility-2">
            <a:extLst xmlns:a="http://schemas.openxmlformats.org/drawingml/2006/main">
              <a:ext uri="{FF2B5EF4-FFF2-40B4-BE49-F238E27FC236}">
                <a16:creationId xmlns:a16="http://schemas.microsoft.com/office/drawing/2014/main" id="{DBDA6303-DB0C-4FB2-B798-85733E4D0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52925"/>
            <a:ext cx="10934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3. 子进程宿主、加载器与进程锁</a:t>
            </a:r>
          </a:p>
        </p:txBody>
      </p:sp>
      <p:sp>
        <p:nvSpPr>
          <p:cNvPr id="8" name="responsibility-3">
            <a:extLst xmlns:a="http://schemas.openxmlformats.org/drawingml/2006/main">
              <a:ext uri="{FF2B5EF4-FFF2-40B4-BE49-F238E27FC236}">
                <a16:creationId xmlns:a16="http://schemas.microsoft.com/office/drawing/2014/main" id="{77B4CBE0-9071-42E2-882F-B8F0EB1CF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34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4. 代码热重载、迁移与 epoch</a:t>
            </a:r>
          </a:p>
        </p:txBody>
      </p:sp>
      <p:sp>
        <p:nvSpPr>
          <p:cNvPr id="9" name="footer">
            <a:extLst xmlns:a="http://schemas.openxmlformats.org/drawingml/2006/main">
              <a:ext uri="{FF2B5EF4-FFF2-40B4-BE49-F238E27FC236}">
                <a16:creationId xmlns:a16="http://schemas.microsoft.com/office/drawing/2014/main" id="{D04DD173-69B7-4E83-BB3F-83C53B125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109347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rPr>
              <a:t>Pi 源码精通路线   /   chord-links-reload   /   28      完整步骤、参考答案与源码路径见讲者备注及离线导览</a:t>
            </a:r>
          </a:p>
        </p:txBody>
      </p:sp>
    </p:spTree>
    <p:extLst>
      <p:ext uri="{BB962C8B-B14F-4D97-AF65-F5344CB8AC3E}">
        <p14:creationId xmlns:p14="http://schemas.microsoft.com/office/powerpoint/2010/main" val="741363978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eyebrow">
            <a:extLst xmlns:a="http://schemas.openxmlformats.org/drawingml/2006/main">
              <a:ext uri="{FF2B5EF4-FFF2-40B4-BE49-F238E27FC236}">
                <a16:creationId xmlns:a16="http://schemas.microsoft.com/office/drawing/2014/main" id="{54F0FCBB-1EE7-4812-AD66-8A9A93BD4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1093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06 持久化与跨进程   /   执行顺序与数据变化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F2E83955-F226-4C4F-BD1C-863C5E102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6775"/>
            <a:ext cx="109347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跨进程连接、动态注册与热重载</a:t>
            </a:r>
          </a:p>
        </p:txBody>
      </p:sp>
      <p:sp>
        <p:nvSpPr>
          <p:cNvPr id="3" name="step-0">
            <a:extLst xmlns:a="http://schemas.openxmlformats.org/drawingml/2006/main">
              <a:ext uri="{FF2B5EF4-FFF2-40B4-BE49-F238E27FC236}">
                <a16:creationId xmlns:a16="http://schemas.microsoft.com/office/drawing/2014/main" id="{76CB6DCA-7F8C-463D-95BE-5AC845BC9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47875"/>
            <a:ext cx="1093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1. 连通两个 Host</a:t>
            </a:r>
          </a:p>
        </p:txBody>
      </p:sp>
      <p:sp>
        <p:nvSpPr>
          <p:cNvPr id="4" name="data-0">
            <a:extLst xmlns:a="http://schemas.openxmlformats.org/drawingml/2006/main">
              <a:ext uri="{FF2B5EF4-FFF2-40B4-BE49-F238E27FC236}">
                <a16:creationId xmlns:a16="http://schemas.microsoft.com/office/drawing/2014/main" id="{8A605F23-2424-4BAD-A846-D5BC566C5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09825"/>
            <a:ext cx="10706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rPr>
              <a:t>输入：两端 Host    输出：远程句柄与状态连接</a:t>
            </a:r>
          </a:p>
        </p:txBody>
      </p:sp>
      <p:sp>
        <p:nvSpPr>
          <p:cNvPr id="5" name="step-1">
            <a:extLst xmlns:a="http://schemas.openxmlformats.org/drawingml/2006/main">
              <a:ext uri="{FF2B5EF4-FFF2-40B4-BE49-F238E27FC236}">
                <a16:creationId xmlns:a16="http://schemas.microsoft.com/office/drawing/2014/main" id="{BFC5EFAE-149E-4C05-81E7-5D661B5BC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19400"/>
            <a:ext cx="1093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2. 组织 Facet 与注册表</a:t>
            </a:r>
          </a:p>
        </p:txBody>
      </p:sp>
      <p:sp>
        <p:nvSpPr>
          <p:cNvPr id="6" name="data-1">
            <a:extLst xmlns:a="http://schemas.openxmlformats.org/drawingml/2006/main">
              <a:ext uri="{FF2B5EF4-FFF2-40B4-BE49-F238E27FC236}">
                <a16:creationId xmlns:a16="http://schemas.microsoft.com/office/drawing/2014/main" id="{38773EDA-231A-42F7-A57E-8F4D48A9A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81350"/>
            <a:ext cx="10706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rPr>
              <a:t>输入：模块和提供者    输出：动态可见能力</a:t>
            </a:r>
          </a:p>
        </p:txBody>
      </p:sp>
      <p:sp>
        <p:nvSpPr>
          <p:cNvPr id="7" name="step-2">
            <a:extLst xmlns:a="http://schemas.openxmlformats.org/drawingml/2006/main">
              <a:ext uri="{FF2B5EF4-FFF2-40B4-BE49-F238E27FC236}">
                <a16:creationId xmlns:a16="http://schemas.microsoft.com/office/drawing/2014/main" id="{BB672120-8007-49CD-809E-C1BBFA075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90925"/>
            <a:ext cx="1093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3. 管理子宿主</a:t>
            </a:r>
          </a:p>
        </p:txBody>
      </p:sp>
      <p:sp>
        <p:nvSpPr>
          <p:cNvPr id="8" name="data-2">
            <a:extLst xmlns:a="http://schemas.openxmlformats.org/drawingml/2006/main">
              <a:ext uri="{FF2B5EF4-FFF2-40B4-BE49-F238E27FC236}">
                <a16:creationId xmlns:a16="http://schemas.microsoft.com/office/drawing/2014/main" id="{D3CA8DAA-7C7E-4F85-9EC5-188E95BE5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952875"/>
            <a:ext cx="10706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rPr>
              <a:t>输入：子进程配置    输出：受管理的 Host</a:t>
            </a:r>
          </a:p>
        </p:txBody>
      </p:sp>
      <p:sp>
        <p:nvSpPr>
          <p:cNvPr id="9" name="step-3">
            <a:extLst xmlns:a="http://schemas.openxmlformats.org/drawingml/2006/main">
              <a:ext uri="{FF2B5EF4-FFF2-40B4-BE49-F238E27FC236}">
                <a16:creationId xmlns:a16="http://schemas.microsoft.com/office/drawing/2014/main" id="{DDB5191E-3798-436E-8092-ADEE25F10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62450"/>
            <a:ext cx="1093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4. 切换 epoch 并迁移</a:t>
            </a:r>
          </a:p>
        </p:txBody>
      </p:sp>
      <p:sp>
        <p:nvSpPr>
          <p:cNvPr id="10" name="data-3">
            <a:extLst xmlns:a="http://schemas.openxmlformats.org/drawingml/2006/main">
              <a:ext uri="{FF2B5EF4-FFF2-40B4-BE49-F238E27FC236}">
                <a16:creationId xmlns:a16="http://schemas.microsoft.com/office/drawing/2014/main" id="{F34B5046-0E75-4257-8927-E9AD2D7F6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24400"/>
            <a:ext cx="10706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rPr>
              <a:t>输入：新实现和现有状态    输出：新代码及收尾中的旧代码</a:t>
            </a:r>
          </a:p>
        </p:txBody>
      </p:sp>
      <p:sp>
        <p:nvSpPr>
          <p:cNvPr id="11" name="footer">
            <a:extLst xmlns:a="http://schemas.openxmlformats.org/drawingml/2006/main">
              <a:ext uri="{FF2B5EF4-FFF2-40B4-BE49-F238E27FC236}">
                <a16:creationId xmlns:a16="http://schemas.microsoft.com/office/drawing/2014/main" id="{1382EE37-CF65-47A4-B05F-F71685F7D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109347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rPr>
              <a:t>Pi 源码精通路线   /   chord-links-reload   /   29      完整步骤、参考答案与源码路径见讲者备注及离线导览</a:t>
            </a:r>
          </a:p>
        </p:txBody>
      </p:sp>
    </p:spTree>
    <p:extLst>
      <p:ext uri="{BB962C8B-B14F-4D97-AF65-F5344CB8AC3E}">
        <p14:creationId xmlns:p14="http://schemas.microsoft.com/office/powerpoint/2010/main" val="1620047586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eyebrow">
            <a:extLst xmlns:a="http://schemas.openxmlformats.org/drawingml/2006/main">
              <a:ext uri="{FF2B5EF4-FFF2-40B4-BE49-F238E27FC236}">
                <a16:creationId xmlns:a16="http://schemas.microsoft.com/office/drawing/2014/main" id="{6F0F5884-0BB0-4452-A910-238DA5BFD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1093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06 持久化与跨进程   /   失败分支与练习验证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161A6A66-C251-46EB-A355-ACA9A7B37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6775"/>
            <a:ext cx="109347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跨进程连接、动态注册与热重载</a:t>
            </a:r>
          </a:p>
        </p:txBody>
      </p:sp>
      <p:sp>
        <p:nvSpPr>
          <p:cNvPr id="3" name="failure-label">
            <a:extLst xmlns:a="http://schemas.openxmlformats.org/drawingml/2006/main">
              <a:ext uri="{FF2B5EF4-FFF2-40B4-BE49-F238E27FC236}">
                <a16:creationId xmlns:a16="http://schemas.microsoft.com/office/drawing/2014/main" id="{F4EA2EDE-488E-4F9E-A5F8-4D1660119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9775"/>
            <a:ext cx="10934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失败与恢复边界</a:t>
            </a:r>
          </a:p>
        </p:txBody>
      </p:sp>
      <p:sp>
        <p:nvSpPr>
          <p:cNvPr id="4" name="failure">
            <a:extLst xmlns:a="http://schemas.openxmlformats.org/drawingml/2006/main">
              <a:ext uri="{FF2B5EF4-FFF2-40B4-BE49-F238E27FC236}">
                <a16:creationId xmlns:a16="http://schemas.microsoft.com/office/drawing/2014/main" id="{30F96444-C025-434F-8EF6-916C58A3F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43175"/>
            <a:ext cx="109347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断线拒绝未完成调用且不提供连接恢复保证；断线不证明远端操作未执行。热重载也不是任意不兼容修改都能透明迁移。</a:t>
            </a:r>
          </a:p>
        </p:txBody>
      </p:sp>
      <p:sp>
        <p:nvSpPr>
          <p:cNvPr id="5" name="exercise-label">
            <a:extLst xmlns:a="http://schemas.openxmlformats.org/drawingml/2006/main">
              <a:ext uri="{FF2B5EF4-FFF2-40B4-BE49-F238E27FC236}">
                <a16:creationId xmlns:a16="http://schemas.microsoft.com/office/drawing/2014/main" id="{A3B23B42-8CDA-4ABE-8281-0BC91DD01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86225"/>
            <a:ext cx="10934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动手练习</a:t>
            </a:r>
          </a:p>
        </p:txBody>
      </p:sp>
      <p:sp>
        <p:nvSpPr>
          <p:cNvPr id="6" name="exercise">
            <a:extLst xmlns:a="http://schemas.openxmlformats.org/drawingml/2006/main">
              <a:ext uri="{FF2B5EF4-FFF2-40B4-BE49-F238E27FC236}">
                <a16:creationId xmlns:a16="http://schemas.microsoft.com/office/drawing/2014/main" id="{1404F80A-9E16-4CD5-9925-00CC2AEF0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19625"/>
            <a:ext cx="109347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找一个 reload 测试，标出旧调用、新调用和状态迁移各自采用哪个 epoch。</a:t>
            </a:r>
          </a:p>
        </p:txBody>
      </p:sp>
      <p:sp>
        <p:nvSpPr>
          <p:cNvPr id="7" name="footer">
            <a:extLst xmlns:a="http://schemas.openxmlformats.org/drawingml/2006/main">
              <a:ext uri="{FF2B5EF4-FFF2-40B4-BE49-F238E27FC236}">
                <a16:creationId xmlns:a16="http://schemas.microsoft.com/office/drawing/2014/main" id="{84049E16-272E-4286-BA3E-355AA47C1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109347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rPr>
              <a:t>Pi 源码精通路线   /   chord-links-reload   /   30      完整步骤、参考答案与源码路径见讲者备注及离线导览</a:t>
            </a:r>
          </a:p>
        </p:txBody>
      </p:sp>
    </p:spTree>
    <p:extLst>
      <p:ext uri="{BB962C8B-B14F-4D97-AF65-F5344CB8AC3E}">
        <p14:creationId xmlns:p14="http://schemas.microsoft.com/office/powerpoint/2010/main" val="1922442363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eyebrow">
            <a:extLst xmlns:a="http://schemas.openxmlformats.org/drawingml/2006/main">
              <a:ext uri="{FF2B5EF4-FFF2-40B4-BE49-F238E27FC236}">
                <a16:creationId xmlns:a16="http://schemas.microsoft.com/office/drawing/2014/main" id="{7633069B-5AC9-4001-A63C-1D8379DF4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1093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06 持久化与跨进程   /   场景与职责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91C692F8-5840-4404-9017-10B1F43B3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6775"/>
            <a:ext cx="109347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SSH、远程文件操作与终端</a:t>
            </a:r>
          </a:p>
        </p:txBody>
      </p:sp>
      <p:sp>
        <p:nvSpPr>
          <p:cNvPr id="3" name="scenario">
            <a:extLst xmlns:a="http://schemas.openxmlformats.org/drawingml/2006/main">
              <a:ext uri="{FF2B5EF4-FFF2-40B4-BE49-F238E27FC236}">
                <a16:creationId xmlns:a16="http://schemas.microsoft.com/office/drawing/2014/main" id="{FC1FC9A4-0B7C-4B2F-B1D4-47A7C733D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109347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rPr>
              <a:t>模型与会话留在本地，把文件修改和命令运行放到远端。</a:t>
            </a:r>
          </a:p>
        </p:txBody>
      </p:sp>
      <p:sp>
        <p:nvSpPr>
          <p:cNvPr id="4" name="section">
            <a:extLst xmlns:a="http://schemas.openxmlformats.org/drawingml/2006/main">
              <a:ext uri="{FF2B5EF4-FFF2-40B4-BE49-F238E27FC236}">
                <a16:creationId xmlns:a16="http://schemas.microsoft.com/office/drawing/2014/main" id="{12CA2C98-1FCF-43E8-B0E0-05966B401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14650"/>
            <a:ext cx="10934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各层负责什么</a:t>
            </a:r>
          </a:p>
        </p:txBody>
      </p:sp>
      <p:sp>
        <p:nvSpPr>
          <p:cNvPr id="5" name="responsibility-0">
            <a:extLst xmlns:a="http://schemas.openxmlformats.org/drawingml/2006/main">
              <a:ext uri="{FF2B5EF4-FFF2-40B4-BE49-F238E27FC236}">
                <a16:creationId xmlns:a16="http://schemas.microsoft.com/office/drawing/2014/main" id="{932195C9-6916-43C7-8AF5-1640DCA51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38525"/>
            <a:ext cx="10934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1. SSH 主机信任与 daemon 部署</a:t>
            </a:r>
          </a:p>
        </p:txBody>
      </p:sp>
      <p:sp>
        <p:nvSpPr>
          <p:cNvPr id="6" name="responsibility-1">
            <a:extLst xmlns:a="http://schemas.openxmlformats.org/drawingml/2006/main">
              <a:ext uri="{FF2B5EF4-FFF2-40B4-BE49-F238E27FC236}">
                <a16:creationId xmlns:a16="http://schemas.microsoft.com/office/drawing/2014/main" id="{C2FD8497-7FB8-4812-A26B-FAE7AD27E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95725"/>
            <a:ext cx="10934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2. 远程文件、命令与连接</a:t>
            </a:r>
          </a:p>
        </p:txBody>
      </p:sp>
      <p:sp>
        <p:nvSpPr>
          <p:cNvPr id="7" name="responsibility-2">
            <a:extLst xmlns:a="http://schemas.openxmlformats.org/drawingml/2006/main">
              <a:ext uri="{FF2B5EF4-FFF2-40B4-BE49-F238E27FC236}">
                <a16:creationId xmlns:a16="http://schemas.microsoft.com/office/drawing/2014/main" id="{C496E53E-0E58-4C28-AD1A-114A10E20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52925"/>
            <a:ext cx="10934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3. 执行环境与输出捕获</a:t>
            </a:r>
          </a:p>
        </p:txBody>
      </p:sp>
      <p:sp>
        <p:nvSpPr>
          <p:cNvPr id="8" name="responsibility-3">
            <a:extLst xmlns:a="http://schemas.openxmlformats.org/drawingml/2006/main">
              <a:ext uri="{FF2B5EF4-FFF2-40B4-BE49-F238E27FC236}">
                <a16:creationId xmlns:a16="http://schemas.microsoft.com/office/drawing/2014/main" id="{36A49C7B-19D7-4E61-B34F-99293B2F7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34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4. 远端 PTY、窗口大小与前台进程</a:t>
            </a:r>
          </a:p>
        </p:txBody>
      </p:sp>
      <p:sp>
        <p:nvSpPr>
          <p:cNvPr id="9" name="footer">
            <a:extLst xmlns:a="http://schemas.openxmlformats.org/drawingml/2006/main">
              <a:ext uri="{FF2B5EF4-FFF2-40B4-BE49-F238E27FC236}">
                <a16:creationId xmlns:a16="http://schemas.microsoft.com/office/drawing/2014/main" id="{4B942F5C-A83C-413F-910D-72DD199BE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109347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rPr>
              <a:t>Pi 源码精通路线   /   remote-env   /   31      完整步骤、参考答案与源码路径见讲者备注及离线导览</a:t>
            </a:r>
          </a:p>
        </p:txBody>
      </p:sp>
    </p:spTree>
    <p:extLst>
      <p:ext uri="{BB962C8B-B14F-4D97-AF65-F5344CB8AC3E}">
        <p14:creationId xmlns:p14="http://schemas.microsoft.com/office/powerpoint/2010/main" val="583764065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eyebrow">
            <a:extLst xmlns:a="http://schemas.openxmlformats.org/drawingml/2006/main">
              <a:ext uri="{FF2B5EF4-FFF2-40B4-BE49-F238E27FC236}">
                <a16:creationId xmlns:a16="http://schemas.microsoft.com/office/drawing/2014/main" id="{F2C09020-94E7-4796-8986-B724627F1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1093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06 持久化与跨进程   /   执行顺序与数据变化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C77FB2F1-BC02-4336-970A-A554C3A22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6775"/>
            <a:ext cx="109347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SSH、远程文件操作与终端</a:t>
            </a:r>
          </a:p>
        </p:txBody>
      </p:sp>
      <p:sp>
        <p:nvSpPr>
          <p:cNvPr id="3" name="step-0">
            <a:extLst xmlns:a="http://schemas.openxmlformats.org/drawingml/2006/main">
              <a:ext uri="{FF2B5EF4-FFF2-40B4-BE49-F238E27FC236}">
                <a16:creationId xmlns:a16="http://schemas.microsoft.com/office/drawing/2014/main" id="{86F5F847-C2CF-4B30-9641-327C7CD6F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47875"/>
            <a:ext cx="1093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1. 检查主机与信任</a:t>
            </a:r>
          </a:p>
        </p:txBody>
      </p:sp>
      <p:sp>
        <p:nvSpPr>
          <p:cNvPr id="4" name="data-0">
            <a:extLst xmlns:a="http://schemas.openxmlformats.org/drawingml/2006/main">
              <a:ext uri="{FF2B5EF4-FFF2-40B4-BE49-F238E27FC236}">
                <a16:creationId xmlns:a16="http://schemas.microsoft.com/office/drawing/2014/main" id="{91C8ADDE-677C-49A5-B58A-C85CFBDA6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09825"/>
            <a:ext cx="10706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rPr>
              <a:t>输入：目标主机和身份    输出：已确认的 SSH 连接条件</a:t>
            </a:r>
          </a:p>
        </p:txBody>
      </p:sp>
      <p:sp>
        <p:nvSpPr>
          <p:cNvPr id="5" name="step-1">
            <a:extLst xmlns:a="http://schemas.openxmlformats.org/drawingml/2006/main">
              <a:ext uri="{FF2B5EF4-FFF2-40B4-BE49-F238E27FC236}">
                <a16:creationId xmlns:a16="http://schemas.microsoft.com/office/drawing/2014/main" id="{9C48CA93-DC7D-46DB-A240-CDAB67355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19400"/>
            <a:ext cx="1093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2. 建立帧协议会话</a:t>
            </a:r>
          </a:p>
        </p:txBody>
      </p:sp>
      <p:sp>
        <p:nvSpPr>
          <p:cNvPr id="6" name="data-1">
            <a:extLst xmlns:a="http://schemas.openxmlformats.org/drawingml/2006/main">
              <a:ext uri="{FF2B5EF4-FFF2-40B4-BE49-F238E27FC236}">
                <a16:creationId xmlns:a16="http://schemas.microsoft.com/office/drawing/2014/main" id="{23F26086-90CE-4277-945E-C3F1D3FEB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81350"/>
            <a:ext cx="10706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rPr>
              <a:t>输入：daemon 进程与协议    输出：远程会话</a:t>
            </a:r>
          </a:p>
        </p:txBody>
      </p:sp>
      <p:sp>
        <p:nvSpPr>
          <p:cNvPr id="7" name="step-2">
            <a:extLst xmlns:a="http://schemas.openxmlformats.org/drawingml/2006/main">
              <a:ext uri="{FF2B5EF4-FFF2-40B4-BE49-F238E27FC236}">
                <a16:creationId xmlns:a16="http://schemas.microsoft.com/office/drawing/2014/main" id="{87DDB076-7AE6-4340-871F-28AC47D1D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90925"/>
            <a:ext cx="1093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3. 注入 ExecutionEnv</a:t>
            </a:r>
          </a:p>
        </p:txBody>
      </p:sp>
      <p:sp>
        <p:nvSpPr>
          <p:cNvPr id="8" name="data-2">
            <a:extLst xmlns:a="http://schemas.openxmlformats.org/drawingml/2006/main">
              <a:ext uri="{FF2B5EF4-FFF2-40B4-BE49-F238E27FC236}">
                <a16:creationId xmlns:a16="http://schemas.microsoft.com/office/drawing/2014/main" id="{DE7A5943-6C88-45BC-AC07-EEC9D2709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952875"/>
            <a:ext cx="10706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rPr>
              <a:t>输入：远程 cwd 和环境    输出：远端执行的工具</a:t>
            </a:r>
          </a:p>
        </p:txBody>
      </p:sp>
      <p:sp>
        <p:nvSpPr>
          <p:cNvPr id="9" name="step-3">
            <a:extLst xmlns:a="http://schemas.openxmlformats.org/drawingml/2006/main">
              <a:ext uri="{FF2B5EF4-FFF2-40B4-BE49-F238E27FC236}">
                <a16:creationId xmlns:a16="http://schemas.microsoft.com/office/drawing/2014/main" id="{C4DF70FE-DF86-44DE-8571-E1631CAD7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62450"/>
            <a:ext cx="1093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4. 单独管理 PTY</a:t>
            </a:r>
          </a:p>
        </p:txBody>
      </p:sp>
      <p:sp>
        <p:nvSpPr>
          <p:cNvPr id="10" name="data-3">
            <a:extLst xmlns:a="http://schemas.openxmlformats.org/drawingml/2006/main">
              <a:ext uri="{FF2B5EF4-FFF2-40B4-BE49-F238E27FC236}">
                <a16:creationId xmlns:a16="http://schemas.microsoft.com/office/drawing/2014/main" id="{A59B7507-AB0A-4A94-B25F-969E66BFB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24400"/>
            <a:ext cx="10706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rPr>
              <a:t>输入：终端请求    输出：交互进程与退出状态</a:t>
            </a:r>
          </a:p>
        </p:txBody>
      </p:sp>
      <p:sp>
        <p:nvSpPr>
          <p:cNvPr id="11" name="footer">
            <a:extLst xmlns:a="http://schemas.openxmlformats.org/drawingml/2006/main">
              <a:ext uri="{FF2B5EF4-FFF2-40B4-BE49-F238E27FC236}">
                <a16:creationId xmlns:a16="http://schemas.microsoft.com/office/drawing/2014/main" id="{DD722E19-0BF4-4897-B17A-715190742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109347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rPr>
              <a:t>Pi 源码精通路线   /   remote-env   /   32      完整步骤、参考答案与源码路径见讲者备注及离线导览</a:t>
            </a:r>
          </a:p>
        </p:txBody>
      </p:sp>
    </p:spTree>
    <p:extLst>
      <p:ext uri="{BB962C8B-B14F-4D97-AF65-F5344CB8AC3E}">
        <p14:creationId xmlns:p14="http://schemas.microsoft.com/office/powerpoint/2010/main" val="621194730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eyebrow">
            <a:extLst xmlns:a="http://schemas.openxmlformats.org/drawingml/2006/main">
              <a:ext uri="{FF2B5EF4-FFF2-40B4-BE49-F238E27FC236}">
                <a16:creationId xmlns:a16="http://schemas.microsoft.com/office/drawing/2014/main" id="{2752B5B9-D50A-4E66-8ABD-2486ADAFC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1093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06 持久化与跨进程   /   失败分支与练习验证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88B6DA1C-C507-4D38-BBEF-A40D6E277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6775"/>
            <a:ext cx="109347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SSH、远程文件操作与终端</a:t>
            </a:r>
          </a:p>
        </p:txBody>
      </p:sp>
      <p:sp>
        <p:nvSpPr>
          <p:cNvPr id="3" name="failure-label">
            <a:extLst xmlns:a="http://schemas.openxmlformats.org/drawingml/2006/main">
              <a:ext uri="{FF2B5EF4-FFF2-40B4-BE49-F238E27FC236}">
                <a16:creationId xmlns:a16="http://schemas.microsoft.com/office/drawing/2014/main" id="{52FCA004-0530-4BCB-A976-94BE1F709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9775"/>
            <a:ext cx="10934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失败与恢复边界</a:t>
            </a:r>
          </a:p>
        </p:txBody>
      </p:sp>
      <p:sp>
        <p:nvSpPr>
          <p:cNvPr id="4" name="failure">
            <a:extLst xmlns:a="http://schemas.openxmlformats.org/drawingml/2006/main">
              <a:ext uri="{FF2B5EF4-FFF2-40B4-BE49-F238E27FC236}">
                <a16:creationId xmlns:a16="http://schemas.microsoft.com/office/drawing/2014/main" id="{79BE292B-57DA-4C20-9BB2-9144B3D96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43175"/>
            <a:ext cx="109347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旧文件句柄不能跨 daemon 会话复用；当前 Windows PTY 支持边界以包文档为准。</a:t>
            </a:r>
          </a:p>
        </p:txBody>
      </p:sp>
      <p:sp>
        <p:nvSpPr>
          <p:cNvPr id="5" name="exercise-label">
            <a:extLst xmlns:a="http://schemas.openxmlformats.org/drawingml/2006/main">
              <a:ext uri="{FF2B5EF4-FFF2-40B4-BE49-F238E27FC236}">
                <a16:creationId xmlns:a16="http://schemas.microsoft.com/office/drawing/2014/main" id="{115899CB-8E68-4384-B4FD-8F9C6F5B1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86225"/>
            <a:ext cx="10934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动手练习</a:t>
            </a:r>
          </a:p>
        </p:txBody>
      </p:sp>
      <p:sp>
        <p:nvSpPr>
          <p:cNvPr id="6" name="exercise">
            <a:extLst xmlns:a="http://schemas.openxmlformats.org/drawingml/2006/main">
              <a:ext uri="{FF2B5EF4-FFF2-40B4-BE49-F238E27FC236}">
                <a16:creationId xmlns:a16="http://schemas.microsoft.com/office/drawing/2014/main" id="{A51C12A9-C62B-4CE5-AB0D-0074AA0A1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19625"/>
            <a:ext cx="109347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对照协议测试画出普通 execute 与 terminal 的消息序列，不实际连接用户主机。</a:t>
            </a:r>
          </a:p>
        </p:txBody>
      </p:sp>
      <p:sp>
        <p:nvSpPr>
          <p:cNvPr id="7" name="footer">
            <a:extLst xmlns:a="http://schemas.openxmlformats.org/drawingml/2006/main">
              <a:ext uri="{FF2B5EF4-FFF2-40B4-BE49-F238E27FC236}">
                <a16:creationId xmlns:a16="http://schemas.microsoft.com/office/drawing/2014/main" id="{317C634A-92C7-4CB6-A6E0-AE97CC046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109347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rPr>
              <a:t>Pi 源码精通路线   /   remote-env   /   33      完整步骤、参考答案与源码路径见讲者备注及离线导览</a:t>
            </a:r>
          </a:p>
        </p:txBody>
      </p:sp>
    </p:spTree>
    <p:extLst>
      <p:ext uri="{BB962C8B-B14F-4D97-AF65-F5344CB8AC3E}">
        <p14:creationId xmlns:p14="http://schemas.microsoft.com/office/powerpoint/2010/main" val="182867989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2026-10-12T14:55:45.4260000Z</dcterms:created>
  <dcterms:modified xsi:type="dcterms:W3CDTF">2026-10-12T14:55:45.4260000Z</dcterms:modified>
</coreProperties>
</file>